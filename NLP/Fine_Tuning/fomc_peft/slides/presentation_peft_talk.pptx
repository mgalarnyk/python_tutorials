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7.xml" ContentType="application/vnd.openxmlformats-officedocument.presentationml.notesSlide+xml"/>
  <Override PartName="/ppt/notesSlides/notesSlide4.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5.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93" r:id="rId1"/>
    <p:sldMasterId id="2147483694" r:id="rId2"/>
    <p:sldMasterId id="2147483695" r:id="rId3"/>
    <p:sldMasterId id="2147483696" r:id="rId4"/>
  </p:sldMasterIdLst>
  <p:notesMasterIdLst>
    <p:notesMasterId r:id="rId65"/>
  </p:notesMasterIdLst>
  <p:sldIdLst>
    <p:sldId id="256" r:id="rId5"/>
    <p:sldId id="257" r:id="rId6"/>
    <p:sldId id="258" r:id="rId7"/>
    <p:sldId id="321" r:id="rId8"/>
    <p:sldId id="260" r:id="rId9"/>
    <p:sldId id="320" r:id="rId10"/>
    <p:sldId id="271" r:id="rId11"/>
    <p:sldId id="315" r:id="rId12"/>
    <p:sldId id="318" r:id="rId13"/>
    <p:sldId id="319" r:id="rId15"/>
    <p:sldId id="316" r:id="rId16"/>
    <p:sldId id="317" r:id="rId17"/>
    <p:sldId id="274" r:id="rId19"/>
    <p:sldId id="263" r:id="rId21"/>
    <p:sldId id="276" r:id="rId22"/>
    <p:sldId id="277" r:id="rId23"/>
    <p:sldId id="278" r:id="rId24"/>
    <p:sldId id="287" r:id="rId25"/>
    <p:sldId id="310" r:id="rId26"/>
    <p:sldId id="279" r:id="rId27"/>
    <p:sldId id="300" r:id="rId30"/>
    <p:sldId id="265" r:id="rId31"/>
    <p:sldId id="311" r:id="rId32"/>
    <p:sldId id="268" r:id="rId33"/>
    <p:sldId id="270" r:id="rId34"/>
    <p:sldId id="269" r:id="rId35"/>
    <p:sldId id="322" r:id="rId76"/>
    <p:sldId id="323" r:id="rId77"/>
    <p:sldId id="324" r:id="rId78"/>
    <p:sldId id="325" r:id="rId79"/>
    <p:sldId id="326" r:id="rId80"/>
    <p:sldId id="309" r:id="rId36"/>
    <p:sldId id="281" r:id="rId40"/>
    <p:sldId id="282" r:id="rId41"/>
    <p:sldId id="285" r:id="rId44"/>
    <p:sldId id="272" r:id="rId14"/>
    <p:sldId id="275" r:id="rId20"/>
    <p:sldId id="280" r:id="rId28"/>
    <p:sldId id="293" r:id="rId51"/>
    <p:sldId id="294" r:id="rId52"/>
    <p:sldId id="295" r:id="rId53"/>
    <p:sldId id="296" r:id="rId54"/>
    <p:sldId id="297" r:id="rId55"/>
    <p:sldId id="298" r:id="rId56"/>
    <p:sldId id="301" r:id="rId57"/>
    <p:sldId id="302" r:id="rId58"/>
    <p:sldId id="306" r:id="rId62"/>
    <p:sldId id="308" r:id="rId64"/>
  </p:sldIdLst>
  <p:sldSz cx="9144000" cy="5143500" type="screen16x9"/>
  <p:notesSz cx="6858000" cy="9144000"/>
  <p:embeddedFontLst>
    <p:embeddedFont>
      <p:font typeface="Roboto" panose="02000000000000000000" pitchFamily="2" charset="0"/>
      <p:regular r:id="rId66"/>
      <p:bold r:id="rId67"/>
      <p:italic r:id="rId68"/>
      <p:boldItalic r:id="rId69"/>
    </p:embeddedFont>
    <p:embeddedFont>
      <p:font typeface="Roboto Light" panose="02000000000000000000" pitchFamily="2" charset="0"/>
      <p:regular r:id="rId70"/>
      <p:italic r:id="rId7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7189"/>
    <p:restoredTop sz="92627"/>
  </p:normalViewPr>
  <p:slideViewPr>
    <p:cSldViewPr snapToGrid="0">
      <p:cViewPr>
        <p:scale>
          <a:sx n="156" d="100"/>
          <a:sy n="156" d="100"/>
        </p:scale>
        <p:origin x="880" y="816"/>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Master" Target="slideMasters/slideMaster3.xml"/><Relationship Id="rId4" Type="http://schemas.openxmlformats.org/officeDocument/2006/relationships/slideMaster" Target="slideMasters/slideMaster4.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37.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38.xml"/><Relationship Id="rId30" Type="http://schemas.openxmlformats.org/officeDocument/2006/relationships/slide" Target="slides/slide22.xml"/><Relationship Id="rId31" Type="http://schemas.openxmlformats.org/officeDocument/2006/relationships/slide" Target="slides/slide23.xml"/><Relationship Id="rId32" Type="http://schemas.openxmlformats.org/officeDocument/2006/relationships/slide" Target="slides/slide24.xml"/><Relationship Id="rId33" Type="http://schemas.openxmlformats.org/officeDocument/2006/relationships/slide" Target="slides/slide25.xml"/><Relationship Id="rId34" Type="http://schemas.openxmlformats.org/officeDocument/2006/relationships/slide" Target="slides/slide26.xml"/><Relationship Id="rId35" Type="http://schemas.openxmlformats.org/officeDocument/2006/relationships/slide" Target="slides/slide27.xml"/><Relationship Id="rId36"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4" Type="http://schemas.openxmlformats.org/officeDocument/2006/relationships/slide" Target="slides/slide36.xml"/><Relationship Id="rId51" Type="http://schemas.openxmlformats.org/officeDocument/2006/relationships/slide" Target="slides/slide39.xml"/><Relationship Id="rId52" Type="http://schemas.openxmlformats.org/officeDocument/2006/relationships/slide" Target="slides/slide40.xml"/><Relationship Id="rId53" Type="http://schemas.openxmlformats.org/officeDocument/2006/relationships/slide" Target="slides/slide41.xml"/><Relationship Id="rId54" Type="http://schemas.openxmlformats.org/officeDocument/2006/relationships/slide" Target="slides/slide42.xml"/><Relationship Id="rId55" Type="http://schemas.openxmlformats.org/officeDocument/2006/relationships/slide" Target="slides/slide43.xml"/><Relationship Id="rId56" Type="http://schemas.openxmlformats.org/officeDocument/2006/relationships/slide" Target="slides/slide44.xml"/><Relationship Id="rId57" Type="http://schemas.openxmlformats.org/officeDocument/2006/relationships/slide" Target="slides/slide45.xml"/><Relationship Id="rId58" Type="http://schemas.openxmlformats.org/officeDocument/2006/relationships/slide" Target="slides/slide46.xml"/><Relationship Id="rId62" Type="http://schemas.openxmlformats.org/officeDocument/2006/relationships/slide" Target="slides/slide47.xml"/><Relationship Id="rId64" Type="http://schemas.openxmlformats.org/officeDocument/2006/relationships/slide" Target="slides/slide48.xml"/><Relationship Id="rId65" Type="http://schemas.openxmlformats.org/officeDocument/2006/relationships/notesMaster" Target="notesMasters/notesMaster1.xml"/><Relationship Id="rId66" Type="http://schemas.openxmlformats.org/officeDocument/2006/relationships/font" Target="fonts/font1.fntdata"/><Relationship Id="rId67" Type="http://schemas.openxmlformats.org/officeDocument/2006/relationships/font" Target="fonts/font2.fntdata"/><Relationship Id="rId68" Type="http://schemas.openxmlformats.org/officeDocument/2006/relationships/font" Target="fonts/font3.fntdata"/><Relationship Id="rId69" Type="http://schemas.openxmlformats.org/officeDocument/2006/relationships/font" Target="fonts/font4.fntdata"/><Relationship Id="rId70" Type="http://schemas.openxmlformats.org/officeDocument/2006/relationships/font" Target="fonts/font5.fntdata"/><Relationship Id="rId71" Type="http://schemas.openxmlformats.org/officeDocument/2006/relationships/font" Target="fonts/font6.fntdata"/><Relationship Id="rId72" Type="http://schemas.openxmlformats.org/officeDocument/2006/relationships/presProps" Target="presProps.xml"/><Relationship Id="rId73" Type="http://schemas.openxmlformats.org/officeDocument/2006/relationships/viewProps" Target="viewProps.xml"/><Relationship Id="rId74" Type="http://schemas.openxmlformats.org/officeDocument/2006/relationships/theme" Target="theme/theme1.xml"/><Relationship Id="rId75" Type="http://schemas.openxmlformats.org/officeDocument/2006/relationships/tableStyles" Target="tableStyles.xml"/><Relationship Id="rId76" Type="http://schemas.openxmlformats.org/officeDocument/2006/relationships/slide" Target="slides/slide28.xml"/><Relationship Id="rId77" Type="http://schemas.openxmlformats.org/officeDocument/2006/relationships/slide" Target="slides/slide29.xml"/><Relationship Id="rId78" Type="http://schemas.openxmlformats.org/officeDocument/2006/relationships/slide" Target="slides/slide30.xml"/><Relationship Id="rId79" Type="http://schemas.openxmlformats.org/officeDocument/2006/relationships/slide" Target="slides/slide31.xml"/><Relationship Id="rId80" Type="http://schemas.openxmlformats.org/officeDocument/2006/relationships/slide" Target="slides/slide3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rPr dirty="0"/>
              <a:t>Opening (~30 sec): 'This talk is about parameter-efficient fine-tuning: how the field went from full fine-tunes that cost 780 GB of VRAM to training 65B parameter models on a single 48 GB GPU, without losing accuracy.'</a:t>
            </a:r>
          </a:p>
          <a:p>
            <a:endParaRPr dirty="0"/>
          </a:p>
          <a:p>
            <a:r>
              <a:rPr dirty="0"/>
              <a:t>Talking points:</a:t>
            </a:r>
          </a:p>
          <a:p>
            <a:r>
              <a:rPr dirty="0"/>
              <a:t>• Point at THE PROBLEM card: full FT of a 65B model = 780 GB, doesn't fit anywhere reasonable.</a:t>
            </a:r>
          </a:p>
          <a:p>
            <a:r>
              <a:rPr dirty="0"/>
              <a:t>• Point at THE IDEA card: two moves stack: low-rank update on frozen base (</a:t>
            </a:r>
            <a:r>
              <a:rPr dirty="0" err="1"/>
              <a:t>LoRA</a:t>
            </a:r>
            <a:r>
              <a:rPr dirty="0"/>
              <a:t>), then quantize the base to 4-bit (</a:t>
            </a:r>
            <a:r>
              <a:rPr dirty="0" err="1"/>
              <a:t>QLoRA</a:t>
            </a:r>
            <a:r>
              <a:rPr dirty="0"/>
              <a:t>). Each attacks a different memory cost.</a:t>
            </a:r>
          </a:p>
          <a:p>
            <a:r>
              <a:rPr dirty="0"/>
              <a:t>• Point at THE RESULT card: 65B fits on one GPU, matches 16-bit full FT on downstream benchmarks. That's the whole talk in one slide.</a:t>
            </a:r>
          </a:p>
          <a:p>
            <a:endParaRPr dirty="0"/>
          </a:p>
          <a:p>
            <a:r>
              <a:rPr dirty="0"/>
              <a:t>Q&amp;A anticipated: 'Why should I care about PEFT if I can just use closed models?': Open-weight tuning is what makes per-tenant / per-domain customization economical, and this stack is the reason it's affordable.</a:t>
            </a:r>
          </a:p>
          <a:p>
            <a:endParaRPr dirty="0"/>
          </a:p>
          <a:p>
            <a:r>
              <a:rPr dirty="0"/>
              <a:t>Time budget: 30 sec.</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rPr dirty="0"/>
              <a:t>OPENING LINE:</a:t>
            </a:r>
          </a:p>
          <a:p>
            <a:r>
              <a:rPr dirty="0"/>
              <a:t>"Before we get to any method, let's be honest about the pain that motivates the whole PEFT literature."</a:t>
            </a:r>
          </a:p>
          <a:p>
            <a:endParaRPr dirty="0"/>
          </a:p>
          <a:p>
            <a:r>
              <a:rPr dirty="0"/>
              <a:t>TALKING POINTS:</a:t>
            </a:r>
          </a:p>
          <a:p>
            <a:r>
              <a:rPr dirty="0"/>
              <a:t>- One-sentence section: full fine-tuning doesn't scale: you'll see the math and the numbers on the next two slides.</a:t>
            </a:r>
          </a:p>
          <a:p>
            <a:r>
              <a:rPr dirty="0"/>
              <a:t>- Keep divider brief. It's a beat, not a slide with content.</a:t>
            </a:r>
          </a:p>
          <a:p>
            <a:endParaRPr dirty="0"/>
          </a:p>
          <a:p>
            <a:r>
              <a:rPr dirty="0"/>
              <a:t>Q&amp;A ANTICIPATED: None on dividers.</a:t>
            </a:r>
          </a:p>
          <a:p>
            <a:endParaRPr dirty="0"/>
          </a:p>
          <a:p>
            <a:r>
              <a:rPr dirty="0"/>
              <a:t>TIME BUDGET: 10 sec.</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Opening (75 sec): 'This diagram is the shape of the problem, for the model we actually fine-tune. Each square is 1 GB of GPU memory. Yellow = parameters, blue = gradients, green = optimizer, purple = activations. Red diagonals = out of memory. The brace is our 24 GB RTX PRO 5000 laptop GPU. Full fine-tuning Nemotron-3-Nano-4B in bf16 fits the parameters, the gradients, and half of the optimizer. Everything to the right does not fit.'</a:t>
            </a:r>
          </a:p>
          <a:p/>
          <a:p>
            <a:r>
              <a:t>Talking points:</a:t>
            </a:r>
          </a:p>
          <a:p>
            <a:r>
              <a:t>1. The model is NVIDIA Nemotron 3 Nano 4B, the BF16 release (every tensor stored in bf16), a hybrid Mamba-Transformer with 3.97B parameters. In bf16, its native dtype, that is 7.5 GB of weights (measured on this GPU).</a:t>
            </a:r>
          </a:p>
          <a:p>
            <a:r>
              <a:t>2. Gradients match the weights: another 7.5 GB. AdamW keeps two states per weight: 15 GB. That is 30 GB before a single activation, already over 24 GB. That assumes pure-bf16 training, as in our notebook: AdamW keeps its two states in bf16. The common mixed-precision recipe keeps fp32 Adam states (about 30 GB) plus an fp32 master copy of the weights (about 15 GB), roughly 67 GB in total, so 38 GB is the optimistic case. Sizes are GiB, the same unit nvidia-smi uses for the card's 24 GB.</a:t>
            </a:r>
          </a:p>
          <a:p>
            <a:r>
              <a:t>3. Activations depend on batch and tricks. Measured at batch 8 x 256 tokens without gradient checkpointing: 7.6 GB. Batch 16: 15 GB. With gradient checkpointing and batch 1, as in our QLoRA runs: about 0.2 GB.</a:t>
            </a:r>
          </a:p>
          <a:p>
            <a:r>
              <a:t>4. This slide is why PEFT exists. Every other slide is a way to shrink one of these colored blocks. With QLoRA the whole run peaked at 5.4 GB on this card.</a:t>
            </a:r>
          </a:p>
          <a:p/>
          <a:p>
            <a:r>
              <a:t>Q&amp;A anticipated: 'Why not just use a bigger GPU?' An 80 GB card fits this 4B model, but the same accounting for a 70B model is hundreds of GB: multi-GPU training, or PEFT on one card.</a:t>
            </a:r>
          </a:p>
          <a:p/>
          <a:p>
            <a:r>
              <a:t>Diagram credit: Glenn Matlin, FinAI Conference public deck (adapted to our model and GPU).</a:t>
            </a:r>
          </a:p>
          <a:p>
            <a:r>
              <a:t>Numbers: measured with torch.cuda on the RTX PRO 5000, FOMC prompts.</a:t>
            </a:r>
          </a:p>
          <a:p/>
          <a:p>
            <a:r>
              <a:t>Time budget: 75 sec.</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t>Opening (90 sec): 'You just saw 38 GB spread across four colored buckets. This slide is why those buckets exist. Follow the training loop from left to right: input batch, forward pass, loss, backward pass, optimizer step, updated parameters. Each stage creates or consumes a specific bucket.'</a:t>
            </a:r>
          </a:p>
          <a:p/>
          <a:p>
            <a:r>
              <a:t>Walk through:</a:t>
            </a:r>
          </a:p>
          <a:p>
            <a:r>
              <a:t>1. Parameters (yellow, theta) - the model weights. Present at every stage. For Nemotron-4B in bf16, that is 7.5 GB.</a:t>
            </a:r>
          </a:p>
          <a:p>
            <a:r>
              <a:t>2. Activations (purple, a^(l)) - intermediate outputs of each layer. Saved during the forward pass because backward needs them for the chain rule. About 7.6 GB at batch 8 x 256 tokens on Nemotron-4B; gradient checkpointing cuts it to 1.6 GB.</a:t>
            </a:r>
          </a:p>
          <a:p>
            <a:r>
              <a:t>3. Gradients (blue, nabla_theta L) - produced by the backward pass. One derivative per parameter. Another 7.5 GB for Nemotron-4B in bf16.</a:t>
            </a:r>
          </a:p>
          <a:p>
            <a:r>
              <a:t>4. Optimizer state (green, m and v) - momentum and variance under Adam. Read and updated during the optimizer step. 15 GB for Nemotron-4B with bf16 AdamW states.</a:t>
            </a:r>
          </a:p>
          <a:p/>
          <a:p>
            <a:r>
              <a:t>Key point (bridge to Background): three of the four buckets exist ONLY because we are training (Gradients, Activations, Optimizer). Only Parameters would survive an inference-only pass. That is the training tax we come back to on the LoRA-gradients slide.</a:t>
            </a:r>
          </a:p>
          <a:p/>
          <a:p>
            <a:r>
              <a:t>'Why PEFT helps' panel on the right: in LoRA, the base is frozen and only a small adapter is trainable. Fewer trainable parameters means far fewer gradients, much smaller optimizer state, and only the adapter path adds activation memory.</a:t>
            </a:r>
          </a:p>
          <a:p/>
          <a:p>
            <a:r>
              <a:t>Time budget: 90 sec.</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rPr dirty="0"/>
              <a:t>OPENING LINE:</a:t>
            </a:r>
          </a:p>
          <a:p>
            <a:r>
              <a:rPr dirty="0"/>
              <a:t>"The core idea of the last five years of PEFT is one hypothesis and one trick."</a:t>
            </a:r>
          </a:p>
          <a:p>
            <a:endParaRPr dirty="0"/>
          </a:p>
          <a:p>
            <a:r>
              <a:rPr dirty="0"/>
              <a:t>TALKING POINTS:</a:t>
            </a:r>
          </a:p>
          <a:p>
            <a:r>
              <a:rPr dirty="0"/>
              <a:t>- Hypothesis: the weight update during adaptation lives in a low-dimensional subspace.</a:t>
            </a:r>
          </a:p>
          <a:p>
            <a:r>
              <a:rPr dirty="0"/>
              <a:t>- Trick: freeze the base, parameterize the update as a product of two small matrices.</a:t>
            </a:r>
          </a:p>
          <a:p>
            <a:r>
              <a:rPr dirty="0"/>
              <a:t>- Everything in this section builds from that one bet.</a:t>
            </a:r>
          </a:p>
          <a:p>
            <a:endParaRPr dirty="0"/>
          </a:p>
          <a:p>
            <a:r>
              <a:rPr dirty="0"/>
              <a:t>Q&amp;A ANTICIPATED: None on dividers.</a:t>
            </a:r>
          </a:p>
          <a:p>
            <a:endParaRPr dirty="0"/>
          </a:p>
          <a:p>
            <a:r>
              <a:rPr dirty="0"/>
              <a:t>TIME BUDGET: 10 sec.</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rPr dirty="0"/>
              <a:t>Setup (60 sec): 'Before we dive into the memory problem, a quick word on WHY teams fine-tune at all. Modern base LLMs are already very capable, but they are trained to be general-purpose. In practice you almost always want the model to behave in a way that is specific to your task, your domain, or your tenant.'</a:t>
            </a:r>
          </a:p>
          <a:p>
            <a:endParaRPr dirty="0"/>
          </a:p>
          <a:p>
            <a:r>
              <a:rPr dirty="0"/>
              <a:t>Talking points:</a:t>
            </a:r>
          </a:p>
          <a:p>
            <a:r>
              <a:rPr dirty="0"/>
              <a:t>1. Base LLM is a strong starting point. General-purpose. Broad but not specialized.</a:t>
            </a:r>
          </a:p>
          <a:p>
            <a:r>
              <a:rPr dirty="0"/>
              <a:t>2. Fine-tuning adapts vocabulary, format, style, judgment. Not just facts - behavior.</a:t>
            </a:r>
          </a:p>
          <a:p>
            <a:r>
              <a:rPr dirty="0"/>
              <a:t>3. Concrete examples that resonate with an industry audience: contract review, medical Q&amp;A, code review, customer-support voice, in-house translation glossary.</a:t>
            </a:r>
          </a:p>
          <a:p>
            <a:r>
              <a:rPr dirty="0"/>
              <a:t>4. The figure is the canonical mental picture: base model + your custom data -&gt; specialized model. This slide sets up WHY the memory cost on the next slide matters.</a:t>
            </a:r>
          </a:p>
          <a:p>
            <a:endParaRPr dirty="0"/>
          </a:p>
          <a:p>
            <a:r>
              <a:rPr dirty="0"/>
              <a:t>Bridge to next slide (§1 divider): 'That is the payoff. Now: what does it actually COST to do this the naive way?'</a:t>
            </a:r>
          </a:p>
          <a:p>
            <a:endParaRPr dirty="0"/>
          </a:p>
          <a:p>
            <a:r>
              <a:rPr dirty="0"/>
              <a:t>Time budget: 60 sec.</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rPr dirty="0"/>
              <a:t>Opening (~75 sec): 'Before </a:t>
            </a:r>
            <a:r>
              <a:rPr dirty="0" err="1"/>
              <a:t>LoRA</a:t>
            </a:r>
            <a:r>
              <a:rPr dirty="0"/>
              <a:t> existed, </a:t>
            </a:r>
            <a:r>
              <a:rPr dirty="0" err="1"/>
              <a:t>Aghajanyan</a:t>
            </a:r>
            <a:r>
              <a:rPr dirty="0"/>
              <a:t> showed something surprising, you can project a pretrained model's parameters into a much smaller subspace and still fine-tune it effectively. That says the updates live on a low-dimensional manifold.'</a:t>
            </a:r>
          </a:p>
          <a:p>
            <a:endParaRPr dirty="0"/>
          </a:p>
          <a:p>
            <a:r>
              <a:rPr dirty="0"/>
              <a:t>Talking points:</a:t>
            </a:r>
          </a:p>
          <a:p>
            <a:r>
              <a:rPr dirty="0"/>
              <a:t>• Over-parametrized models have a low intrinsic dimension d90: the smallest subspace where you can hit 90% of full-FT performance.</a:t>
            </a:r>
          </a:p>
          <a:p>
            <a:r>
              <a:rPr dirty="0"/>
              <a:t>• For pretrained BERT-base, d90 is in the thousands, not millions. For larger models, the ratio shrinks.</a:t>
            </a:r>
          </a:p>
          <a:p>
            <a:r>
              <a:rPr dirty="0"/>
              <a:t>• </a:t>
            </a:r>
            <a:r>
              <a:rPr dirty="0" err="1"/>
              <a:t>LoRA's</a:t>
            </a:r>
            <a:r>
              <a:rPr dirty="0"/>
              <a:t> hypothesis: if the model itself is low-intrinsic-dim, the *updates* (ΔW) are also low-rank.</a:t>
            </a:r>
          </a:p>
          <a:p>
            <a:r>
              <a:rPr dirty="0"/>
              <a:t>• That's the theoretical launch pad: the next slide turns the hypothesis into a method.</a:t>
            </a:r>
          </a:p>
          <a:p>
            <a:endParaRPr dirty="0"/>
          </a:p>
          <a:p>
            <a:r>
              <a:rPr dirty="0"/>
              <a:t>Q&amp;A anticipated: 'Is low intrinsic dim provable or empirical?': Empirical. The projection trick measures it; theory catching up in 2022–2024 (NTK regime results).</a:t>
            </a:r>
          </a:p>
          <a:p>
            <a:endParaRPr dirty="0"/>
          </a:p>
          <a:p>
            <a:r>
              <a:rPr dirty="0"/>
              <a:t>Time budget: 75 sec.</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rPr dirty="0"/>
              <a:t>Opening (45 sec): 'Before we get to </a:t>
            </a:r>
            <a:r>
              <a:rPr dirty="0" err="1"/>
              <a:t>LoRA</a:t>
            </a:r>
            <a:r>
              <a:rPr dirty="0"/>
              <a:t>, one linear-algebra reminder. Rank is the number of independent directions a matrix carries.'</a:t>
            </a:r>
          </a:p>
          <a:p>
            <a:endParaRPr dirty="0"/>
          </a:p>
          <a:p>
            <a:r>
              <a:rPr dirty="0"/>
              <a:t>Walk the concrete example:</a:t>
            </a:r>
          </a:p>
          <a:p>
            <a:r>
              <a:rPr dirty="0"/>
              <a:t>1. Show the 3×3 matrix [[1,2,3],[2,4,6],[1,1,2]].</a:t>
            </a:r>
          </a:p>
          <a:p>
            <a:r>
              <a:rPr dirty="0"/>
              <a:t>2. Look at the columns: col 1 = (1,2,1)ᵀ, col 2 = (2,4,1)ᵀ, col 3 = (3,6,2)ᵀ.</a:t>
            </a:r>
          </a:p>
          <a:p>
            <a:r>
              <a:rPr dirty="0"/>
              <a:t>3. Notice: col 3 = col 1 + col 2. So col 3 is not adding new information.</a:t>
            </a:r>
          </a:p>
          <a:p>
            <a:r>
              <a:rPr dirty="0"/>
              <a:t>4. Rank = 2 because only 2 of the 3 columns are independent.</a:t>
            </a:r>
          </a:p>
          <a:p>
            <a:endParaRPr dirty="0"/>
          </a:p>
          <a:p>
            <a:r>
              <a:rPr dirty="0"/>
              <a:t>Then the general factorization: any rank-r matrix M can be written as U·V where U is </a:t>
            </a:r>
            <a:r>
              <a:rPr dirty="0" err="1"/>
              <a:t>d×r</a:t>
            </a:r>
            <a:r>
              <a:rPr dirty="0"/>
              <a:t> (holds the r independent columns) and V is </a:t>
            </a:r>
            <a:r>
              <a:rPr dirty="0" err="1"/>
              <a:t>r×d</a:t>
            </a:r>
            <a:r>
              <a:rPr dirty="0"/>
              <a:t> (holds the recipe for combining them). Storage drops from d² to 2·d·r.</a:t>
            </a:r>
          </a:p>
          <a:p>
            <a:endParaRPr dirty="0"/>
          </a:p>
          <a:p>
            <a:r>
              <a:rPr dirty="0"/>
              <a:t>History: this is Frobenius, 1878. Nothing about neural networks. That comes next.</a:t>
            </a:r>
          </a:p>
          <a:p>
            <a:endParaRPr dirty="0"/>
          </a:p>
          <a:p>
            <a:r>
              <a:rPr dirty="0"/>
              <a:t>Anticipated Q: 'What if the matrix is only APPROXIMATELY low-rank?' → Then M ≈ U·V and the error depends on the trailing singular values you drop. SVD gives the best low-rank approximation of a given rank.</a:t>
            </a:r>
          </a:p>
          <a:p>
            <a:endParaRPr dirty="0"/>
          </a:p>
          <a:p>
            <a:r>
              <a:rPr dirty="0"/>
              <a:t>Time budget: 60 sec.</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rPr dirty="0"/>
              <a:t>Opening (90 sec): 'This is the whole idea of </a:t>
            </a:r>
            <a:r>
              <a:rPr dirty="0" err="1"/>
              <a:t>LoRA</a:t>
            </a:r>
            <a:r>
              <a:rPr dirty="0"/>
              <a:t> in one slide. Take a pretrained transformer. Freeze every weight, that is the snowflake. Then wrap the frozen weight matrix W with two small matrices B and A. During fine-tuning, ONLY B and A get updated. Every gradient, every optimizer state, every trainable parameter lives in those two tiny matrices.'</a:t>
            </a:r>
          </a:p>
          <a:p>
            <a:endParaRPr dirty="0"/>
          </a:p>
          <a:p>
            <a:r>
              <a:rPr dirty="0"/>
              <a:t>Talking points:</a:t>
            </a:r>
          </a:p>
          <a:p>
            <a:r>
              <a:rPr dirty="0"/>
              <a:t>1. The transformer on the left is your base model, frozen. Any pretrained LLM works.</a:t>
            </a:r>
          </a:p>
          <a:p>
            <a:r>
              <a:rPr dirty="0"/>
              <a:t>2. The red arrow points to where the </a:t>
            </a:r>
            <a:r>
              <a:rPr dirty="0" err="1"/>
              <a:t>LoRA</a:t>
            </a:r>
            <a:r>
              <a:rPr dirty="0"/>
              <a:t> update is injected: the feed-forward projections (and typically the attention Q, K, V, O projections as well).</a:t>
            </a:r>
          </a:p>
          <a:p>
            <a:r>
              <a:rPr dirty="0"/>
              <a:t>3. On the right: pretrained W is d x d, frozen. B is d x r, A is r x d, both trainable. The rank r is much smaller than d: often r = 8, 16, or 64 for a d in the thousands.</a:t>
            </a:r>
          </a:p>
          <a:p>
            <a:r>
              <a:rPr dirty="0"/>
              <a:t>4. Initialization: A is Gaussian, B is zero. So the initial ΔW = B·A = 0. Training starts from the exact pretrained function.</a:t>
            </a:r>
          </a:p>
          <a:p>
            <a:r>
              <a:rPr dirty="0"/>
              <a:t>5. At inference you can merge: </a:t>
            </a:r>
            <a:r>
              <a:rPr dirty="0" err="1"/>
              <a:t>W_final</a:t>
            </a:r>
            <a:r>
              <a:rPr dirty="0"/>
              <a:t> = W + BA. Zero latency overhead vs the base model.</a:t>
            </a:r>
          </a:p>
          <a:p>
            <a:r>
              <a:rPr dirty="0"/>
              <a:t>6. Parameter savings: for d=4096, r=16, one </a:t>
            </a:r>
            <a:r>
              <a:rPr dirty="0" err="1"/>
              <a:t>LoRA</a:t>
            </a:r>
            <a:r>
              <a:rPr dirty="0"/>
              <a:t>-adapted matrix goes from 4096x4096 = 16.8M params to 2 x 4096 x 16 = 131k params. About 128x fewer trainable weights per matrix.</a:t>
            </a:r>
          </a:p>
          <a:p>
            <a:endParaRPr dirty="0"/>
          </a:p>
          <a:p>
            <a:r>
              <a:rPr dirty="0"/>
              <a:t>Q&amp;A anticipated: 'Why B=0 not both random?' Symmetric random </a:t>
            </a:r>
            <a:r>
              <a:rPr dirty="0" err="1"/>
              <a:t>init</a:t>
            </a:r>
            <a:r>
              <a:rPr dirty="0"/>
              <a:t> would immediately push the model off the pretrained function. B=0 preserves it as the starting point and lets the training decide how much to move.</a:t>
            </a:r>
          </a:p>
          <a:p>
            <a:endParaRPr dirty="0"/>
          </a:p>
          <a:p>
            <a:r>
              <a:rPr dirty="0"/>
              <a:t>Source: Hu, Shen, Wallis et al. 2021, '</a:t>
            </a:r>
            <a:r>
              <a:rPr dirty="0" err="1"/>
              <a:t>LoRA</a:t>
            </a:r>
            <a:r>
              <a:rPr dirty="0"/>
              <a:t>: Low-Rank Adaptation of Large Language Models,' arXiv:2106.09685.</a:t>
            </a:r>
          </a:p>
          <a:p>
            <a:endParaRPr dirty="0"/>
          </a:p>
          <a:p>
            <a:r>
              <a:rPr dirty="0"/>
              <a:t>Time budget: 90 sec.</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rPr dirty="0"/>
              <a:t>Opening (30 sec): '</a:t>
            </a:r>
            <a:r>
              <a:rPr dirty="0" err="1"/>
              <a:t>LoRA</a:t>
            </a:r>
            <a:r>
              <a:rPr dirty="0"/>
              <a:t> in one sentence: instead of updating W directly, keep W frozen and learn a low-rank correction ΔW = B·A.'</a:t>
            </a:r>
          </a:p>
          <a:p>
            <a:endParaRPr dirty="0"/>
          </a:p>
          <a:p>
            <a:r>
              <a:rPr dirty="0"/>
              <a:t>Definition: </a:t>
            </a:r>
            <a:r>
              <a:rPr dirty="0" err="1"/>
              <a:t>LoRA</a:t>
            </a:r>
            <a:r>
              <a:rPr dirty="0"/>
              <a:t> = Low-Rank Adaptation. The name is literal.</a:t>
            </a:r>
          </a:p>
          <a:p>
            <a:endParaRPr dirty="0"/>
          </a:p>
          <a:p>
            <a:r>
              <a:rPr dirty="0"/>
              <a:t>The hypothesis (Hu et al. 2021): the fine-tuning update ΔW is empirically low-rank, because pretrained models already live in a low-dimensional subspace (</a:t>
            </a:r>
            <a:r>
              <a:rPr dirty="0" err="1"/>
              <a:t>Aghajanyan</a:t>
            </a:r>
            <a:r>
              <a:rPr dirty="0"/>
              <a:t> et al., which we just showed). So it's OK to constrain ΔW to be low-rank by design.</a:t>
            </a:r>
          </a:p>
          <a:p>
            <a:endParaRPr dirty="0"/>
          </a:p>
          <a:p>
            <a:r>
              <a:rPr dirty="0"/>
              <a:t>Frozen: W₀. Trainable: B ∈ </a:t>
            </a:r>
            <a:r>
              <a:rPr dirty="0" err="1"/>
              <a:t>ℝ</a:t>
            </a:r>
            <a:r>
              <a:rPr dirty="0"/>
              <a:t>^(</a:t>
            </a:r>
            <a:r>
              <a:rPr dirty="0" err="1"/>
              <a:t>d×r</a:t>
            </a:r>
            <a:r>
              <a:rPr dirty="0"/>
              <a:t>) and A ∈ </a:t>
            </a:r>
            <a:r>
              <a:rPr dirty="0" err="1"/>
              <a:t>ℝ</a:t>
            </a:r>
            <a:r>
              <a:rPr dirty="0"/>
              <a:t>^(</a:t>
            </a:r>
            <a:r>
              <a:rPr dirty="0" err="1"/>
              <a:t>r×k</a:t>
            </a:r>
            <a:r>
              <a:rPr dirty="0"/>
              <a:t>). That's it.</a:t>
            </a:r>
          </a:p>
          <a:p>
            <a:endParaRPr dirty="0"/>
          </a:p>
          <a:p>
            <a:r>
              <a:rPr dirty="0"/>
              <a:t>The next few slides unpack: how the equations work at train vs inference, what has gradients, how you pick r, and where the memory savings come from.</a:t>
            </a:r>
          </a:p>
          <a:p>
            <a:endParaRPr dirty="0"/>
          </a:p>
          <a:p>
            <a:r>
              <a:rPr dirty="0"/>
              <a:t>Anticipated Q: 'Why B·A and not just one skinny matrix?' → A matrix product is what gives you rank-r structure while keeping trainable params small. One </a:t>
            </a:r>
            <a:r>
              <a:rPr dirty="0" err="1"/>
              <a:t>d×r</a:t>
            </a:r>
            <a:r>
              <a:rPr dirty="0"/>
              <a:t> matrix would only project down; you need the B to project back up.</a:t>
            </a:r>
          </a:p>
          <a:p>
            <a:endParaRPr dirty="0"/>
          </a:p>
          <a:p>
            <a:r>
              <a:rPr dirty="0"/>
              <a:t>Time budget: 45 sec.</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rPr dirty="0"/>
              <a:t>OPENING LINE:</a:t>
            </a:r>
          </a:p>
          <a:p>
            <a:r>
              <a:rPr dirty="0"/>
              <a:t>"Two knobs matter when you configure </a:t>
            </a:r>
            <a:r>
              <a:rPr dirty="0" err="1"/>
              <a:t>LoRA</a:t>
            </a:r>
            <a:r>
              <a:rPr dirty="0"/>
              <a:t>: WHICH weights and HOW BIG the rank. Here's the empirical bottom line."</a:t>
            </a:r>
          </a:p>
          <a:p>
            <a:endParaRPr dirty="0"/>
          </a:p>
          <a:p>
            <a:r>
              <a:rPr dirty="0"/>
              <a:t>TALKING POINTS:</a:t>
            </a:r>
          </a:p>
          <a:p>
            <a:r>
              <a:rPr dirty="0"/>
              <a:t>- Original Hu et al. paper adapts only </a:t>
            </a:r>
            <a:r>
              <a:rPr dirty="0" err="1"/>
              <a:t>W_q</a:t>
            </a:r>
            <a:r>
              <a:rPr dirty="0"/>
              <a:t> and </a:t>
            </a:r>
            <a:r>
              <a:rPr dirty="0" err="1"/>
              <a:t>W_v</a:t>
            </a:r>
            <a:r>
              <a:rPr dirty="0"/>
              <a:t>. That was enough for GPT-3 175B to match full FT.</a:t>
            </a:r>
          </a:p>
          <a:p>
            <a:r>
              <a:rPr dirty="0"/>
              <a:t>- Modern practice (HF PEFT default): </a:t>
            </a:r>
            <a:r>
              <a:rPr dirty="0" err="1"/>
              <a:t>target_modules</a:t>
            </a:r>
            <a:r>
              <a:rPr dirty="0"/>
              <a:t>='all-linear': </a:t>
            </a:r>
            <a:r>
              <a:rPr dirty="0" err="1"/>
              <a:t>LoRA</a:t>
            </a:r>
            <a:r>
              <a:rPr dirty="0"/>
              <a:t> everything with a linear layer, including the MLP. Slightly more params, better on hard tasks.</a:t>
            </a:r>
          </a:p>
          <a:p>
            <a:r>
              <a:rPr dirty="0"/>
              <a:t>- Rank: r=1 sometimes works. r=8-16 is the standard. r=32-64 for tasks that need more capacity. And critically: if you go higher, use </a:t>
            </a:r>
            <a:r>
              <a:rPr dirty="0" err="1"/>
              <a:t>rsLoRA</a:t>
            </a:r>
            <a:r>
              <a:rPr dirty="0"/>
              <a:t> scaling from §2 or you'll waste the extra capacity.</a:t>
            </a:r>
          </a:p>
          <a:p>
            <a:r>
              <a:rPr dirty="0"/>
              <a:t>- The concrete arithmetic on the right: even at r=3, a 100×100 weight matrix drops from 10,000 params to 600: 17× reduction. At production scales (2048×2048) the reduction is orders of magnitude larger.</a:t>
            </a:r>
          </a:p>
          <a:p>
            <a:endParaRPr dirty="0"/>
          </a:p>
          <a:p>
            <a:r>
              <a:rPr dirty="0"/>
              <a:t>Q&amp;A ANTICIPATED:</a:t>
            </a:r>
          </a:p>
          <a:p>
            <a:r>
              <a:rPr dirty="0"/>
              <a:t>- "How do you pick r in practice?" → start r=8, add </a:t>
            </a:r>
            <a:r>
              <a:rPr dirty="0" err="1"/>
              <a:t>rsLoRA</a:t>
            </a:r>
            <a:r>
              <a:rPr dirty="0"/>
              <a:t>, sweep up if the loss plateau is high. Extras Q1 has the subspace-overlap detail.</a:t>
            </a:r>
          </a:p>
          <a:p>
            <a:r>
              <a:rPr dirty="0"/>
              <a:t>- "Does </a:t>
            </a:r>
            <a:r>
              <a:rPr dirty="0" err="1"/>
              <a:t>target_modules</a:t>
            </a:r>
            <a:r>
              <a:rPr dirty="0"/>
              <a:t> matter more than rank?" → yes, empirically. Add modules before you add rank.</a:t>
            </a:r>
          </a:p>
          <a:p>
            <a:endParaRPr dirty="0"/>
          </a:p>
          <a:p>
            <a:r>
              <a:rPr dirty="0"/>
              <a:t>TIME BUDGET: 75 sec.</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rPr dirty="0"/>
              <a:t>OPENING LINE:</a:t>
            </a:r>
          </a:p>
          <a:p>
            <a:r>
              <a:rPr dirty="0"/>
              <a:t>"This is the slide that made </a:t>
            </a:r>
            <a:r>
              <a:rPr dirty="0" err="1"/>
              <a:t>LoRA</a:t>
            </a:r>
            <a:r>
              <a:rPr dirty="0"/>
              <a:t> the default."</a:t>
            </a:r>
          </a:p>
          <a:p>
            <a:endParaRPr dirty="0"/>
          </a:p>
          <a:p>
            <a:r>
              <a:rPr dirty="0"/>
              <a:t>TALKING POINTS:</a:t>
            </a:r>
          </a:p>
          <a:p>
            <a:r>
              <a:rPr dirty="0"/>
              <a:t>- Left (Table 4): three datasets (</a:t>
            </a:r>
            <a:r>
              <a:rPr dirty="0" err="1"/>
              <a:t>WikiSQL</a:t>
            </a:r>
            <a:r>
              <a:rPr dirty="0"/>
              <a:t>, MNLI, </a:t>
            </a:r>
            <a:r>
              <a:rPr dirty="0" err="1"/>
              <a:t>SAMSum</a:t>
            </a:r>
            <a:r>
              <a:rPr dirty="0"/>
              <a:t>), GPT-3 175B. </a:t>
            </a:r>
            <a:r>
              <a:rPr dirty="0" err="1"/>
              <a:t>LoRA</a:t>
            </a:r>
            <a:r>
              <a:rPr dirty="0"/>
              <a:t> meets or beats full fine-tuning on all three, with 4.7 million trainable parameters instead of 175 billion.</a:t>
            </a:r>
          </a:p>
          <a:p>
            <a:r>
              <a:rPr dirty="0"/>
              <a:t>- Right (Figure 2): scalability curves. As trainable parameter count grows, </a:t>
            </a:r>
            <a:r>
              <a:rPr dirty="0" err="1"/>
              <a:t>LoRA's</a:t>
            </a:r>
            <a:r>
              <a:rPr dirty="0"/>
              <a:t> performance grows smoothly. Prefix-tuning saturates. Adapters underperform </a:t>
            </a:r>
            <a:r>
              <a:rPr dirty="0" err="1"/>
              <a:t>LoRA</a:t>
            </a:r>
            <a:r>
              <a:rPr dirty="0"/>
              <a:t> at every parameter count.</a:t>
            </a:r>
          </a:p>
          <a:p>
            <a:r>
              <a:rPr dirty="0"/>
              <a:t>- The big picture: </a:t>
            </a:r>
            <a:r>
              <a:rPr dirty="0" err="1"/>
              <a:t>LoRA</a:t>
            </a:r>
            <a:r>
              <a:rPr dirty="0"/>
              <a:t> doesn't just save memory, it doesn't sacrifice quality. That's the reason it became the default rather than a niche method.</a:t>
            </a:r>
          </a:p>
          <a:p>
            <a:endParaRPr dirty="0"/>
          </a:p>
          <a:p>
            <a:r>
              <a:rPr dirty="0"/>
              <a:t>Q&amp;A ANTICIPATED:</a:t>
            </a:r>
          </a:p>
          <a:p>
            <a:r>
              <a:rPr dirty="0"/>
              <a:t>- "This is 2021 GPT-3: does it hold for </a:t>
            </a:r>
            <a:r>
              <a:rPr dirty="0" err="1"/>
              <a:t>LLaMA</a:t>
            </a:r>
            <a:r>
              <a:rPr dirty="0"/>
              <a:t> / Mistral / GPT-4-class?" → yes; the finding has been replicated many times on Llama-2, Llama-3, Mistral, Qwen bases in 2023-2025.</a:t>
            </a:r>
          </a:p>
          <a:p>
            <a:r>
              <a:rPr dirty="0"/>
              <a:t>- "What's the loss on the 'hard' tasks?" → this is where Biderman's paper comes in (slide 20). Instruction-tuning like these tasks: </a:t>
            </a:r>
            <a:r>
              <a:rPr dirty="0" err="1"/>
              <a:t>LoRA</a:t>
            </a:r>
            <a:r>
              <a:rPr dirty="0"/>
              <a:t> wins. Learning new capabilities: full FT still has an edge.</a:t>
            </a:r>
          </a:p>
          <a:p>
            <a:endParaRPr dirty="0"/>
          </a:p>
          <a:p>
            <a:r>
              <a:rPr dirty="0"/>
              <a:t>TIME BUDGET: 75 sec.</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rPr dirty="0"/>
              <a:t>OPENING LINE:</a:t>
            </a:r>
          </a:p>
          <a:p>
            <a:r>
              <a:rPr dirty="0"/>
              <a:t>"Low-rank updates solved the adapter-size problem. They didn't solve the base-model-size problem."</a:t>
            </a:r>
          </a:p>
          <a:p>
            <a:endParaRPr dirty="0"/>
          </a:p>
          <a:p>
            <a:r>
              <a:rPr dirty="0"/>
              <a:t>TALKING POINTS:</a:t>
            </a:r>
          </a:p>
          <a:p>
            <a:r>
              <a:rPr dirty="0"/>
              <a:t>- Beat the base slide (14) sets up this section: </a:t>
            </a:r>
            <a:r>
              <a:rPr dirty="0" err="1"/>
              <a:t>LoRA</a:t>
            </a:r>
            <a:r>
              <a:rPr dirty="0"/>
              <a:t> doesn't shrink W₀.</a:t>
            </a:r>
          </a:p>
          <a:p>
            <a:r>
              <a:rPr dirty="0"/>
              <a:t>- </a:t>
            </a:r>
            <a:r>
              <a:rPr dirty="0" err="1"/>
              <a:t>QLoRA</a:t>
            </a:r>
            <a:r>
              <a:rPr dirty="0"/>
              <a:t> is the answer: quantize W₀ down to 4 bits, </a:t>
            </a:r>
            <a:r>
              <a:rPr dirty="0" err="1"/>
              <a:t>LoRA</a:t>
            </a:r>
            <a:r>
              <a:rPr dirty="0"/>
              <a:t>-adapt in 16-bit on top.</a:t>
            </a:r>
          </a:p>
          <a:p>
            <a:endParaRPr dirty="0"/>
          </a:p>
          <a:p>
            <a:r>
              <a:rPr dirty="0"/>
              <a:t>Q&amp;A ANTICIPATED: None on dividers.</a:t>
            </a:r>
          </a:p>
          <a:p>
            <a:endParaRPr dirty="0"/>
          </a:p>
          <a:p>
            <a:r>
              <a:rPr dirty="0"/>
              <a:t>TIME BUDGET: 10 sec.</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rPr dirty="0"/>
              <a:t>Opening (~90 sec): 'Here's what </a:t>
            </a:r>
            <a:r>
              <a:rPr dirty="0" err="1"/>
              <a:t>LoRA</a:t>
            </a:r>
            <a:r>
              <a:rPr dirty="0"/>
              <a:t> actually saves, and what it doesn't. Three columns: full fine-tuning, </a:t>
            </a:r>
            <a:r>
              <a:rPr dirty="0" err="1"/>
              <a:t>LoRA</a:t>
            </a:r>
            <a:r>
              <a:rPr dirty="0"/>
              <a:t>, </a:t>
            </a:r>
            <a:r>
              <a:rPr dirty="0" err="1"/>
              <a:t>QLoRA</a:t>
            </a:r>
            <a:r>
              <a:rPr dirty="0"/>
              <a:t>. In all three the base model still lives on the GPU. </a:t>
            </a:r>
            <a:r>
              <a:rPr dirty="0" err="1"/>
              <a:t>LoRA</a:t>
            </a:r>
            <a:r>
              <a:rPr dirty="0"/>
              <a:t> cuts the optimizer state and gradient memory because only B and A have gradients. But the base weights themselves are still 130 GB at 16-bit for a 65B model. That’s the ceiling </a:t>
            </a:r>
            <a:r>
              <a:rPr dirty="0" err="1"/>
              <a:t>QLoRA</a:t>
            </a:r>
            <a:r>
              <a:rPr dirty="0"/>
              <a:t> breaks by quantizing the base to 4-bit.'</a:t>
            </a:r>
          </a:p>
          <a:p>
            <a:endParaRPr dirty="0"/>
          </a:p>
          <a:p>
            <a:r>
              <a:rPr dirty="0"/>
              <a:t>Talking points:</a:t>
            </a:r>
          </a:p>
          <a:p>
            <a:r>
              <a:rPr dirty="0"/>
              <a:t>• Full FT: base + gradients + optimizer state: all 32/16-bit: that's the 780 GB.</a:t>
            </a:r>
          </a:p>
          <a:p>
            <a:r>
              <a:rPr dirty="0"/>
              <a:t>• </a:t>
            </a:r>
            <a:r>
              <a:rPr dirty="0" err="1"/>
              <a:t>LoRA</a:t>
            </a:r>
            <a:r>
              <a:rPr dirty="0"/>
              <a:t>: base still 16-bit but gradients + optimizer only for B, A. ~30% savings on a 65B, not 90%.</a:t>
            </a:r>
          </a:p>
          <a:p>
            <a:r>
              <a:rPr dirty="0"/>
              <a:t>• </a:t>
            </a:r>
            <a:r>
              <a:rPr dirty="0" err="1"/>
              <a:t>QLoRA</a:t>
            </a:r>
            <a:r>
              <a:rPr dirty="0"/>
              <a:t>: base at 4-bit, </a:t>
            </a:r>
            <a:r>
              <a:rPr dirty="0" err="1"/>
              <a:t>LoRA</a:t>
            </a:r>
            <a:r>
              <a:rPr dirty="0"/>
              <a:t> adapters at 16-bit. Optimizer state pages to CPU on spikes.</a:t>
            </a:r>
          </a:p>
          <a:p>
            <a:r>
              <a:rPr dirty="0"/>
              <a:t>• This is why the field moved to </a:t>
            </a:r>
            <a:r>
              <a:rPr dirty="0" err="1"/>
              <a:t>QLoRA</a:t>
            </a:r>
            <a:r>
              <a:rPr dirty="0"/>
              <a:t>: </a:t>
            </a:r>
            <a:r>
              <a:rPr dirty="0" err="1"/>
              <a:t>LoRA</a:t>
            </a:r>
            <a:r>
              <a:rPr dirty="0"/>
              <a:t> alone still needs a rack of GPUs for the largest models.</a:t>
            </a:r>
          </a:p>
          <a:p>
            <a:endParaRPr dirty="0"/>
          </a:p>
          <a:p>
            <a:r>
              <a:rPr dirty="0"/>
              <a:t>Q&amp;A anticipated: 'Does </a:t>
            </a:r>
            <a:r>
              <a:rPr dirty="0" err="1"/>
              <a:t>LoRA</a:t>
            </a:r>
            <a:r>
              <a:rPr dirty="0"/>
              <a:t> save NO memory then?': It saves a lot compared to full FT for a fixed base size, but the base still dominates. This diagram is the perfect setup for the </a:t>
            </a:r>
            <a:r>
              <a:rPr dirty="0" err="1"/>
              <a:t>QLoRA</a:t>
            </a:r>
            <a:r>
              <a:rPr dirty="0"/>
              <a:t> section.</a:t>
            </a:r>
          </a:p>
          <a:p>
            <a:endParaRPr dirty="0"/>
          </a:p>
          <a:p>
            <a:r>
              <a:rPr dirty="0"/>
              <a:t>Time budget: 90 sec.</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rPr dirty="0"/>
              <a:t>OPENING LINE:</a:t>
            </a:r>
          </a:p>
          <a:p>
            <a:r>
              <a:rPr dirty="0"/>
              <a:t>"</a:t>
            </a:r>
            <a:r>
              <a:rPr dirty="0" err="1"/>
              <a:t>QLoRA</a:t>
            </a:r>
            <a:r>
              <a:rPr dirty="0"/>
              <a:t> is really four ideas stacked. Each one solves a specific problem: I'll walk through them one at a time in the next three slides."</a:t>
            </a:r>
          </a:p>
          <a:p>
            <a:endParaRPr dirty="0"/>
          </a:p>
          <a:p>
            <a:r>
              <a:rPr dirty="0"/>
              <a:t>TALKING POINTS:</a:t>
            </a:r>
          </a:p>
          <a:p>
            <a:r>
              <a:rPr dirty="0"/>
              <a:t>- NF4: information-theoretically optimal 4-bit type for normally-distributed weights. This is where the base-weight compression comes from.</a:t>
            </a:r>
          </a:p>
          <a:p>
            <a:r>
              <a:rPr dirty="0"/>
              <a:t>- Double Quantization: the quantization constants themselves take up ~1 GB of memory on a 65B model. Quantize THEM too. Small win but free.</a:t>
            </a:r>
          </a:p>
          <a:p>
            <a:r>
              <a:rPr dirty="0"/>
              <a:t>- Paged Optimizers: when you have long input sequences, memory spikes. Instead of setting the batch size to survive the worst case, use NVIDIA's unified memory to spill optimizer state to CPU RAM temporarily.</a:t>
            </a:r>
          </a:p>
          <a:p>
            <a:r>
              <a:rPr dirty="0"/>
              <a:t>- </a:t>
            </a:r>
            <a:r>
              <a:rPr dirty="0" err="1"/>
              <a:t>LoRA</a:t>
            </a:r>
            <a:r>
              <a:rPr dirty="0"/>
              <a:t>: everything from §2 sits on top. Frozen quantized base + 16-bit trainable low-rank adapters.</a:t>
            </a:r>
          </a:p>
          <a:p>
            <a:r>
              <a:rPr dirty="0"/>
              <a:t>- Punchline: 780 GB → 48 GB. Full LLaMA-65B fine-tune on a single 48 GB GPU. And critically: no accuracy loss vs 16-bit full FT.</a:t>
            </a:r>
          </a:p>
          <a:p>
            <a:endParaRPr dirty="0"/>
          </a:p>
          <a:p>
            <a:r>
              <a:rPr dirty="0"/>
              <a:t>Q&amp;A ANTICIPATED:</a:t>
            </a:r>
          </a:p>
          <a:p>
            <a:r>
              <a:rPr dirty="0"/>
              <a:t>- "Why not 8-bit?" → tried in earlier work (LLM.int8()); 4-bit with NF4 recovered full accuracy with half the memory.</a:t>
            </a:r>
          </a:p>
          <a:p>
            <a:r>
              <a:rPr dirty="0"/>
              <a:t>- "Why </a:t>
            </a:r>
            <a:r>
              <a:rPr dirty="0" err="1"/>
              <a:t>LoRA</a:t>
            </a:r>
            <a:r>
              <a:rPr dirty="0"/>
              <a:t> specifically and not other PEFT?" → orthogonal choice: quantization + any PEFT would work. </a:t>
            </a:r>
            <a:r>
              <a:rPr dirty="0" err="1"/>
              <a:t>LoRA</a:t>
            </a:r>
            <a:r>
              <a:rPr dirty="0"/>
              <a:t> was the empirical best. Extras Q3.</a:t>
            </a:r>
          </a:p>
          <a:p>
            <a:endParaRPr dirty="0"/>
          </a:p>
          <a:p>
            <a:r>
              <a:rPr dirty="0"/>
              <a:t>TIME BUDGET: 90 sec.</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rPr dirty="0"/>
              <a:t>OPENING LINE:</a:t>
            </a:r>
          </a:p>
          <a:p>
            <a:r>
              <a:rPr dirty="0"/>
              <a:t>"The magic ingredient in </a:t>
            </a:r>
            <a:r>
              <a:rPr dirty="0" err="1"/>
              <a:t>QLoRA</a:t>
            </a:r>
            <a:r>
              <a:rPr dirty="0"/>
              <a:t> is a data type that most people had never seen before this paper."</a:t>
            </a:r>
          </a:p>
          <a:p>
            <a:endParaRPr dirty="0"/>
          </a:p>
          <a:p>
            <a:r>
              <a:rPr dirty="0"/>
              <a:t>TALKING POINTS:</a:t>
            </a:r>
          </a:p>
          <a:p>
            <a:r>
              <a:rPr dirty="0"/>
              <a:t>- The insight: pretrained weights follow a very predictable distribution: roughly zero-centered normal. So the right 4-bit representation should be tuned to that distribution.</a:t>
            </a:r>
          </a:p>
          <a:p>
            <a:r>
              <a:rPr dirty="0"/>
              <a:t>- NF4 stands for Normal Float 4-bit. It places the 16 quantization bins at the QUANTILES of a normal distribution: equal probability mass per bin.</a:t>
            </a:r>
          </a:p>
          <a:p>
            <a:r>
              <a:rPr dirty="0"/>
              <a:t>- Concrete consequence: bins are DENSE near zero and SPARSE in the tails. Because that's where the weights actually are.</a:t>
            </a:r>
          </a:p>
          <a:p>
            <a:r>
              <a:rPr dirty="0"/>
              <a:t>- Contrast with naive Int4 (uniform spacing) or FP4 (exponential spacing), they waste capacity on values that never occur in real pretrained weights.</a:t>
            </a:r>
          </a:p>
          <a:p>
            <a:r>
              <a:rPr dirty="0"/>
              <a:t>- Extras E2 has the empirical comparison: NF4 consistently wins.</a:t>
            </a:r>
          </a:p>
          <a:p>
            <a:endParaRPr dirty="0"/>
          </a:p>
          <a:p>
            <a:r>
              <a:rPr dirty="0"/>
              <a:t>Q&amp;A ANTICIPATED:</a:t>
            </a:r>
          </a:p>
          <a:p>
            <a:r>
              <a:rPr dirty="0"/>
              <a:t>- "How do you compute the NF4 bin values?" → derived from the normal CDF; extras E1 walks through the procedure.</a:t>
            </a:r>
          </a:p>
          <a:p>
            <a:r>
              <a:rPr dirty="0"/>
              <a:t>- "Does this generalize to other bit-widths?" → yes: NF3, NF6 defined analogously. NF3 works, NF2 doesn't (too few bins). Extras Q5.</a:t>
            </a:r>
          </a:p>
          <a:p>
            <a:endParaRPr dirty="0"/>
          </a:p>
          <a:p>
            <a:r>
              <a:rPr dirty="0"/>
              <a:t>TIME BUDGET: 75 sec.</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rPr dirty="0"/>
              <a:t>Opening (~60 sec): 'This is the construction. NF4 is picked so that each quantization bin contains the same probability mass under a standard normal. That’s the information-theoretic optimum for weights that follow a normal distribution, which pretrained weights do.'</a:t>
            </a:r>
          </a:p>
          <a:p>
            <a:endParaRPr dirty="0"/>
          </a:p>
          <a:p>
            <a:r>
              <a:rPr dirty="0"/>
              <a:t>Talking points:</a:t>
            </a:r>
          </a:p>
          <a:p>
            <a:r>
              <a:rPr dirty="0"/>
              <a:t>• Set I: 8 quantile values above zero from N(0,1).</a:t>
            </a:r>
          </a:p>
          <a:p>
            <a:r>
              <a:rPr dirty="0"/>
              <a:t>• Set II: 8 quantile values below zero.</a:t>
            </a:r>
          </a:p>
          <a:p>
            <a:r>
              <a:rPr dirty="0"/>
              <a:t>• Concatenate, then rescale to [-1, 1].</a:t>
            </a:r>
          </a:p>
          <a:p>
            <a:r>
              <a:rPr dirty="0"/>
              <a:t>• Under quantization, this minimizes L2 error for a normally-distributed weight tensor.</a:t>
            </a:r>
          </a:p>
          <a:p>
            <a:endParaRPr dirty="0"/>
          </a:p>
          <a:p>
            <a:r>
              <a:rPr dirty="0"/>
              <a:t>Q&amp;A anticipated: 'Why not just use a lookup table?': This IS a lookup table (16 entries); the point is how the 16 values were chosen.</a:t>
            </a:r>
          </a:p>
          <a:p>
            <a:endParaRPr dirty="0"/>
          </a:p>
          <a:p>
            <a:r>
              <a:rPr dirty="0"/>
              <a:t>Time budget: 60 sec.</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rPr dirty="0"/>
              <a:t>Opening (60 sec): 'Why is NF4 better than Int4 or FP4 at the same 4 bits? Because the other two are shaped for the wrong distribution.'</a:t>
            </a:r>
          </a:p>
          <a:p>
            <a:endParaRPr dirty="0"/>
          </a:p>
          <a:p>
            <a:r>
              <a:rPr dirty="0"/>
              <a:t>Talking points:</a:t>
            </a:r>
          </a:p>
          <a:p>
            <a:r>
              <a:rPr dirty="0"/>
              <a:t>1. Int4 spreads bins uniformly across [-max, +max]. Half the bins land in tails where there are essentially no weights. Enormous waste.</a:t>
            </a:r>
          </a:p>
          <a:p>
            <a:r>
              <a:rPr dirty="0"/>
              <a:t>2. FP4 spreads by magnitude (scientific-notation style: sign + exponent + tiny mantissa). Better for values with wide dynamic range, but pretrained weights are not wide-range, they are normally distributed near zero.</a:t>
            </a:r>
          </a:p>
          <a:p>
            <a:r>
              <a:rPr dirty="0"/>
              <a:t>3. NF4 spreads by probability mass under a standard normal. Every bin holds the same fraction of the distribution. Bins concentrate near zero, exactly where the actual weights live.</a:t>
            </a:r>
          </a:p>
          <a:p>
            <a:r>
              <a:rPr dirty="0"/>
              <a:t>4. Empirically Dettmers et al. tested NF4 vs FP4 vs Int4 across every model size in the paper. NF4 wins on perplexity in every configuration. E2 in the appendix has the curves.</a:t>
            </a:r>
          </a:p>
          <a:p>
            <a:r>
              <a:rPr dirty="0"/>
              <a:t>5. Implementation detail: the 16 NF4 values are picked once PER BLOCK from that block's absolute maximum, then reused for every weight in the block.</a:t>
            </a:r>
          </a:p>
          <a:p>
            <a:endParaRPr dirty="0"/>
          </a:p>
          <a:p>
            <a:r>
              <a:rPr dirty="0"/>
              <a:t>Q&amp;A anticipated: 'Why not use a learned codebook instead of NF4?' Learned codebooks (like vector quantization) exist but require training + compute for the codebook, and the gain over NF4 for pretrained-model weights is small because the normal-distribution assumption is already very close to reality.</a:t>
            </a:r>
          </a:p>
          <a:p>
            <a:endParaRPr dirty="0"/>
          </a:p>
          <a:p>
            <a:r>
              <a:rPr dirty="0"/>
              <a:t>Time budget: 60 sec.</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rPr dirty="0"/>
              <a:t>OPENING LINE:</a:t>
            </a:r>
          </a:p>
          <a:p>
            <a:r>
              <a:rPr dirty="0"/>
              <a:t>"NF4 is the star of </a:t>
            </a:r>
            <a:r>
              <a:rPr dirty="0" err="1"/>
              <a:t>QLoRA</a:t>
            </a:r>
            <a:r>
              <a:rPr dirty="0"/>
              <a:t>. These next two ideas are the supporting cast that made the whole thing actually work in practice."</a:t>
            </a:r>
          </a:p>
          <a:p>
            <a:endParaRPr dirty="0"/>
          </a:p>
          <a:p>
            <a:r>
              <a:rPr dirty="0"/>
              <a:t>TALKING POINTS:</a:t>
            </a:r>
          </a:p>
          <a:p>
            <a:r>
              <a:rPr dirty="0"/>
              <a:t>- Double Quantization (left): a small but honest saving. The quantization constants themselves, one per block of 64 params, in 32-bit float: add up to 0.5 bits per parameter. That's ~3 GB on a 65B model. Quantize THEM to 8-bit with a larger block size, and you save most of that back.</a:t>
            </a:r>
          </a:p>
          <a:p>
            <a:r>
              <a:rPr dirty="0"/>
              <a:t>- Paged Optimizers (right): more of an engineering fix. The problem: long input sequences create transient memory spikes. Without paging, you'd have to lower batch size for every step to survive the worst step. With paging, you handle spikes gracefully: spill to CPU, pull back.</a:t>
            </a:r>
          </a:p>
          <a:p>
            <a:r>
              <a:rPr dirty="0"/>
              <a:t>- Together, these are what turned "</a:t>
            </a:r>
            <a:r>
              <a:rPr dirty="0" err="1"/>
              <a:t>QLoRA</a:t>
            </a:r>
            <a:r>
              <a:rPr dirty="0"/>
              <a:t> works in benchmarks" into "</a:t>
            </a:r>
            <a:r>
              <a:rPr dirty="0" err="1"/>
              <a:t>QLoRA</a:t>
            </a:r>
            <a:r>
              <a:rPr dirty="0"/>
              <a:t> works reliably on my machine."</a:t>
            </a:r>
          </a:p>
          <a:p>
            <a:endParaRPr dirty="0"/>
          </a:p>
          <a:p>
            <a:r>
              <a:rPr dirty="0"/>
              <a:t>Q&amp;A ANTICIPATED:</a:t>
            </a:r>
          </a:p>
          <a:p>
            <a:r>
              <a:rPr dirty="0"/>
              <a:t>- "Do you actually need paged optimizers?" → depends on your sequence-length distribution. If it's uniform, no. If it has long-tail outliers (legal documents!), yes.</a:t>
            </a:r>
          </a:p>
          <a:p>
            <a:r>
              <a:rPr dirty="0"/>
              <a:t>- "How much of </a:t>
            </a:r>
            <a:r>
              <a:rPr dirty="0" err="1"/>
              <a:t>QLoRA's</a:t>
            </a:r>
            <a:r>
              <a:rPr dirty="0"/>
              <a:t> memory savings come from DQ vs NF4?" → NF4 is ~90% of the story. DQ is worth the complexity anyway because it's free performance.</a:t>
            </a:r>
          </a:p>
          <a:p>
            <a:endParaRPr dirty="0"/>
          </a:p>
          <a:p>
            <a:r>
              <a:rPr dirty="0"/>
              <a:t>TIME BUDGET: 75 sec.</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rPr dirty="0"/>
              <a:t>OPENING LINE:</a:t>
            </a:r>
          </a:p>
          <a:p>
            <a:r>
              <a:rPr dirty="0"/>
              <a:t>"This is the plot that ends the </a:t>
            </a:r>
            <a:r>
              <a:rPr dirty="0" err="1"/>
              <a:t>QLoRA</a:t>
            </a:r>
            <a:r>
              <a:rPr dirty="0"/>
              <a:t> argument."</a:t>
            </a:r>
          </a:p>
          <a:p>
            <a:endParaRPr dirty="0"/>
          </a:p>
          <a:p>
            <a:r>
              <a:rPr dirty="0"/>
              <a:t>TALKING POINTS:</a:t>
            </a:r>
          </a:p>
          <a:p>
            <a:r>
              <a:rPr dirty="0"/>
              <a:t>- MMLU 5-shot accuracy. Four model sizes (7B, 13B, 33B, 65B). Multiple data types tested.</a:t>
            </a:r>
          </a:p>
          <a:p>
            <a:r>
              <a:rPr dirty="0"/>
              <a:t>- The NF4-with-DQ column matches: within noise: the BFloat16 full-FT column at every model size.</a:t>
            </a:r>
          </a:p>
          <a:p>
            <a:r>
              <a:rPr dirty="0"/>
              <a:t>- No accuracy loss. Half the bit-width. 17× the memory reduction. Single-GPU 65B fine-tuning.</a:t>
            </a:r>
          </a:p>
          <a:p>
            <a:r>
              <a:rPr dirty="0"/>
              <a:t>- This is the result that made </a:t>
            </a:r>
            <a:r>
              <a:rPr dirty="0" err="1"/>
              <a:t>QLoRA</a:t>
            </a:r>
            <a:r>
              <a:rPr dirty="0"/>
              <a:t> the default fine-tuning path in </a:t>
            </a:r>
            <a:r>
              <a:rPr dirty="0" err="1"/>
              <a:t>HuggingFace's</a:t>
            </a:r>
            <a:r>
              <a:rPr dirty="0"/>
              <a:t> PEFT library.</a:t>
            </a:r>
          </a:p>
          <a:p>
            <a:endParaRPr dirty="0"/>
          </a:p>
          <a:p>
            <a:r>
              <a:rPr dirty="0"/>
              <a:t>Q&amp;A ANTICIPATED:</a:t>
            </a:r>
          </a:p>
          <a:p>
            <a:r>
              <a:rPr dirty="0"/>
              <a:t>- "Is MMLU representative?" → the authors also tested Alpaca and FLAN-v2 tasks; results replicate.</a:t>
            </a:r>
          </a:p>
          <a:p>
            <a:r>
              <a:rPr dirty="0"/>
              <a:t>- "What about tasks that need MORE precision?" → for pure fine-tuning (adaptation to a task), 4-bit is enough. For CONTINUED PRETRAINING or capability shifts, this is where Biderman's caveats apply, but that's not the </a:t>
            </a:r>
            <a:r>
              <a:rPr dirty="0" err="1"/>
              <a:t>QLoRA</a:t>
            </a:r>
            <a:r>
              <a:rPr dirty="0"/>
              <a:t> setting.</a:t>
            </a:r>
          </a:p>
          <a:p>
            <a:endParaRPr dirty="0"/>
          </a:p>
          <a:p>
            <a:r>
              <a:rPr dirty="0"/>
              <a:t>TIME BUDGET: 60 sec.</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t>Opening (~60 sec): 'QLoRA is a training-time win. At inference it pays for the win: every forward pass has to dequantize the NF4 base weights back to BFloat16 before the matmul. That's compute overhead your serving stack does not want.'</a:t>
            </a:r>
          </a:p>
          <a:p>
            <a:endParaRPr/>
          </a:p>
          <a:p>
            <a:r>
              <a:t>Talking points:</a:t>
            </a:r>
          </a:p>
          <a:p>
            <a:r>
              <a:t>• Training memory: huge win (65B on 48 GB).</a:t>
            </a:r>
          </a:p>
          <a:p>
            <a:r>
              <a:t>• Training compute: neutral (dequant overhead ~ optimizer savings).</a:t>
            </a:r>
          </a:p>
          <a:p>
            <a:r>
              <a:t>• Inference compute: LOSS. The dequant is on the critical path.</a:t>
            </a:r>
          </a:p>
          <a:p>
            <a:r>
              <a:t>• This is the exact bottleneck NVFP4 (next slide) removes: E2M1 float with per-block scaling that Blackwell tensor cores execute natively, no dequant needed.</a:t>
            </a:r>
          </a:p>
          <a:p>
            <a:endParaRPr/>
          </a:p>
          <a:p>
            <a:r>
              <a:t>Time budget: 60 sec.</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rPr dirty="0"/>
              <a:t>OPENING LINE:</a:t>
            </a:r>
          </a:p>
          <a:p>
            <a:r>
              <a:rPr dirty="0"/>
              <a:t>"For a long time </a:t>
            </a:r>
            <a:r>
              <a:rPr dirty="0" err="1"/>
              <a:t>LoRA</a:t>
            </a:r>
            <a:r>
              <a:rPr dirty="0"/>
              <a:t> was pitched as a free lunch. This 2024 paper is the honest correction."</a:t>
            </a:r>
          </a:p>
          <a:p>
            <a:endParaRPr dirty="0"/>
          </a:p>
          <a:p>
            <a:r>
              <a:rPr dirty="0"/>
              <a:t>TALKING POINTS:</a:t>
            </a:r>
          </a:p>
          <a:p>
            <a:r>
              <a:rPr dirty="0"/>
              <a:t>- Biderman et al. did a careful head-to-head: </a:t>
            </a:r>
            <a:r>
              <a:rPr dirty="0" err="1"/>
              <a:t>LoRA</a:t>
            </a:r>
            <a:r>
              <a:rPr dirty="0"/>
              <a:t> vs full FT across code, math, and instruction tuning.</a:t>
            </a:r>
          </a:p>
          <a:p>
            <a:r>
              <a:rPr dirty="0"/>
              <a:t>- Finding 1: </a:t>
            </a:r>
            <a:r>
              <a:rPr dirty="0" err="1"/>
              <a:t>LoRA</a:t>
            </a:r>
            <a:r>
              <a:rPr dirty="0"/>
              <a:t> underperforms full FT on tasks that require learning a lot of NEW knowledge (code, math): the low-rank constraint really does limit capacity.</a:t>
            </a:r>
          </a:p>
          <a:p>
            <a:r>
              <a:rPr dirty="0"/>
              <a:t>- Finding 2: But </a:t>
            </a:r>
            <a:r>
              <a:rPr dirty="0" err="1"/>
              <a:t>LoRA</a:t>
            </a:r>
            <a:r>
              <a:rPr dirty="0"/>
              <a:t> also forgets the base task less: the constraint acts as regularization.</a:t>
            </a:r>
          </a:p>
          <a:p>
            <a:r>
              <a:rPr dirty="0"/>
              <a:t>- So the right frame isn't "</a:t>
            </a:r>
            <a:r>
              <a:rPr dirty="0" err="1"/>
              <a:t>LoRA</a:t>
            </a:r>
            <a:r>
              <a:rPr dirty="0"/>
              <a:t> vs full FT": it's "which of these two failure modes do you care about?"</a:t>
            </a:r>
          </a:p>
          <a:p>
            <a:r>
              <a:rPr dirty="0"/>
              <a:t>- For a domain like contract review, where the base already speaks English and you're aligning it to specific patterns, </a:t>
            </a:r>
            <a:r>
              <a:rPr dirty="0" err="1"/>
              <a:t>LoRA</a:t>
            </a:r>
            <a:r>
              <a:rPr dirty="0"/>
              <a:t> usually wins.</a:t>
            </a:r>
          </a:p>
          <a:p>
            <a:endParaRPr dirty="0"/>
          </a:p>
          <a:p>
            <a:r>
              <a:rPr dirty="0"/>
              <a:t>Q&amp;A ANTICIPATED:</a:t>
            </a:r>
          </a:p>
          <a:p>
            <a:r>
              <a:rPr dirty="0"/>
              <a:t>- "What about </a:t>
            </a:r>
            <a:r>
              <a:rPr dirty="0" err="1"/>
              <a:t>DoRA</a:t>
            </a:r>
            <a:r>
              <a:rPr dirty="0"/>
              <a:t>?" → next slide: </a:t>
            </a:r>
            <a:r>
              <a:rPr dirty="0" err="1"/>
              <a:t>DoRA</a:t>
            </a:r>
            <a:r>
              <a:rPr dirty="0"/>
              <a:t> closes most of the </a:t>
            </a:r>
            <a:r>
              <a:rPr dirty="0" err="1"/>
              <a:t>LoRA↔full-FT</a:t>
            </a:r>
            <a:r>
              <a:rPr dirty="0"/>
              <a:t> gap for the "learns less" side.</a:t>
            </a:r>
          </a:p>
          <a:p>
            <a:r>
              <a:rPr dirty="0"/>
              <a:t>- "Rank r=256+? Does that fix 'learns less'?" → helps but doesn't fully close it; also expensive to serve.</a:t>
            </a:r>
          </a:p>
          <a:p>
            <a:endParaRPr dirty="0"/>
          </a:p>
          <a:p>
            <a:r>
              <a:rPr dirty="0"/>
              <a:t>TIME BUDGET: 90 sec.</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Reference table backing the branches slide. Pull in only if audience wants method-level detail. Each row corresponds to a specific arXiv paper (linked bottom-left).</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OPENING LINE:</a:t>
            </a:r>
          </a:p>
          <a:p>
            <a:r>
              <a:t>"Enough theory. What does this actually look like in code, and where would you actually use it?"</a:t>
            </a:r>
          </a:p>
          <a:p>
            <a:endParaRPr/>
          </a:p>
          <a:p>
            <a:r>
              <a:t>TALKING POINTS:</a:t>
            </a:r>
          </a:p>
          <a:p>
            <a:r>
              <a:t>- Two slides: the modern stack (10 lines of Python), then the deployment story that makes per-tenant adapters practical.</a:t>
            </a:r>
          </a:p>
          <a:p>
            <a:endParaRPr/>
          </a:p>
          <a:p>
            <a:r>
              <a:t>Q&amp;A ANTICIPATED: None on dividers.</a:t>
            </a:r>
          </a:p>
          <a:p>
            <a:endParaRPr/>
          </a:p>
          <a:p>
            <a:r>
              <a:t>TIME BUDGET: 10 sec.</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t>OPENING LINE:</a:t>
            </a:r>
          </a:p>
          <a:p>
            <a:r>
              <a:t>"To close, three concrete places this stack meets a real domain."</a:t>
            </a:r>
          </a:p>
          <a:p>
            <a:endParaRPr/>
          </a:p>
          <a:p>
            <a:r>
              <a:t>TALKING POINTS:</a:t>
            </a:r>
          </a:p>
          <a:p>
            <a:r>
              <a:t>- Per-tenant adapters, one base, N small BA files, one per customer. Trained on THEIR contracts, THEIR clause libraries, THEIR historical redlines. Base ships once; adapters ship continuously.</a:t>
            </a:r>
          </a:p>
          <a:p>
            <a:r>
              <a:t>- Multi-tenant serving via S-LoRA (Sheng et al. 2023) or vLLM: thousands of adapters can share one base on a single GPU, swapped per request. This is what makes per-customer adaptation ECONOMICALLY viable: otherwise you'd need N GPUs for N customers.</a:t>
            </a:r>
          </a:p>
          <a:p>
            <a:r>
              <a:t>- Post-training on top: LoRA-adapt the base for domain, then DPO on top for reviewer preferences. Which suggested redlines the reviewer accepted becomes the preference signal.</a:t>
            </a:r>
          </a:p>
          <a:p>
            <a:r>
              <a:t>- End with the topic-list bridges: quantization neighbors, post-training, attention variants: all things I can dive into.</a:t>
            </a:r>
          </a:p>
          <a:p>
            <a:r>
              <a:t>- OPTIONAL if time: mention I have a small companion demo ready if there's interest.</a:t>
            </a:r>
          </a:p>
          <a:p>
            <a:endParaRPr/>
          </a:p>
          <a:p>
            <a:r>
              <a:t>Q&amp;A ANTICIPATED:</a:t>
            </a:r>
          </a:p>
          <a:p>
            <a:r>
              <a:t>- "How does data isolation work between tenants?" → adapters trained separately; base has no per-tenant data.</a:t>
            </a:r>
          </a:p>
          <a:p>
            <a:r>
              <a:t>- "What about privacy / on-prem?" → 4-bit base + LoRA adapters fits on a single H100; can run entirely on-prem for regulated industries.</a:t>
            </a:r>
          </a:p>
          <a:p>
            <a:r>
              <a:t>- "Which adapter method for legal specifically?" → LoRA + rsLoRA + DoRA for capability; VeRA if adapter storage becomes the bottleneck.</a:t>
            </a:r>
          </a:p>
          <a:p>
            <a:endParaRPr/>
          </a:p>
          <a:p>
            <a:r>
              <a:t>TIME BUDGET: 90 sec.  Leave the last 15 sec open for the transition to Q&amp;A.</a:t>
            </a:r>
          </a:p>
          <a:p>
            <a:endParaRPr/>
          </a:p>
          <a:p>
            <a:r>
              <a:t>Presenter cue: end on the conviction sentence above. If audience asks, you can go deeper on quantization neighbors (PolarQuant, TurboQuant, NVFP4), post-training stacks (SFT / DPO / RFT), or attention variants (MLA, GQA, FA3). See appendix Q&amp;A and N-slides.</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t>OPENING LINE:</a:t>
            </a:r>
          </a:p>
          <a:p>
            <a:r>
              <a:t>"Here's the actual setup behind the results I'm about to show."</a:t>
            </a:r>
          </a:p>
          <a:p/>
          <a:p>
            <a:r>
              <a:t>TALKING POINTS:</a:t>
            </a:r>
          </a:p>
          <a:p>
            <a:r>
              <a:t>- BitsAndBytesConfig is the QLoRA recipe from §4: NF4 + double quantization, bf16 compute.</a:t>
            </a:r>
          </a:p>
          <a:p>
            <a:r>
              <a:t>- llm_int8_skip_modules: lm_head stays bf16 because it scores the label words; Mamba out_proj stays bf16 because the fused Mamba-2 kernel reads it directly.</a:t>
            </a:r>
          </a:p>
          <a:p>
            <a:r>
              <a:t>- LoRA rank 64, alpha 128, on attention + MLP projections and the Mamba in_proj.</a:t>
            </a:r>
          </a:p>
          <a:p>
            <a:r>
              <a:t>- Plain LoRA is the same code without quantization_config.</a:t>
            </a:r>
          </a:p>
          <a:p>
            <a:r>
              <a:t>- On Blackwell, NVFP4 (torchao) is the hardware-native 4-bit alternative.</a:t>
            </a:r>
          </a:p>
          <a:p>
            <a:r>
              <a:t>- The real training script (train_run.py) swaps in bnb LinearNF4 by hand; this is the equivalent.</a:t>
            </a:r>
          </a:p>
          <a:p/>
          <a:p>
            <a:r>
              <a:t>TIME BUDGET: 60 sec.</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Beat (5 sec): 'That is the main talk. The rest of the deck is appendix: anticipated Q&amp;A slides, depth material on NF4 and QLoRA numbers, and a full memory-accounting appendix from LLM-training first principles that ends with the 16 GB QLoRA-on-Llama2-7B breakdown.'</a:t>
            </a: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Answer to hit:</a:t>
            </a:r>
          </a:p>
          <a:p>
            <a:r>
              <a:t>1. Start at r=8 with all-linear target modules and rsLoRA scaling.</a:t>
            </a:r>
          </a:p>
          <a:p>
            <a:r>
              <a:t>2. Sweep upward: r in {8, 16, 32, 64}. Plateau appears fast on most tasks.</a:t>
            </a:r>
          </a:p>
          <a:p>
            <a:r>
              <a:t>3. Hu et al. §7.1: the top-r subspace learned at r=8 is approximately the same as the top-r subspace at r=64. Bigger r does not discover a bigger update, it just gives more capacity to overfit.</a:t>
            </a:r>
          </a:p>
          <a:p>
            <a:r>
              <a:t>4. For capability-shift tasks (Biderman): reach for DoRA or full FT before adding rank.</a:t>
            </a:r>
          </a:p>
          <a:p>
            <a:endParaRPr/>
          </a:p>
          <a:p>
            <a:r>
              <a:t>Source diagram: TD94 discussion in the LoRA OpenReview thread.</a:t>
            </a: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Answer to hit:</a:t>
            </a:r>
          </a:p>
          <a:p>
            <a:r>
              <a:t>1. Almost all of the savings comes from optimizer state, not parameter count.</a:t>
            </a:r>
          </a:p>
          <a:p>
            <a:r>
              <a:t>2. Adam stores momentum (m) and variance (v) for every trainable param: 2x the parameter count in extra memory.</a:t>
            </a:r>
          </a:p>
          <a:p>
            <a:r>
              <a:t>3. Full FT of a 65B model with Adam: 65B params + 65B gradients + 130B optimizer state = 260B floats of state.</a:t>
            </a:r>
          </a:p>
          <a:p>
            <a:r>
              <a:t>4. LoRA freezes the base -&gt; no gradients, no optimizer state for W_0. Only B, A get all that.</a:t>
            </a:r>
          </a:p>
          <a:p>
            <a:r>
              <a:t>5. Corollary: for SGD-with-momentum (1x extra state), savings are smaller. For Adafactor, similar to LoRA already.</a:t>
            </a:r>
          </a:p>
          <a:p>
            <a:r>
              <a:t>6. Corollary: activations still grow with sequence length. LoRA does not help there. That is gradient checkpointing's job.</a:t>
            </a:r>
          </a:p>
          <a:p>
            <a:endParaRPr/>
          </a:p>
          <a:p>
            <a:r>
              <a:t>Source: Vqdv discussion in the LoRA OpenReview thread.</a:t>
            </a: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Answer to hit:</a:t>
            </a:r>
          </a:p>
          <a:p>
            <a:r>
              <a:t>1. Yes: the recipe (quantiles of a normal distribution) defines NF_k for any k.</a:t>
            </a:r>
          </a:p>
          <a:p>
            <a:r>
              <a:t>2. Dettmers et al. reported NF3 &gt; FP3 but noted training instability at 3 bits.</a:t>
            </a:r>
          </a:p>
          <a:p>
            <a:r>
              <a:t>3. NF2 does not work: too few bins to represent even a rough normal.</a:t>
            </a:r>
          </a:p>
          <a:p>
            <a:r>
              <a:t>4. 5-bit and 6-bit variants appeared in 2024 (SmoothQuant-style hybrids), but 4-bit remains the sweet spot for LLM fine-tuning.</a:t>
            </a:r>
          </a:p>
          <a:p>
            <a:endParaRPr/>
          </a:p>
          <a:p>
            <a:r>
              <a:t>Source: uL2c discussion in the QLoRA OpenReview thread.</a:t>
            </a: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Depth extra. Pull in if asked to compare LoRA to prompt-based methods. TIME BUDGET: 45 sec.</a:t>
            </a: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Modern neighbor. HIGH probability of being asked given the interviewer's topic list explicitly names PolarQuant and TurboQuant. TIME BUDGET: 90 sec.</a:t>
            </a:r>
          </a:p>
          <a:p>
            <a:endParaRPr/>
          </a:p>
          <a:p>
            <a:r>
              <a:t>NVFP4 note (added 2026-08-31): NVIDIA's Blackwell-era 4-bit float format (E2M1 with per-block FP8 scale factors). It's the hardware-accelerated analog of NF4, where NF4 was chosen because pretrained weights are normally distributed, NVFP4 is chosen because it runs at line rate on Blackwell tensor cores. Positioned for INFERENCE, not training; the QLoRA of the next generation would likely pair LoRA adapters with an NVFP4-quantized base for serving. Ref: developer.nvidia.com/blog/introducing-nvfp4-for-efficient-and-accurate-low-precision-inference/</a:t>
            </a: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Modern neighbor. HIGH probability of being asked given topic 5 (post-training) is on the interviewer's list. TIME BUDGET: 90 sec.</a:t>
            </a: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Modern neighbor. Bridges to topic 6 on the interviewer's list. TIME BUDGET: 75 sec.</a:t>
            </a: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Modern neighbor. Pull in if long-document use case comes up. TIME BUDGET: 60 sec.</a:t>
            </a: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Modern neighbor. Pull in if asked 'what else is out there besides LoRA?' TIME BUDGET: 60 sec.</a:t>
            </a: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On-screen framing (say this while the slide comes up): Sign, exponent, mantissa. This is what a floating-point number IS.</a:t>
            </a:r>
          </a:p>
          <a:p>
            <a:endParaRPr/>
          </a:p>
          <a:p>
            <a:r>
              <a:t>Source: Diagram: Glenn Matlin, FinAI Conference public deck.</a:t>
            </a:r>
          </a:p>
          <a:p>
            <a:endParaRPr/>
          </a:p>
          <a:p>
            <a:r>
              <a:t>Opening (60 sec): 'Every quantization discussion assumes you know what fp16, fp32, bf16 actually mean. Here is the anatomy. Sign bit, exponent, mantissa. The exponent gives dynamic range, the mantissa gives precision, the sign gives you negatives.'</a:t>
            </a:r>
          </a:p>
          <a:p>
            <a:endParaRPr/>
          </a:p>
          <a:p>
            <a:r>
              <a:t>Talking points:</a:t>
            </a:r>
          </a:p>
          <a:p>
            <a:r>
              <a:t>1. Format width = 1 (sign) + w_exp + w_mant. fp32 = 1+8+23, fp16 = 1+5+10, bf16 = 1+8+7.</a:t>
            </a:r>
          </a:p>
          <a:p>
            <a:r>
              <a:t>2. Exponent bias shifts the raw exponent to allow negative exponents (very small numbers).</a:t>
            </a:r>
          </a:p>
          <a:p>
            <a:r>
              <a:t>3. Special cases: subnormals near zero (exp=0), infinity (exp=all-1s, mant=0), NaN (exp=all-1s, mant nonzero).</a:t>
            </a:r>
          </a:p>
          <a:p>
            <a:r>
              <a:t>4. NF4 does not follow this layout at all, it is 16 lookup values chosen by quantile.</a:t>
            </a:r>
          </a:p>
          <a:p>
            <a:endParaRPr/>
          </a:p>
          <a:p>
            <a:r>
              <a:t>Time budget: 60 sec.</a:t>
            </a: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On-screen framing (say this while the slide comes up): fp16 keeps range but loses precision. bf16 keeps range and loses more precision. int8 loses both.</a:t>
            </a:r>
          </a:p>
          <a:p>
            <a:endParaRPr/>
          </a:p>
          <a:p>
            <a:r>
              <a:t>Source: Chart: Glenn Matlin, FinAI Conference public deck. See blog.eleuther.ai/transformer-math/.</a:t>
            </a:r>
          </a:p>
          <a:p>
            <a:endParaRPr/>
          </a:p>
          <a:p>
            <a:r>
              <a:t>Opening (60 sec): 'This chart compares the four numeric formats you actually see in a modern training stack. fp32 for master weights, bf16 or fp16 for compute, int8 for quantized inference, NF4 as the QLoRA base.'</a:t>
            </a:r>
          </a:p>
          <a:p>
            <a:endParaRPr/>
          </a:p>
          <a:p>
            <a:r>
              <a:t>Talking points:</a:t>
            </a:r>
          </a:p>
          <a:p>
            <a:r>
              <a:t>1. fp32 range is ~1.7e-38 to 3.4e+38. That is the reference.</a:t>
            </a:r>
          </a:p>
          <a:p>
            <a:r>
              <a:t>2. fp16 range collapses to ~5e-8 to ~65504. Numbers underflow / overflow easily.</a:t>
            </a:r>
          </a:p>
          <a:p>
            <a:r>
              <a:t>3. bf16 keeps fp32's exponent (~1.2e-38 to 3.4e+38) but drops precision to 7 bits.</a:t>
            </a:r>
          </a:p>
          <a:p>
            <a:r>
              <a:t>4. int8 is a completely different beast: -128 to 127, no exponent.</a:t>
            </a:r>
          </a:p>
          <a:p>
            <a:r>
              <a:t>5. Modern PEFT stacks USE mixed precision: fp32 master + bf16 compute + int8 or NF4 storage.</a:t>
            </a:r>
          </a:p>
          <a:p>
            <a:endParaRPr/>
          </a:p>
          <a:p>
            <a:r>
              <a:t>Time budget: 60 sec.</a:t>
            </a: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On-screen framing (say this while the slide comes up): For every weight, AdamW tracks first-moment m_t and second-moment v_t. 2x the parameters, always.</a:t>
            </a:r>
          </a:p>
          <a:p>
            <a:endParaRPr/>
          </a:p>
          <a:p>
            <a:r>
              <a:t>Source: Loshchilov &amp; Hutter 2017, “Decoupled Weight Decay Regularization” (arXiv:1711.05101).</a:t>
            </a:r>
          </a:p>
          <a:p>
            <a:endParaRPr/>
          </a:p>
          <a:p>
            <a:r>
              <a:t>Opening (75 sec): 'Here is why the optimizer state is 2x the weights. AdamW is the default optimizer for LLM training. For every parameter, it maintains an exponential moving average of the gradient (momentum m_t) AND an exponential moving average of the squared gradient (variance v_t). Two extra buffers per weight, every step.'</a:t>
            </a:r>
          </a:p>
          <a:p>
            <a:endParaRPr/>
          </a:p>
          <a:p>
            <a:r>
              <a:t>Talking points:</a:t>
            </a:r>
          </a:p>
          <a:p>
            <a:r>
              <a:t>1. m_t = β1 * m_{t-1} + (1 - β1) * grad: the momentum, one buffer per param.</a:t>
            </a:r>
          </a:p>
          <a:p>
            <a:r>
              <a:t>2. v_t = β2 * v_{t-1} + (1 - β2) * grad^2: the variance, one buffer per param.</a:t>
            </a:r>
          </a:p>
          <a:p>
            <a:r>
              <a:t>3. Bias correction (m_hat, v_hat) is free (just divide by 1 - β^t).</a:t>
            </a:r>
          </a:p>
          <a:p>
            <a:r>
              <a:t>4. Weight update uses BOTH: w_{t+1} = w_t - η * m_hat / sqrt(v_hat + ε).</a:t>
            </a:r>
          </a:p>
          <a:p>
            <a:r>
              <a:t>5. So 7B weights literally means 14B optimizer entries. This is why the memory grid in slide 4 has so much green.</a:t>
            </a:r>
          </a:p>
          <a:p>
            <a:r>
              <a:t>6. LoRA sidesteps this: only B and A have gradients, so only B and A have m_t and v_t. The frozen base contributes ZERO to optimizer memory.</a:t>
            </a:r>
          </a:p>
          <a:p>
            <a:endParaRPr/>
          </a:p>
          <a:p>
            <a:r>
              <a:t>Q&amp;A anticipated: 'Can you use 8-bit optimizer states?' Yes: bitsandbytes 8-bit Adam. Cuts optimizer memory 4x. Often combined with QLoRA.</a:t>
            </a:r>
          </a:p>
          <a:p>
            <a:endParaRPr/>
          </a:p>
          <a:p>
            <a:r>
              <a:t>Time budget: 75 sec.</a:t>
            </a: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On-screen framing (say this while the slide comes up): Full accounting for QLoRA. NF4 base 3.5 GB + INT8 grads 1 GB + fp16 optimizer 4 GB + LoRA 1 GB + activations 4 GB. Fits.</a:t>
            </a:r>
          </a:p>
          <a:p>
            <a:endParaRPr/>
          </a:p>
          <a:p>
            <a:r>
              <a:t>Source: Diagram: Glenn Matlin, FinAI Conference public deck.</a:t>
            </a:r>
          </a:p>
          <a:p>
            <a:endParaRPr/>
          </a:p>
          <a:p>
            <a:r>
              <a:t>Opening (75 sec): 'This is the payoff. Llama2 7B with QLoRA: base weights quantized to NF4 = 3.5 GB. Gradients on the LoRA adapters at INT8 = 1 GB. Optimizer state on the adapters at fp16 = 4 GB. LoRA parameters themselves = 1 GB. Activations for the forward pass = 4 GB. Total: ~13.5 GB, fits comfortably in 16 GB VRAM.'</a:t>
            </a:r>
          </a:p>
          <a:p>
            <a:endParaRPr/>
          </a:p>
          <a:p>
            <a:r>
              <a:t>Talking points:</a:t>
            </a:r>
          </a:p>
          <a:p>
            <a:r>
              <a:t>1. Compare to slide 4: the same 7B model in full FT wanted 112+ GB. QLoRA gets it to 14.</a:t>
            </a:r>
          </a:p>
          <a:p>
            <a:r>
              <a:t>2. The activations are still the biggest single cost after NF4 quantization. That is why gradient checkpointing is a common companion technique.</a:t>
            </a:r>
          </a:p>
          <a:p>
            <a:r>
              <a:t>3. Once the model fits, the training loop is the same as full FT. The user does not have to think about the quantization at the training-loop level; bitsandbytes + PEFT handle it.</a:t>
            </a:r>
          </a:p>
          <a:p>
            <a:r>
              <a:t>4. This is why the whole open-weight fine-tuning stack in 2026 defaults to QLoRA, it moves 7B-class training from 'need a data center' to 'need a 4090 or an A6000'.</a:t>
            </a:r>
          </a:p>
          <a:p>
            <a:endParaRPr/>
          </a:p>
          <a:p>
            <a:r>
              <a:t>Time budget: 75 sec.</a:t>
            </a:r>
          </a:p>
        </p:txBody>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OPENING LINE:</a:t>
            </a:r>
          </a:p>
          <a:p>
            <a:r>
              <a:t>"Let's make this concrete with one task, three models, and one laptop."</a:t>
            </a:r>
          </a:p>
          <a:p/>
          <a:p>
            <a:r>
              <a:t>TALKING POINTS:</a:t>
            </a:r>
          </a:p>
          <a:p>
            <a:r>
              <a:t>- The FOMC sets interest rates. Hawkish = leaning toward raising rates, dovish = leaning toward cutting. No finance background needed.</a:t>
            </a:r>
          </a:p>
          <a:p>
            <a:r>
              <a:t>- Shah et al. (ACL 2023) labeled ~2,400 FOMC sentences and fine-tuned RoBERTa. We reuse their data, splits, seeds, and weighted F1 so our numbers line up with their Table 5.</a:t>
            </a:r>
          </a:p>
          <a:p>
            <a:r>
              <a:t>- RoBERTa gets a classification head. Nemotron reads a prompt and we compare its logits for the words dovish / hawkish / neutral.</a:t>
            </a:r>
          </a:p>
          <a:p>
            <a:r>
              <a:t>- 2 RoBERTa sizes x 4 methods x 3 seeds = 24 runs, plus Nemotron x 3 methods x 3 seeds = 9. Total 33.</a:t>
            </a:r>
          </a:p>
          <a:p>
            <a:r>
              <a:t>- Everything on one 24 GB laptop GPU.</a:t>
            </a:r>
          </a:p>
          <a:p/>
          <a:p>
            <a:r>
              <a:t>TIME BUDGET: 60 sec.</a:t>
            </a:r>
          </a:p>
        </p:txBody>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OPENING LINE:</a:t>
            </a:r>
          </a:p>
          <a:p>
            <a:r>
              <a:t>"So did fine-tuning actually help? Three things jump out."</a:t>
            </a:r>
          </a:p>
          <a:p/>
          <a:p>
            <a:r>
              <a:t>TALKING POINTS:</a:t>
            </a:r>
          </a:p>
          <a:p>
            <a:r>
              <a:t>- Without fine-tuning RoBERTa is near useless (~0.18): an encoder isn't a classifier until you train its head.</a:t>
            </a:r>
          </a:p>
          <a:p>
            <a:r>
              <a:t>- Nemotron is different: 0.622 from a prompt alone. LLMs get part of the way on their own.</a:t>
            </a:r>
          </a:p>
          <a:p>
            <a:r>
              <a:t>- QLoRA lifts Nemotron to 0.716, the same as our fully fine-tuned RoBERTa-large, training only a small adapter on a 4-bit base.</a:t>
            </a:r>
          </a:p>
          <a:p>
            <a:r>
              <a:t>- Plain LoRA on Nemotron scores 0.727, our best run.</a:t>
            </a:r>
          </a:p>
          <a:p>
            <a:r>
              <a:t>- If asked about the paper: our RoBERTa numbers land within about 0.03 of the paper's published full fine-tunes (0.698 / 0.711), so the setup is sound.</a:t>
            </a:r>
          </a:p>
          <a:p>
            <a:r>
              <a:t>- Std across seeds is 0.01 to 0.03, so differences under ~0.01 are noise.</a:t>
            </a:r>
          </a:p>
          <a:p/>
          <a:p>
            <a:r>
              <a:t>TIME BUDGET: 90 sec.</a:t>
            </a:r>
          </a:p>
        </p:txBody>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OPENING LINE:</a:t>
            </a:r>
          </a:p>
          <a:p>
            <a:r>
              <a:t>"Here's the QLoRA tradeoff in one picture."</a:t>
            </a:r>
          </a:p>
          <a:p/>
          <a:p>
            <a:r>
              <a:t>TALKING POINTS:</a:t>
            </a:r>
          </a:p>
          <a:p>
            <a:r>
              <a:t>- Full fine-tuning Nemotron 4B needs ~38 GB (slide 3): it doesn't fit on this 24 GB GPU.</a:t>
            </a:r>
          </a:p>
          <a:p>
            <a:r>
              <a:t>- LoRA freezes the base: no gradients or Adam state for it. Peak 9.0 GB, F1 0.727.</a:t>
            </a:r>
          </a:p>
          <a:p>
            <a:r>
              <a:t>- QLoRA also stores the frozen base in 4-bit NF4. Peak 5.4 GB, F1 0.716.</a:t>
            </a:r>
          </a:p>
          <a:p>
            <a:r>
              <a:t>- So QLoRA costs about 0.01 F1 for 40% less training memory. Within seed noise, but consistent.</a:t>
            </a:r>
          </a:p>
          <a:p>
            <a:r>
              <a:t>- On this model LoRA already fits; QLoRA matters when the base is bigger or sequences are longer.</a:t>
            </a:r>
          </a:p>
          <a:p/>
          <a:p>
            <a:r>
              <a:t>TIME BUDGET: 60 sec.</a:t>
            </a:r>
          </a:p>
        </p:txBody>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OPENING LINE:</a:t>
            </a:r>
          </a:p>
          <a:p>
            <a:r>
              <a:t>"33 runs by hand turns into a pile of scripts and half-remembered settings. So I ran them as one pipeline."</a:t>
            </a:r>
          </a:p>
          <a:p/>
          <a:p>
            <a:r>
              <a:t>TALKING POINTS:</a:t>
            </a:r>
          </a:p>
          <a:p>
            <a:r>
              <a:t>- One Flyte workflow: prepare data -&gt; train each (model, method, seed) -&gt; compare -&gt; report.</a:t>
            </a:r>
          </a:p>
          <a:p>
            <a:r>
              <a:t>- Same code ran on a MacBook (flyte run --local), on this laptop GPU, and on a Flyte cluster.</a:t>
            </a:r>
          </a:p>
          <a:p>
            <a:r>
              <a:t>- Data prep is cached, so reruns skip it. GPU tasks checkpoint, and a failed task retries from its last epoch.</a:t>
            </a:r>
          </a:p>
          <a:p>
            <a:r>
              <a:t>- Every stage has its own report in the UI. The screenshot is the compare stage; the results table two slides back came from it.</a:t>
            </a:r>
          </a:p>
          <a:p/>
          <a:p>
            <a:r>
              <a:t>TIME BUDGET: 75 sec.</a:t>
            </a:r>
          </a:p>
        </p:txBody>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OPENING LINE:</a:t>
            </a:r>
          </a:p>
          <a:p>
            <a:r>
              <a:t>"A fine-tuned model still has to answer requests."</a:t>
            </a:r>
          </a:p>
          <a:p/>
          <a:p>
            <a:r>
              <a:t>TALKING POINTS:</a:t>
            </a:r>
          </a:p>
          <a:p>
            <a:r>
              <a:t>- Nemotron 3 Nano 4B was built for on-device use, and NVIDIA also ships an FP8 version.</a:t>
            </a:r>
          </a:p>
          <a:p>
            <a:r>
              <a:t>- The LoRA adapter trained on the bf16 base loads onto the FP8 base unchanged: 0.725 F1 vs 0.727 in training.</a:t>
            </a:r>
          </a:p>
          <a:p>
            <a:r>
              <a:t>- Weights take 5.2 GB of GPU memory; ~100 sentences/s, ~25 ms p50 latency on the laptop GPU.</a:t>
            </a:r>
          </a:p>
          <a:p>
            <a:r>
              <a:t>- vLLM batches requests and manages KV-cache memory, so one GPU handles far more traffic than a Python loop.</a:t>
            </a:r>
          </a:p>
          <a:p>
            <a:r>
              <a:t>- OpenAI-compatible API, and multi-LoRA: one base deployment, adapter chosen per request (ties back to the previous section).</a:t>
            </a:r>
          </a:p>
          <a:p/>
          <a:p>
            <a:r>
              <a:t>CLOSE:</a:t>
            </a:r>
          </a:p>
          <a:p>
            <a:r>
              <a:t>"Fine-tuning a useful model no longer requires a cluster."</a:t>
            </a:r>
          </a:p>
          <a:p/>
          <a:p>
            <a:r>
              <a:t>TIME BUDGET: 75 sec.</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54"/>
        <p:cNvGrpSpPr/>
        <p:nvPr/>
      </p:nvGrpSpPr>
      <p:grpSpPr>
        <a:xfrm>
          <a:off x="0" y="0"/>
          <a:ext cx="0" cy="0"/>
          <a:chOff x="0" y="0"/>
          <a:chExt cx="0" cy="0"/>
        </a:xfrm>
      </p:grpSpPr>
      <p:sp>
        <p:nvSpPr>
          <p:cNvPr id="55" name="Google Shape;55;p14"/>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56" name="Google Shape;56;p14"/>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57" name="Google Shape;57;p1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58"/>
        <p:cNvGrpSpPr/>
        <p:nvPr/>
      </p:nvGrpSpPr>
      <p:grpSpPr>
        <a:xfrm>
          <a:off x="0" y="0"/>
          <a:ext cx="0" cy="0"/>
          <a:chOff x="0" y="0"/>
          <a:chExt cx="0" cy="0"/>
        </a:xfrm>
      </p:grpSpPr>
      <p:sp>
        <p:nvSpPr>
          <p:cNvPr id="59" name="Google Shape;59;p15"/>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60" name="Google Shape;60;p15"/>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61" name="Google Shape;61;p1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62"/>
        <p:cNvGrpSpPr/>
        <p:nvPr/>
      </p:nvGrpSpPr>
      <p:grpSpPr>
        <a:xfrm>
          <a:off x="0" y="0"/>
          <a:ext cx="0" cy="0"/>
          <a:chOff x="0" y="0"/>
          <a:chExt cx="0" cy="0"/>
        </a:xfrm>
      </p:grpSpPr>
      <p:sp>
        <p:nvSpPr>
          <p:cNvPr id="63" name="Google Shape;63;p16"/>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64" name="Google Shape;64;p1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65"/>
        <p:cNvGrpSpPr/>
        <p:nvPr/>
      </p:nvGrpSpPr>
      <p:grpSpPr>
        <a:xfrm>
          <a:off x="0" y="0"/>
          <a:ext cx="0" cy="0"/>
          <a:chOff x="0" y="0"/>
          <a:chExt cx="0" cy="0"/>
        </a:xfrm>
      </p:grpSpPr>
      <p:sp>
        <p:nvSpPr>
          <p:cNvPr id="66" name="Google Shape;66;p17"/>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67" name="Google Shape;67;p17"/>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68" name="Google Shape;68;p17"/>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69" name="Google Shape;69;p1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70"/>
        <p:cNvGrpSpPr/>
        <p:nvPr/>
      </p:nvGrpSpPr>
      <p:grpSpPr>
        <a:xfrm>
          <a:off x="0" y="0"/>
          <a:ext cx="0" cy="0"/>
          <a:chOff x="0" y="0"/>
          <a:chExt cx="0" cy="0"/>
        </a:xfrm>
      </p:grpSpPr>
      <p:sp>
        <p:nvSpPr>
          <p:cNvPr id="71" name="Google Shape;71;p18"/>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72" name="Google Shape;72;p1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73"/>
        <p:cNvGrpSpPr/>
        <p:nvPr/>
      </p:nvGrpSpPr>
      <p:grpSpPr>
        <a:xfrm>
          <a:off x="0" y="0"/>
          <a:ext cx="0" cy="0"/>
          <a:chOff x="0" y="0"/>
          <a:chExt cx="0" cy="0"/>
        </a:xfrm>
      </p:grpSpPr>
      <p:sp>
        <p:nvSpPr>
          <p:cNvPr id="74" name="Google Shape;74;p19"/>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75" name="Google Shape;75;p19"/>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76" name="Google Shape;76;p1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77"/>
        <p:cNvGrpSpPr/>
        <p:nvPr/>
      </p:nvGrpSpPr>
      <p:grpSpPr>
        <a:xfrm>
          <a:off x="0" y="0"/>
          <a:ext cx="0" cy="0"/>
          <a:chOff x="0" y="0"/>
          <a:chExt cx="0" cy="0"/>
        </a:xfrm>
      </p:grpSpPr>
      <p:sp>
        <p:nvSpPr>
          <p:cNvPr id="78" name="Google Shape;78;p20"/>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79" name="Google Shape;79;p2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80"/>
        <p:cNvGrpSpPr/>
        <p:nvPr/>
      </p:nvGrpSpPr>
      <p:grpSpPr>
        <a:xfrm>
          <a:off x="0" y="0"/>
          <a:ext cx="0" cy="0"/>
          <a:chOff x="0" y="0"/>
          <a:chExt cx="0" cy="0"/>
        </a:xfrm>
      </p:grpSpPr>
      <p:sp>
        <p:nvSpPr>
          <p:cNvPr id="81" name="Google Shape;81;p21"/>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2" name="Google Shape;82;p21"/>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83" name="Google Shape;83;p21"/>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84" name="Google Shape;84;p21"/>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85" name="Google Shape;85;p2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86"/>
        <p:cNvGrpSpPr/>
        <p:nvPr/>
      </p:nvGrpSpPr>
      <p:grpSpPr>
        <a:xfrm>
          <a:off x="0" y="0"/>
          <a:ext cx="0" cy="0"/>
          <a:chOff x="0" y="0"/>
          <a:chExt cx="0" cy="0"/>
        </a:xfrm>
      </p:grpSpPr>
      <p:sp>
        <p:nvSpPr>
          <p:cNvPr id="87" name="Google Shape;87;p22"/>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a:endParaRPr/>
          </a:p>
        </p:txBody>
      </p:sp>
      <p:sp>
        <p:nvSpPr>
          <p:cNvPr id="88" name="Google Shape;88;p2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89"/>
        <p:cNvGrpSpPr/>
        <p:nvPr/>
      </p:nvGrpSpPr>
      <p:grpSpPr>
        <a:xfrm>
          <a:off x="0" y="0"/>
          <a:ext cx="0" cy="0"/>
          <a:chOff x="0" y="0"/>
          <a:chExt cx="0" cy="0"/>
        </a:xfrm>
      </p:grpSpPr>
      <p:sp>
        <p:nvSpPr>
          <p:cNvPr id="90" name="Google Shape;90;p23"/>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91" name="Google Shape;91;p23"/>
          <p:cNvSpPr txBox="1">
            <a:spLocks noGrp="1"/>
          </p:cNvSpPr>
          <p:nvPr>
            <p:ph type="body" idx="1"/>
          </p:nvPr>
        </p:nvSpPr>
        <p:spPr>
          <a:xfrm>
            <a:off x="311700" y="3152225"/>
            <a:ext cx="8520600" cy="13008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0"/>
              </a:spcBef>
              <a:spcAft>
                <a:spcPts val="0"/>
              </a:spcAft>
              <a:buSzPts val="1400"/>
              <a:buChar char="○"/>
              <a:defRPr/>
            </a:lvl2pPr>
            <a:lvl3pPr marL="1371600" lvl="2" indent="-317500" algn="ctr">
              <a:lnSpc>
                <a:spcPct val="115000"/>
              </a:lnSpc>
              <a:spcBef>
                <a:spcPts val="0"/>
              </a:spcBef>
              <a:spcAft>
                <a:spcPts val="0"/>
              </a:spcAft>
              <a:buSzPts val="1400"/>
              <a:buChar char="■"/>
              <a:defRPr/>
            </a:lvl3pPr>
            <a:lvl4pPr marL="1828800" lvl="3" indent="-317500" algn="ctr">
              <a:lnSpc>
                <a:spcPct val="115000"/>
              </a:lnSpc>
              <a:spcBef>
                <a:spcPts val="0"/>
              </a:spcBef>
              <a:spcAft>
                <a:spcPts val="0"/>
              </a:spcAft>
              <a:buSzPts val="1400"/>
              <a:buChar char="●"/>
              <a:defRPr/>
            </a:lvl4pPr>
            <a:lvl5pPr marL="2286000" lvl="4" indent="-317500" algn="ctr">
              <a:lnSpc>
                <a:spcPct val="115000"/>
              </a:lnSpc>
              <a:spcBef>
                <a:spcPts val="0"/>
              </a:spcBef>
              <a:spcAft>
                <a:spcPts val="0"/>
              </a:spcAft>
              <a:buSzPts val="1400"/>
              <a:buChar char="○"/>
              <a:defRPr/>
            </a:lvl5pPr>
            <a:lvl6pPr marL="2743200" lvl="5" indent="-317500" algn="ctr">
              <a:lnSpc>
                <a:spcPct val="115000"/>
              </a:lnSpc>
              <a:spcBef>
                <a:spcPts val="0"/>
              </a:spcBef>
              <a:spcAft>
                <a:spcPts val="0"/>
              </a:spcAft>
              <a:buSzPts val="1400"/>
              <a:buChar char="■"/>
              <a:defRPr/>
            </a:lvl6pPr>
            <a:lvl7pPr marL="3200400" lvl="6" indent="-317500" algn="ctr">
              <a:lnSpc>
                <a:spcPct val="115000"/>
              </a:lnSpc>
              <a:spcBef>
                <a:spcPts val="0"/>
              </a:spcBef>
              <a:spcAft>
                <a:spcPts val="0"/>
              </a:spcAft>
              <a:buSzPts val="1400"/>
              <a:buChar char="●"/>
              <a:defRPr/>
            </a:lvl7pPr>
            <a:lvl8pPr marL="3657600" lvl="7" indent="-317500" algn="ctr">
              <a:lnSpc>
                <a:spcPct val="115000"/>
              </a:lnSpc>
              <a:spcBef>
                <a:spcPts val="0"/>
              </a:spcBef>
              <a:spcAft>
                <a:spcPts val="0"/>
              </a:spcAft>
              <a:buSzPts val="1400"/>
              <a:buChar char="○"/>
              <a:defRPr/>
            </a:lvl8pPr>
            <a:lvl9pPr marL="4114800" lvl="8" indent="-317500" algn="ctr">
              <a:lnSpc>
                <a:spcPct val="115000"/>
              </a:lnSpc>
              <a:spcBef>
                <a:spcPts val="0"/>
              </a:spcBef>
              <a:spcAft>
                <a:spcPts val="0"/>
              </a:spcAft>
              <a:buSzPts val="1400"/>
              <a:buChar char="■"/>
              <a:defRPr/>
            </a:lvl9pPr>
          </a:lstStyle>
          <a:p>
            <a:endParaRPr/>
          </a:p>
        </p:txBody>
      </p:sp>
      <p:sp>
        <p:nvSpPr>
          <p:cNvPr id="92" name="Google Shape;92;p2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93"/>
        <p:cNvGrpSpPr/>
        <p:nvPr/>
      </p:nvGrpSpPr>
      <p:grpSpPr>
        <a:xfrm>
          <a:off x="0" y="0"/>
          <a:ext cx="0" cy="0"/>
          <a:chOff x="0" y="0"/>
          <a:chExt cx="0" cy="0"/>
        </a:xfrm>
      </p:grpSpPr>
      <p:sp>
        <p:nvSpPr>
          <p:cNvPr id="94" name="Google Shape;94;p2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9"/>
        <p:cNvGrpSpPr/>
        <p:nvPr/>
      </p:nvGrpSpPr>
      <p:grpSpPr>
        <a:xfrm>
          <a:off x="0" y="0"/>
          <a:ext cx="0" cy="0"/>
          <a:chOff x="0" y="0"/>
          <a:chExt cx="0" cy="0"/>
        </a:xfrm>
      </p:grpSpPr>
      <p:sp>
        <p:nvSpPr>
          <p:cNvPr id="100" name="Google Shape;100;p26"/>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101" name="Google Shape;101;p26"/>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02" name="Google Shape;102;p2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03"/>
        <p:cNvGrpSpPr/>
        <p:nvPr/>
      </p:nvGrpSpPr>
      <p:grpSpPr>
        <a:xfrm>
          <a:off x="0" y="0"/>
          <a:ext cx="0" cy="0"/>
          <a:chOff x="0" y="0"/>
          <a:chExt cx="0" cy="0"/>
        </a:xfrm>
      </p:grpSpPr>
      <p:sp>
        <p:nvSpPr>
          <p:cNvPr id="104" name="Google Shape;104;p27"/>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05" name="Google Shape;105;p27"/>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106" name="Google Shape;106;p2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07"/>
        <p:cNvGrpSpPr/>
        <p:nvPr/>
      </p:nvGrpSpPr>
      <p:grpSpPr>
        <a:xfrm>
          <a:off x="0" y="0"/>
          <a:ext cx="0" cy="0"/>
          <a:chOff x="0" y="0"/>
          <a:chExt cx="0" cy="0"/>
        </a:xfrm>
      </p:grpSpPr>
      <p:sp>
        <p:nvSpPr>
          <p:cNvPr id="108" name="Google Shape;108;p28"/>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109" name="Google Shape;109;p2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110"/>
        <p:cNvGrpSpPr/>
        <p:nvPr/>
      </p:nvGrpSpPr>
      <p:grpSpPr>
        <a:xfrm>
          <a:off x="0" y="0"/>
          <a:ext cx="0" cy="0"/>
          <a:chOff x="0" y="0"/>
          <a:chExt cx="0" cy="0"/>
        </a:xfrm>
      </p:grpSpPr>
      <p:sp>
        <p:nvSpPr>
          <p:cNvPr id="111" name="Google Shape;111;p29"/>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12" name="Google Shape;112;p29"/>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113" name="Google Shape;113;p29"/>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114" name="Google Shape;114;p2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15"/>
        <p:cNvGrpSpPr/>
        <p:nvPr/>
      </p:nvGrpSpPr>
      <p:grpSpPr>
        <a:xfrm>
          <a:off x="0" y="0"/>
          <a:ext cx="0" cy="0"/>
          <a:chOff x="0" y="0"/>
          <a:chExt cx="0" cy="0"/>
        </a:xfrm>
      </p:grpSpPr>
      <p:sp>
        <p:nvSpPr>
          <p:cNvPr id="116" name="Google Shape;116;p30"/>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17" name="Google Shape;117;p3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118"/>
        <p:cNvGrpSpPr/>
        <p:nvPr/>
      </p:nvGrpSpPr>
      <p:grpSpPr>
        <a:xfrm>
          <a:off x="0" y="0"/>
          <a:ext cx="0" cy="0"/>
          <a:chOff x="0" y="0"/>
          <a:chExt cx="0" cy="0"/>
        </a:xfrm>
      </p:grpSpPr>
      <p:sp>
        <p:nvSpPr>
          <p:cNvPr id="119" name="Google Shape;119;p31"/>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120" name="Google Shape;120;p31"/>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121" name="Google Shape;121;p3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122"/>
        <p:cNvGrpSpPr/>
        <p:nvPr/>
      </p:nvGrpSpPr>
      <p:grpSpPr>
        <a:xfrm>
          <a:off x="0" y="0"/>
          <a:ext cx="0" cy="0"/>
          <a:chOff x="0" y="0"/>
          <a:chExt cx="0" cy="0"/>
        </a:xfrm>
      </p:grpSpPr>
      <p:sp>
        <p:nvSpPr>
          <p:cNvPr id="123" name="Google Shape;123;p32"/>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124" name="Google Shape;124;p3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125"/>
        <p:cNvGrpSpPr/>
        <p:nvPr/>
      </p:nvGrpSpPr>
      <p:grpSpPr>
        <a:xfrm>
          <a:off x="0" y="0"/>
          <a:ext cx="0" cy="0"/>
          <a:chOff x="0" y="0"/>
          <a:chExt cx="0" cy="0"/>
        </a:xfrm>
      </p:grpSpPr>
      <p:sp>
        <p:nvSpPr>
          <p:cNvPr id="126" name="Google Shape;126;p33"/>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7" name="Google Shape;127;p33"/>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128" name="Google Shape;128;p33"/>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129" name="Google Shape;129;p33"/>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130" name="Google Shape;130;p3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131"/>
        <p:cNvGrpSpPr/>
        <p:nvPr/>
      </p:nvGrpSpPr>
      <p:grpSpPr>
        <a:xfrm>
          <a:off x="0" y="0"/>
          <a:ext cx="0" cy="0"/>
          <a:chOff x="0" y="0"/>
          <a:chExt cx="0" cy="0"/>
        </a:xfrm>
      </p:grpSpPr>
      <p:sp>
        <p:nvSpPr>
          <p:cNvPr id="132" name="Google Shape;132;p34"/>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a:endParaRPr/>
          </a:p>
        </p:txBody>
      </p:sp>
      <p:sp>
        <p:nvSpPr>
          <p:cNvPr id="133" name="Google Shape;133;p3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134"/>
        <p:cNvGrpSpPr/>
        <p:nvPr/>
      </p:nvGrpSpPr>
      <p:grpSpPr>
        <a:xfrm>
          <a:off x="0" y="0"/>
          <a:ext cx="0" cy="0"/>
          <a:chOff x="0" y="0"/>
          <a:chExt cx="0" cy="0"/>
        </a:xfrm>
      </p:grpSpPr>
      <p:sp>
        <p:nvSpPr>
          <p:cNvPr id="135" name="Google Shape;135;p35"/>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136" name="Google Shape;136;p35"/>
          <p:cNvSpPr txBox="1">
            <a:spLocks noGrp="1"/>
          </p:cNvSpPr>
          <p:nvPr>
            <p:ph type="body" idx="1"/>
          </p:nvPr>
        </p:nvSpPr>
        <p:spPr>
          <a:xfrm>
            <a:off x="311700" y="3152225"/>
            <a:ext cx="8520600" cy="13008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0"/>
              </a:spcBef>
              <a:spcAft>
                <a:spcPts val="0"/>
              </a:spcAft>
              <a:buSzPts val="1400"/>
              <a:buChar char="○"/>
              <a:defRPr/>
            </a:lvl2pPr>
            <a:lvl3pPr marL="1371600" lvl="2" indent="-317500" algn="ctr">
              <a:lnSpc>
                <a:spcPct val="115000"/>
              </a:lnSpc>
              <a:spcBef>
                <a:spcPts val="0"/>
              </a:spcBef>
              <a:spcAft>
                <a:spcPts val="0"/>
              </a:spcAft>
              <a:buSzPts val="1400"/>
              <a:buChar char="■"/>
              <a:defRPr/>
            </a:lvl3pPr>
            <a:lvl4pPr marL="1828800" lvl="3" indent="-317500" algn="ctr">
              <a:lnSpc>
                <a:spcPct val="115000"/>
              </a:lnSpc>
              <a:spcBef>
                <a:spcPts val="0"/>
              </a:spcBef>
              <a:spcAft>
                <a:spcPts val="0"/>
              </a:spcAft>
              <a:buSzPts val="1400"/>
              <a:buChar char="●"/>
              <a:defRPr/>
            </a:lvl4pPr>
            <a:lvl5pPr marL="2286000" lvl="4" indent="-317500" algn="ctr">
              <a:lnSpc>
                <a:spcPct val="115000"/>
              </a:lnSpc>
              <a:spcBef>
                <a:spcPts val="0"/>
              </a:spcBef>
              <a:spcAft>
                <a:spcPts val="0"/>
              </a:spcAft>
              <a:buSzPts val="1400"/>
              <a:buChar char="○"/>
              <a:defRPr/>
            </a:lvl5pPr>
            <a:lvl6pPr marL="2743200" lvl="5" indent="-317500" algn="ctr">
              <a:lnSpc>
                <a:spcPct val="115000"/>
              </a:lnSpc>
              <a:spcBef>
                <a:spcPts val="0"/>
              </a:spcBef>
              <a:spcAft>
                <a:spcPts val="0"/>
              </a:spcAft>
              <a:buSzPts val="1400"/>
              <a:buChar char="■"/>
              <a:defRPr/>
            </a:lvl6pPr>
            <a:lvl7pPr marL="3200400" lvl="6" indent="-317500" algn="ctr">
              <a:lnSpc>
                <a:spcPct val="115000"/>
              </a:lnSpc>
              <a:spcBef>
                <a:spcPts val="0"/>
              </a:spcBef>
              <a:spcAft>
                <a:spcPts val="0"/>
              </a:spcAft>
              <a:buSzPts val="1400"/>
              <a:buChar char="●"/>
              <a:defRPr/>
            </a:lvl7pPr>
            <a:lvl8pPr marL="3657600" lvl="7" indent="-317500" algn="ctr">
              <a:lnSpc>
                <a:spcPct val="115000"/>
              </a:lnSpc>
              <a:spcBef>
                <a:spcPts val="0"/>
              </a:spcBef>
              <a:spcAft>
                <a:spcPts val="0"/>
              </a:spcAft>
              <a:buSzPts val="1400"/>
              <a:buChar char="○"/>
              <a:defRPr/>
            </a:lvl8pPr>
            <a:lvl9pPr marL="4114800" lvl="8" indent="-317500" algn="ctr">
              <a:lnSpc>
                <a:spcPct val="115000"/>
              </a:lnSpc>
              <a:spcBef>
                <a:spcPts val="0"/>
              </a:spcBef>
              <a:spcAft>
                <a:spcPts val="0"/>
              </a:spcAft>
              <a:buSzPts val="1400"/>
              <a:buChar char="■"/>
              <a:defRPr/>
            </a:lvl9pPr>
          </a:lstStyle>
          <a:p>
            <a:endParaRPr/>
          </a:p>
        </p:txBody>
      </p:sp>
      <p:sp>
        <p:nvSpPr>
          <p:cNvPr id="137" name="Google Shape;137;p3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38"/>
        <p:cNvGrpSpPr/>
        <p:nvPr/>
      </p:nvGrpSpPr>
      <p:grpSpPr>
        <a:xfrm>
          <a:off x="0" y="0"/>
          <a:ext cx="0" cy="0"/>
          <a:chOff x="0" y="0"/>
          <a:chExt cx="0" cy="0"/>
        </a:xfrm>
      </p:grpSpPr>
      <p:sp>
        <p:nvSpPr>
          <p:cNvPr id="139" name="Google Shape;139;p3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Page Opt 1">
  <p:cSld name="TITLE_AND_BODY_1">
    <p:bg>
      <p:bgPr>
        <a:solidFill>
          <a:srgbClr val="FFFFFF"/>
        </a:solidFill>
        <a:effectLst/>
      </p:bgPr>
    </p:bg>
    <p:spTree>
      <p:nvGrpSpPr>
        <p:cNvPr id="1" name="Shape 140"/>
        <p:cNvGrpSpPr/>
        <p:nvPr/>
      </p:nvGrpSpPr>
      <p:grpSpPr>
        <a:xfrm>
          <a:off x="0" y="0"/>
          <a:ext cx="0" cy="0"/>
          <a:chOff x="0" y="0"/>
          <a:chExt cx="0" cy="0"/>
        </a:xfrm>
      </p:grpSpPr>
      <p:sp>
        <p:nvSpPr>
          <p:cNvPr id="141" name="Google Shape;141;p37"/>
          <p:cNvSpPr txBox="1">
            <a:spLocks noGrp="1"/>
          </p:cNvSpPr>
          <p:nvPr>
            <p:ph type="title"/>
          </p:nvPr>
        </p:nvSpPr>
        <p:spPr>
          <a:xfrm>
            <a:off x="130951" y="4760105"/>
            <a:ext cx="2805600" cy="230100"/>
          </a:xfrm>
          <a:prstGeom prst="rect">
            <a:avLst/>
          </a:prstGeom>
          <a:noFill/>
          <a:ln>
            <a:noFill/>
          </a:ln>
        </p:spPr>
        <p:txBody>
          <a:bodyPr spcFirstLastPara="1" wrap="square" lIns="91425" tIns="91425" rIns="91425" bIns="91425" anchor="ctr" anchorCtr="0">
            <a:normAutofit/>
          </a:bodyPr>
          <a:lstStyle>
            <a:lvl1pPr marR="0" lvl="0" algn="l">
              <a:lnSpc>
                <a:spcPct val="100000"/>
              </a:lnSpc>
              <a:spcBef>
                <a:spcPts val="0"/>
              </a:spcBef>
              <a:spcAft>
                <a:spcPts val="0"/>
              </a:spcAft>
              <a:buClr>
                <a:srgbClr val="000000"/>
              </a:buClr>
              <a:buSzPts val="1200"/>
              <a:buFont typeface="Arial"/>
              <a:buNone/>
              <a:defRPr sz="700">
                <a:solidFill>
                  <a:srgbClr val="606366"/>
                </a:solidFill>
                <a:latin typeface="Arial"/>
                <a:ea typeface="Arial"/>
                <a:cs typeface="Arial"/>
                <a:sym typeface="Aria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42" name="Google Shape;142;p37"/>
          <p:cNvSpPr txBox="1">
            <a:spLocks noGrp="1"/>
          </p:cNvSpPr>
          <p:nvPr>
            <p:ph type="title" idx="2"/>
          </p:nvPr>
        </p:nvSpPr>
        <p:spPr>
          <a:xfrm>
            <a:off x="417675" y="341875"/>
            <a:ext cx="7918200" cy="4938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sz="2000" b="1">
                <a:solidFill>
                  <a:srgbClr val="202124"/>
                </a:solidFill>
                <a:latin typeface="Arial"/>
                <a:ea typeface="Arial"/>
                <a:cs typeface="Arial"/>
                <a:sym typeface="Aria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43" name="Google Shape;143;p37"/>
          <p:cNvSpPr txBox="1">
            <a:spLocks noGrp="1"/>
          </p:cNvSpPr>
          <p:nvPr>
            <p:ph type="subTitle" idx="1"/>
          </p:nvPr>
        </p:nvSpPr>
        <p:spPr>
          <a:xfrm>
            <a:off x="417671" y="835791"/>
            <a:ext cx="7918200" cy="35631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Clr>
                <a:srgbClr val="606366"/>
              </a:buClr>
              <a:buSzPts val="1800"/>
              <a:buNone/>
              <a:defRPr sz="1200">
                <a:solidFill>
                  <a:srgbClr val="606366"/>
                </a:solidFill>
                <a:latin typeface="Roboto Light"/>
                <a:ea typeface="Roboto Light"/>
                <a:cs typeface="Roboto Light"/>
                <a:sym typeface="Roboto Light"/>
              </a:defRPr>
            </a:lvl1pPr>
            <a:lvl2pPr lvl="1" algn="l">
              <a:lnSpc>
                <a:spcPct val="115000"/>
              </a:lnSpc>
              <a:spcBef>
                <a:spcPts val="1000"/>
              </a:spcBef>
              <a:spcAft>
                <a:spcPts val="0"/>
              </a:spcAft>
              <a:buSzPts val="1400"/>
              <a:buNone/>
              <a:defRPr sz="1200">
                <a:latin typeface="Roboto Light"/>
                <a:ea typeface="Roboto Light"/>
                <a:cs typeface="Roboto Light"/>
                <a:sym typeface="Roboto Light"/>
              </a:defRPr>
            </a:lvl2pPr>
            <a:lvl3pPr lvl="2" algn="l">
              <a:lnSpc>
                <a:spcPct val="115000"/>
              </a:lnSpc>
              <a:spcBef>
                <a:spcPts val="0"/>
              </a:spcBef>
              <a:spcAft>
                <a:spcPts val="0"/>
              </a:spcAft>
              <a:buSzPts val="1400"/>
              <a:buNone/>
              <a:defRPr sz="1200">
                <a:latin typeface="Roboto Light"/>
                <a:ea typeface="Roboto Light"/>
                <a:cs typeface="Roboto Light"/>
                <a:sym typeface="Roboto Light"/>
              </a:defRPr>
            </a:lvl3pPr>
            <a:lvl4pPr lvl="3" algn="l">
              <a:lnSpc>
                <a:spcPct val="115000"/>
              </a:lnSpc>
              <a:spcBef>
                <a:spcPts val="0"/>
              </a:spcBef>
              <a:spcAft>
                <a:spcPts val="0"/>
              </a:spcAft>
              <a:buSzPts val="1400"/>
              <a:buNone/>
              <a:defRPr sz="1200">
                <a:latin typeface="Roboto Light"/>
                <a:ea typeface="Roboto Light"/>
                <a:cs typeface="Roboto Light"/>
                <a:sym typeface="Roboto Light"/>
              </a:defRPr>
            </a:lvl4pPr>
            <a:lvl5pPr lvl="4" algn="l">
              <a:lnSpc>
                <a:spcPct val="115000"/>
              </a:lnSpc>
              <a:spcBef>
                <a:spcPts val="0"/>
              </a:spcBef>
              <a:spcAft>
                <a:spcPts val="0"/>
              </a:spcAft>
              <a:buSzPts val="1400"/>
              <a:buNone/>
              <a:defRPr sz="1200">
                <a:latin typeface="Roboto Light"/>
                <a:ea typeface="Roboto Light"/>
                <a:cs typeface="Roboto Light"/>
                <a:sym typeface="Roboto Light"/>
              </a:defRPr>
            </a:lvl5pPr>
            <a:lvl6pPr lvl="5" algn="l">
              <a:lnSpc>
                <a:spcPct val="115000"/>
              </a:lnSpc>
              <a:spcBef>
                <a:spcPts val="0"/>
              </a:spcBef>
              <a:spcAft>
                <a:spcPts val="0"/>
              </a:spcAft>
              <a:buSzPts val="1400"/>
              <a:buNone/>
              <a:defRPr sz="1200">
                <a:latin typeface="Roboto Light"/>
                <a:ea typeface="Roboto Light"/>
                <a:cs typeface="Roboto Light"/>
                <a:sym typeface="Roboto Light"/>
              </a:defRPr>
            </a:lvl6pPr>
            <a:lvl7pPr lvl="6" algn="l">
              <a:lnSpc>
                <a:spcPct val="115000"/>
              </a:lnSpc>
              <a:spcBef>
                <a:spcPts val="0"/>
              </a:spcBef>
              <a:spcAft>
                <a:spcPts val="0"/>
              </a:spcAft>
              <a:buSzPts val="1400"/>
              <a:buNone/>
              <a:defRPr sz="1200">
                <a:latin typeface="Roboto Light"/>
                <a:ea typeface="Roboto Light"/>
                <a:cs typeface="Roboto Light"/>
                <a:sym typeface="Roboto Light"/>
              </a:defRPr>
            </a:lvl7pPr>
            <a:lvl8pPr lvl="7" algn="l">
              <a:lnSpc>
                <a:spcPct val="115000"/>
              </a:lnSpc>
              <a:spcBef>
                <a:spcPts val="0"/>
              </a:spcBef>
              <a:spcAft>
                <a:spcPts val="0"/>
              </a:spcAft>
              <a:buSzPts val="1400"/>
              <a:buNone/>
              <a:defRPr sz="1200">
                <a:latin typeface="Roboto Light"/>
                <a:ea typeface="Roboto Light"/>
                <a:cs typeface="Roboto Light"/>
                <a:sym typeface="Roboto Light"/>
              </a:defRPr>
            </a:lvl8pPr>
            <a:lvl9pPr lvl="8" algn="l">
              <a:lnSpc>
                <a:spcPct val="115000"/>
              </a:lnSpc>
              <a:spcBef>
                <a:spcPts val="0"/>
              </a:spcBef>
              <a:spcAft>
                <a:spcPts val="0"/>
              </a:spcAft>
              <a:buSzPts val="1400"/>
              <a:buNone/>
              <a:defRPr sz="1200">
                <a:latin typeface="Roboto Light"/>
                <a:ea typeface="Roboto Light"/>
                <a:cs typeface="Roboto Light"/>
                <a:sym typeface="Roboto Light"/>
              </a:defRPr>
            </a:lvl9pPr>
          </a:lstStyle>
          <a:p>
            <a:endParaRPr/>
          </a:p>
        </p:txBody>
      </p:sp>
      <p:sp>
        <p:nvSpPr>
          <p:cNvPr id="144" name="Google Shape;144;p37"/>
          <p:cNvSpPr txBox="1">
            <a:spLocks noGrp="1"/>
          </p:cNvSpPr>
          <p:nvPr>
            <p:ph type="sldNum" idx="12"/>
          </p:nvPr>
        </p:nvSpPr>
        <p:spPr>
          <a:xfrm>
            <a:off x="8382900" y="4774376"/>
            <a:ext cx="612900" cy="1872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4800"/>
              <a:buFont typeface="Arial"/>
              <a:buNone/>
              <a:defRPr sz="700" b="0" i="0" u="none" strike="noStrike" cap="none">
                <a:solidFill>
                  <a:srgbClr val="606366"/>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4800"/>
              <a:buFont typeface="Arial"/>
              <a:buNone/>
              <a:defRPr sz="700" b="0" i="0" u="none" strike="noStrike" cap="none">
                <a:solidFill>
                  <a:srgbClr val="606366"/>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4800"/>
              <a:buFont typeface="Arial"/>
              <a:buNone/>
              <a:defRPr sz="700" b="0" i="0" u="none" strike="noStrike" cap="none">
                <a:solidFill>
                  <a:srgbClr val="606366"/>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4800"/>
              <a:buFont typeface="Arial"/>
              <a:buNone/>
              <a:defRPr sz="700" b="0" i="0" u="none" strike="noStrike" cap="none">
                <a:solidFill>
                  <a:srgbClr val="606366"/>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4800"/>
              <a:buFont typeface="Arial"/>
              <a:buNone/>
              <a:defRPr sz="700" b="0" i="0" u="none" strike="noStrike" cap="none">
                <a:solidFill>
                  <a:srgbClr val="606366"/>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4800"/>
              <a:buFont typeface="Arial"/>
              <a:buNone/>
              <a:defRPr sz="700" b="0" i="0" u="none" strike="noStrike" cap="none">
                <a:solidFill>
                  <a:srgbClr val="606366"/>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4800"/>
              <a:buFont typeface="Arial"/>
              <a:buNone/>
              <a:defRPr sz="700" b="0" i="0" u="none" strike="noStrike" cap="none">
                <a:solidFill>
                  <a:srgbClr val="606366"/>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4800"/>
              <a:buFont typeface="Arial"/>
              <a:buNone/>
              <a:defRPr sz="700" b="0" i="0" u="none" strike="noStrike" cap="none">
                <a:solidFill>
                  <a:srgbClr val="606366"/>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4800"/>
              <a:buFont typeface="Arial"/>
              <a:buNone/>
              <a:defRPr sz="700" b="0" i="0" u="none" strike="noStrike" cap="none">
                <a:solidFill>
                  <a:srgbClr val="606366"/>
                </a:solidFill>
                <a:latin typeface="Arial"/>
                <a:ea typeface="Arial"/>
                <a:cs typeface="Arial"/>
                <a:sym typeface="Arial"/>
              </a:defRPr>
            </a:lvl9pPr>
          </a:lstStyle>
          <a:p>
            <a:pPr marL="0" lvl="0" indent="0" algn="r" rtl="0">
              <a:spcBef>
                <a:spcPts val="0"/>
              </a:spcBef>
              <a:spcAft>
                <a:spcPts val="0"/>
              </a:spcAft>
              <a:buNone/>
            </a:pPr>
            <a:r>
              <a:rPr lang="en"/>
              <a:t>P </a:t>
            </a:r>
            <a:fld id="{00000000-1234-1234-1234-123412341234}" type="slidenum">
              <a:rPr lang="en"/>
              <a:t>‹#›</a:t>
            </a:fld>
            <a:endParaRPr sz="1000">
              <a:solidFill>
                <a:srgbClr val="9AA0A6"/>
              </a:solidFill>
              <a:latin typeface="Roboto Light"/>
              <a:ea typeface="Roboto Light"/>
              <a:cs typeface="Roboto Light"/>
              <a:sym typeface="Roboto Light"/>
            </a:endParaRPr>
          </a:p>
        </p:txBody>
      </p:sp>
      <p:pic>
        <p:nvPicPr>
          <p:cNvPr id="145" name="Google Shape;145;p37"/>
          <p:cNvPicPr preferRelativeResize="0"/>
          <p:nvPr/>
        </p:nvPicPr>
        <p:blipFill rotWithShape="1">
          <a:blip r:embed="rId2">
            <a:alphaModFix/>
          </a:blip>
          <a:srcRect l="8223"/>
          <a:stretch/>
        </p:blipFill>
        <p:spPr>
          <a:xfrm>
            <a:off x="8189763" y="191216"/>
            <a:ext cx="806025" cy="230100"/>
          </a:xfrm>
          <a:prstGeom prst="rect">
            <a:avLst/>
          </a:prstGeom>
          <a:noFill/>
          <a:ln>
            <a:noFill/>
          </a:ln>
        </p:spPr>
      </p:pic>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52"/>
        <p:cNvGrpSpPr/>
        <p:nvPr/>
      </p:nvGrpSpPr>
      <p:grpSpPr>
        <a:xfrm>
          <a:off x="0" y="0"/>
          <a:ext cx="0" cy="0"/>
          <a:chOff x="0" y="0"/>
          <a:chExt cx="0" cy="0"/>
        </a:xfrm>
      </p:grpSpPr>
      <p:sp>
        <p:nvSpPr>
          <p:cNvPr id="153" name="Google Shape;153;p39"/>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4" name="Google Shape;154;p39"/>
          <p:cNvSpPr txBox="1">
            <a:spLocks noGrp="1"/>
          </p:cNvSpPr>
          <p:nvPr>
            <p:ph type="ftr" idx="11"/>
          </p:nvPr>
        </p:nvSpPr>
        <p:spPr>
          <a:xfrm>
            <a:off x="3028950" y="4767263"/>
            <a:ext cx="3086100" cy="27384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5" name="Google Shape;155;p39"/>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56"/>
        <p:cNvGrpSpPr/>
        <p:nvPr/>
      </p:nvGrpSpPr>
      <p:grpSpPr>
        <a:xfrm>
          <a:off x="0" y="0"/>
          <a:ext cx="0" cy="0"/>
          <a:chOff x="0" y="0"/>
          <a:chExt cx="0" cy="0"/>
        </a:xfrm>
      </p:grpSpPr>
      <p:sp>
        <p:nvSpPr>
          <p:cNvPr id="157" name="Google Shape;157;p40"/>
          <p:cNvSpPr txBox="1">
            <a:spLocks noGrp="1"/>
          </p:cNvSpPr>
          <p:nvPr>
            <p:ph type="title"/>
          </p:nvPr>
        </p:nvSpPr>
        <p:spPr>
          <a:xfrm>
            <a:off x="628650" y="273844"/>
            <a:ext cx="7886700" cy="99417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58" name="Google Shape;158;p40"/>
          <p:cNvSpPr txBox="1">
            <a:spLocks noGrp="1"/>
          </p:cNvSpPr>
          <p:nvPr>
            <p:ph type="body" idx="1"/>
          </p:nvPr>
        </p:nvSpPr>
        <p:spPr>
          <a:xfrm>
            <a:off x="628650" y="1369219"/>
            <a:ext cx="7886700" cy="3263504"/>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159" name="Google Shape;159;p40"/>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0" name="Google Shape;160;p40"/>
          <p:cNvSpPr txBox="1">
            <a:spLocks noGrp="1"/>
          </p:cNvSpPr>
          <p:nvPr>
            <p:ph type="ftr" idx="11"/>
          </p:nvPr>
        </p:nvSpPr>
        <p:spPr>
          <a:xfrm>
            <a:off x="3028950" y="4767263"/>
            <a:ext cx="3086100" cy="27384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1" name="Google Shape;161;p40"/>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162"/>
        <p:cNvGrpSpPr/>
        <p:nvPr/>
      </p:nvGrpSpPr>
      <p:grpSpPr>
        <a:xfrm>
          <a:off x="0" y="0"/>
          <a:ext cx="0" cy="0"/>
          <a:chOff x="0" y="0"/>
          <a:chExt cx="0" cy="0"/>
        </a:xfrm>
      </p:grpSpPr>
      <p:sp>
        <p:nvSpPr>
          <p:cNvPr id="163" name="Google Shape;163;p41"/>
          <p:cNvSpPr txBox="1">
            <a:spLocks noGrp="1"/>
          </p:cNvSpPr>
          <p:nvPr>
            <p:ph type="title"/>
          </p:nvPr>
        </p:nvSpPr>
        <p:spPr>
          <a:xfrm>
            <a:off x="629841" y="273844"/>
            <a:ext cx="7886700" cy="99417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64" name="Google Shape;164;p41"/>
          <p:cNvSpPr txBox="1">
            <a:spLocks noGrp="1"/>
          </p:cNvSpPr>
          <p:nvPr>
            <p:ph type="body" idx="1"/>
          </p:nvPr>
        </p:nvSpPr>
        <p:spPr>
          <a:xfrm>
            <a:off x="629842" y="1260872"/>
            <a:ext cx="3868340" cy="617934"/>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750"/>
              </a:spcBef>
              <a:spcAft>
                <a:spcPts val="0"/>
              </a:spcAft>
              <a:buClr>
                <a:schemeClr val="dk1"/>
              </a:buClr>
              <a:buSzPts val="1800"/>
              <a:buNone/>
              <a:defRPr sz="1800" b="1"/>
            </a:lvl1pPr>
            <a:lvl2pPr marL="914400" lvl="1" indent="-228600" algn="l">
              <a:lnSpc>
                <a:spcPct val="90000"/>
              </a:lnSpc>
              <a:spcBef>
                <a:spcPts val="375"/>
              </a:spcBef>
              <a:spcAft>
                <a:spcPts val="0"/>
              </a:spcAft>
              <a:buClr>
                <a:schemeClr val="dk1"/>
              </a:buClr>
              <a:buSzPts val="1500"/>
              <a:buNone/>
              <a:defRPr sz="1500" b="1"/>
            </a:lvl2pPr>
            <a:lvl3pPr marL="1371600" lvl="2" indent="-228600" algn="l">
              <a:lnSpc>
                <a:spcPct val="90000"/>
              </a:lnSpc>
              <a:spcBef>
                <a:spcPts val="375"/>
              </a:spcBef>
              <a:spcAft>
                <a:spcPts val="0"/>
              </a:spcAft>
              <a:buClr>
                <a:schemeClr val="dk1"/>
              </a:buClr>
              <a:buSzPts val="1350"/>
              <a:buNone/>
              <a:defRPr sz="1350" b="1"/>
            </a:lvl3pPr>
            <a:lvl4pPr marL="1828800" lvl="3" indent="-228600" algn="l">
              <a:lnSpc>
                <a:spcPct val="90000"/>
              </a:lnSpc>
              <a:spcBef>
                <a:spcPts val="375"/>
              </a:spcBef>
              <a:spcAft>
                <a:spcPts val="0"/>
              </a:spcAft>
              <a:buClr>
                <a:schemeClr val="dk1"/>
              </a:buClr>
              <a:buSzPts val="1200"/>
              <a:buNone/>
              <a:defRPr sz="1200" b="1"/>
            </a:lvl4pPr>
            <a:lvl5pPr marL="2286000" lvl="4" indent="-228600" algn="l">
              <a:lnSpc>
                <a:spcPct val="90000"/>
              </a:lnSpc>
              <a:spcBef>
                <a:spcPts val="375"/>
              </a:spcBef>
              <a:spcAft>
                <a:spcPts val="0"/>
              </a:spcAft>
              <a:buClr>
                <a:schemeClr val="dk1"/>
              </a:buClr>
              <a:buSzPts val="1200"/>
              <a:buNone/>
              <a:defRPr sz="1200" b="1"/>
            </a:lvl5pPr>
            <a:lvl6pPr marL="2743200" lvl="5" indent="-228600" algn="l">
              <a:lnSpc>
                <a:spcPct val="90000"/>
              </a:lnSpc>
              <a:spcBef>
                <a:spcPts val="375"/>
              </a:spcBef>
              <a:spcAft>
                <a:spcPts val="0"/>
              </a:spcAft>
              <a:buClr>
                <a:schemeClr val="dk1"/>
              </a:buClr>
              <a:buSzPts val="1200"/>
              <a:buNone/>
              <a:defRPr sz="1200" b="1"/>
            </a:lvl6pPr>
            <a:lvl7pPr marL="3200400" lvl="6" indent="-228600" algn="l">
              <a:lnSpc>
                <a:spcPct val="90000"/>
              </a:lnSpc>
              <a:spcBef>
                <a:spcPts val="375"/>
              </a:spcBef>
              <a:spcAft>
                <a:spcPts val="0"/>
              </a:spcAft>
              <a:buClr>
                <a:schemeClr val="dk1"/>
              </a:buClr>
              <a:buSzPts val="1200"/>
              <a:buNone/>
              <a:defRPr sz="1200" b="1"/>
            </a:lvl7pPr>
            <a:lvl8pPr marL="3657600" lvl="7" indent="-228600" algn="l">
              <a:lnSpc>
                <a:spcPct val="90000"/>
              </a:lnSpc>
              <a:spcBef>
                <a:spcPts val="375"/>
              </a:spcBef>
              <a:spcAft>
                <a:spcPts val="0"/>
              </a:spcAft>
              <a:buClr>
                <a:schemeClr val="dk1"/>
              </a:buClr>
              <a:buSzPts val="1200"/>
              <a:buNone/>
              <a:defRPr sz="1200" b="1"/>
            </a:lvl8pPr>
            <a:lvl9pPr marL="4114800" lvl="8" indent="-228600" algn="l">
              <a:lnSpc>
                <a:spcPct val="90000"/>
              </a:lnSpc>
              <a:spcBef>
                <a:spcPts val="375"/>
              </a:spcBef>
              <a:spcAft>
                <a:spcPts val="0"/>
              </a:spcAft>
              <a:buClr>
                <a:schemeClr val="dk1"/>
              </a:buClr>
              <a:buSzPts val="1200"/>
              <a:buNone/>
              <a:defRPr sz="1200" b="1"/>
            </a:lvl9pPr>
          </a:lstStyle>
          <a:p>
            <a:endParaRPr/>
          </a:p>
        </p:txBody>
      </p:sp>
      <p:sp>
        <p:nvSpPr>
          <p:cNvPr id="165" name="Google Shape;165;p41"/>
          <p:cNvSpPr txBox="1">
            <a:spLocks noGrp="1"/>
          </p:cNvSpPr>
          <p:nvPr>
            <p:ph type="body" idx="2"/>
          </p:nvPr>
        </p:nvSpPr>
        <p:spPr>
          <a:xfrm>
            <a:off x="629842" y="1878806"/>
            <a:ext cx="3868340" cy="2763441"/>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166" name="Google Shape;166;p41"/>
          <p:cNvSpPr txBox="1">
            <a:spLocks noGrp="1"/>
          </p:cNvSpPr>
          <p:nvPr>
            <p:ph type="body" idx="3"/>
          </p:nvPr>
        </p:nvSpPr>
        <p:spPr>
          <a:xfrm>
            <a:off x="4629150" y="1260872"/>
            <a:ext cx="3887391" cy="617934"/>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750"/>
              </a:spcBef>
              <a:spcAft>
                <a:spcPts val="0"/>
              </a:spcAft>
              <a:buClr>
                <a:schemeClr val="dk1"/>
              </a:buClr>
              <a:buSzPts val="1800"/>
              <a:buNone/>
              <a:defRPr sz="1800" b="1"/>
            </a:lvl1pPr>
            <a:lvl2pPr marL="914400" lvl="1" indent="-228600" algn="l">
              <a:lnSpc>
                <a:spcPct val="90000"/>
              </a:lnSpc>
              <a:spcBef>
                <a:spcPts val="375"/>
              </a:spcBef>
              <a:spcAft>
                <a:spcPts val="0"/>
              </a:spcAft>
              <a:buClr>
                <a:schemeClr val="dk1"/>
              </a:buClr>
              <a:buSzPts val="1500"/>
              <a:buNone/>
              <a:defRPr sz="1500" b="1"/>
            </a:lvl2pPr>
            <a:lvl3pPr marL="1371600" lvl="2" indent="-228600" algn="l">
              <a:lnSpc>
                <a:spcPct val="90000"/>
              </a:lnSpc>
              <a:spcBef>
                <a:spcPts val="375"/>
              </a:spcBef>
              <a:spcAft>
                <a:spcPts val="0"/>
              </a:spcAft>
              <a:buClr>
                <a:schemeClr val="dk1"/>
              </a:buClr>
              <a:buSzPts val="1350"/>
              <a:buNone/>
              <a:defRPr sz="1350" b="1"/>
            </a:lvl3pPr>
            <a:lvl4pPr marL="1828800" lvl="3" indent="-228600" algn="l">
              <a:lnSpc>
                <a:spcPct val="90000"/>
              </a:lnSpc>
              <a:spcBef>
                <a:spcPts val="375"/>
              </a:spcBef>
              <a:spcAft>
                <a:spcPts val="0"/>
              </a:spcAft>
              <a:buClr>
                <a:schemeClr val="dk1"/>
              </a:buClr>
              <a:buSzPts val="1200"/>
              <a:buNone/>
              <a:defRPr sz="1200" b="1"/>
            </a:lvl4pPr>
            <a:lvl5pPr marL="2286000" lvl="4" indent="-228600" algn="l">
              <a:lnSpc>
                <a:spcPct val="90000"/>
              </a:lnSpc>
              <a:spcBef>
                <a:spcPts val="375"/>
              </a:spcBef>
              <a:spcAft>
                <a:spcPts val="0"/>
              </a:spcAft>
              <a:buClr>
                <a:schemeClr val="dk1"/>
              </a:buClr>
              <a:buSzPts val="1200"/>
              <a:buNone/>
              <a:defRPr sz="1200" b="1"/>
            </a:lvl5pPr>
            <a:lvl6pPr marL="2743200" lvl="5" indent="-228600" algn="l">
              <a:lnSpc>
                <a:spcPct val="90000"/>
              </a:lnSpc>
              <a:spcBef>
                <a:spcPts val="375"/>
              </a:spcBef>
              <a:spcAft>
                <a:spcPts val="0"/>
              </a:spcAft>
              <a:buClr>
                <a:schemeClr val="dk1"/>
              </a:buClr>
              <a:buSzPts val="1200"/>
              <a:buNone/>
              <a:defRPr sz="1200" b="1"/>
            </a:lvl6pPr>
            <a:lvl7pPr marL="3200400" lvl="6" indent="-228600" algn="l">
              <a:lnSpc>
                <a:spcPct val="90000"/>
              </a:lnSpc>
              <a:spcBef>
                <a:spcPts val="375"/>
              </a:spcBef>
              <a:spcAft>
                <a:spcPts val="0"/>
              </a:spcAft>
              <a:buClr>
                <a:schemeClr val="dk1"/>
              </a:buClr>
              <a:buSzPts val="1200"/>
              <a:buNone/>
              <a:defRPr sz="1200" b="1"/>
            </a:lvl7pPr>
            <a:lvl8pPr marL="3657600" lvl="7" indent="-228600" algn="l">
              <a:lnSpc>
                <a:spcPct val="90000"/>
              </a:lnSpc>
              <a:spcBef>
                <a:spcPts val="375"/>
              </a:spcBef>
              <a:spcAft>
                <a:spcPts val="0"/>
              </a:spcAft>
              <a:buClr>
                <a:schemeClr val="dk1"/>
              </a:buClr>
              <a:buSzPts val="1200"/>
              <a:buNone/>
              <a:defRPr sz="1200" b="1"/>
            </a:lvl8pPr>
            <a:lvl9pPr marL="4114800" lvl="8" indent="-228600" algn="l">
              <a:lnSpc>
                <a:spcPct val="90000"/>
              </a:lnSpc>
              <a:spcBef>
                <a:spcPts val="375"/>
              </a:spcBef>
              <a:spcAft>
                <a:spcPts val="0"/>
              </a:spcAft>
              <a:buClr>
                <a:schemeClr val="dk1"/>
              </a:buClr>
              <a:buSzPts val="1200"/>
              <a:buNone/>
              <a:defRPr sz="1200" b="1"/>
            </a:lvl9pPr>
          </a:lstStyle>
          <a:p>
            <a:endParaRPr/>
          </a:p>
        </p:txBody>
      </p:sp>
      <p:sp>
        <p:nvSpPr>
          <p:cNvPr id="167" name="Google Shape;167;p41"/>
          <p:cNvSpPr txBox="1">
            <a:spLocks noGrp="1"/>
          </p:cNvSpPr>
          <p:nvPr>
            <p:ph type="body" idx="4"/>
          </p:nvPr>
        </p:nvSpPr>
        <p:spPr>
          <a:xfrm>
            <a:off x="4629150" y="1878806"/>
            <a:ext cx="3887391" cy="2763441"/>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168" name="Google Shape;168;p41"/>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9" name="Google Shape;169;p41"/>
          <p:cNvSpPr txBox="1">
            <a:spLocks noGrp="1"/>
          </p:cNvSpPr>
          <p:nvPr>
            <p:ph type="ftr" idx="11"/>
          </p:nvPr>
        </p:nvSpPr>
        <p:spPr>
          <a:xfrm>
            <a:off x="3028950" y="4767263"/>
            <a:ext cx="3086100" cy="27384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70" name="Google Shape;170;p41"/>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1"/>
        <p:cNvGrpSpPr/>
        <p:nvPr/>
      </p:nvGrpSpPr>
      <p:grpSpPr>
        <a:xfrm>
          <a:off x="0" y="0"/>
          <a:ext cx="0" cy="0"/>
          <a:chOff x="0" y="0"/>
          <a:chExt cx="0" cy="0"/>
        </a:xfrm>
      </p:grpSpPr>
      <p:sp>
        <p:nvSpPr>
          <p:cNvPr id="172" name="Google Shape;172;p42"/>
          <p:cNvSpPr txBox="1">
            <a:spLocks noGrp="1"/>
          </p:cNvSpPr>
          <p:nvPr>
            <p:ph type="ctrTitle"/>
          </p:nvPr>
        </p:nvSpPr>
        <p:spPr>
          <a:xfrm>
            <a:off x="1143000" y="841772"/>
            <a:ext cx="6858000" cy="17907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4500"/>
              <a:buFont typeface="Arial"/>
              <a:buNone/>
              <a:defRPr sz="45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3" name="Google Shape;173;p42"/>
          <p:cNvSpPr txBox="1">
            <a:spLocks noGrp="1"/>
          </p:cNvSpPr>
          <p:nvPr>
            <p:ph type="subTitle" idx="1"/>
          </p:nvPr>
        </p:nvSpPr>
        <p:spPr>
          <a:xfrm>
            <a:off x="1143000" y="2701528"/>
            <a:ext cx="6858000" cy="124182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750"/>
              </a:spcBef>
              <a:spcAft>
                <a:spcPts val="0"/>
              </a:spcAft>
              <a:buClr>
                <a:schemeClr val="dk1"/>
              </a:buClr>
              <a:buSzPts val="1800"/>
              <a:buNone/>
              <a:defRPr sz="1800"/>
            </a:lvl1pPr>
            <a:lvl2pPr lvl="1" algn="ctr">
              <a:lnSpc>
                <a:spcPct val="90000"/>
              </a:lnSpc>
              <a:spcBef>
                <a:spcPts val="375"/>
              </a:spcBef>
              <a:spcAft>
                <a:spcPts val="0"/>
              </a:spcAft>
              <a:buClr>
                <a:schemeClr val="dk1"/>
              </a:buClr>
              <a:buSzPts val="1500"/>
              <a:buNone/>
              <a:defRPr sz="1500"/>
            </a:lvl2pPr>
            <a:lvl3pPr lvl="2" algn="ctr">
              <a:lnSpc>
                <a:spcPct val="90000"/>
              </a:lnSpc>
              <a:spcBef>
                <a:spcPts val="375"/>
              </a:spcBef>
              <a:spcAft>
                <a:spcPts val="0"/>
              </a:spcAft>
              <a:buClr>
                <a:schemeClr val="dk1"/>
              </a:buClr>
              <a:buSzPts val="1350"/>
              <a:buNone/>
              <a:defRPr sz="1350"/>
            </a:lvl3pPr>
            <a:lvl4pPr lvl="3" algn="ctr">
              <a:lnSpc>
                <a:spcPct val="90000"/>
              </a:lnSpc>
              <a:spcBef>
                <a:spcPts val="375"/>
              </a:spcBef>
              <a:spcAft>
                <a:spcPts val="0"/>
              </a:spcAft>
              <a:buClr>
                <a:schemeClr val="dk1"/>
              </a:buClr>
              <a:buSzPts val="1200"/>
              <a:buNone/>
              <a:defRPr sz="1200"/>
            </a:lvl4pPr>
            <a:lvl5pPr lvl="4" algn="ctr">
              <a:lnSpc>
                <a:spcPct val="90000"/>
              </a:lnSpc>
              <a:spcBef>
                <a:spcPts val="375"/>
              </a:spcBef>
              <a:spcAft>
                <a:spcPts val="0"/>
              </a:spcAft>
              <a:buClr>
                <a:schemeClr val="dk1"/>
              </a:buClr>
              <a:buSzPts val="1200"/>
              <a:buNone/>
              <a:defRPr sz="1200"/>
            </a:lvl5pPr>
            <a:lvl6pPr lvl="5" algn="ctr">
              <a:lnSpc>
                <a:spcPct val="90000"/>
              </a:lnSpc>
              <a:spcBef>
                <a:spcPts val="375"/>
              </a:spcBef>
              <a:spcAft>
                <a:spcPts val="0"/>
              </a:spcAft>
              <a:buClr>
                <a:schemeClr val="dk1"/>
              </a:buClr>
              <a:buSzPts val="1200"/>
              <a:buNone/>
              <a:defRPr sz="1200"/>
            </a:lvl6pPr>
            <a:lvl7pPr lvl="6" algn="ctr">
              <a:lnSpc>
                <a:spcPct val="90000"/>
              </a:lnSpc>
              <a:spcBef>
                <a:spcPts val="375"/>
              </a:spcBef>
              <a:spcAft>
                <a:spcPts val="0"/>
              </a:spcAft>
              <a:buClr>
                <a:schemeClr val="dk1"/>
              </a:buClr>
              <a:buSzPts val="1200"/>
              <a:buNone/>
              <a:defRPr sz="1200"/>
            </a:lvl7pPr>
            <a:lvl8pPr lvl="7" algn="ctr">
              <a:lnSpc>
                <a:spcPct val="90000"/>
              </a:lnSpc>
              <a:spcBef>
                <a:spcPts val="375"/>
              </a:spcBef>
              <a:spcAft>
                <a:spcPts val="0"/>
              </a:spcAft>
              <a:buClr>
                <a:schemeClr val="dk1"/>
              </a:buClr>
              <a:buSzPts val="1200"/>
              <a:buNone/>
              <a:defRPr sz="1200"/>
            </a:lvl8pPr>
            <a:lvl9pPr lvl="8" algn="ctr">
              <a:lnSpc>
                <a:spcPct val="90000"/>
              </a:lnSpc>
              <a:spcBef>
                <a:spcPts val="375"/>
              </a:spcBef>
              <a:spcAft>
                <a:spcPts val="0"/>
              </a:spcAft>
              <a:buClr>
                <a:schemeClr val="dk1"/>
              </a:buClr>
              <a:buSzPts val="1200"/>
              <a:buNone/>
              <a:defRPr sz="1200"/>
            </a:lvl9pPr>
          </a:lstStyle>
          <a:p>
            <a:endParaRPr/>
          </a:p>
        </p:txBody>
      </p:sp>
      <p:sp>
        <p:nvSpPr>
          <p:cNvPr id="174" name="Google Shape;174;p42"/>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75" name="Google Shape;175;p42"/>
          <p:cNvSpPr txBox="1">
            <a:spLocks noGrp="1"/>
          </p:cNvSpPr>
          <p:nvPr>
            <p:ph type="ftr" idx="11"/>
          </p:nvPr>
        </p:nvSpPr>
        <p:spPr>
          <a:xfrm>
            <a:off x="3028950" y="4767263"/>
            <a:ext cx="3086100" cy="27384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76" name="Google Shape;176;p42"/>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77"/>
        <p:cNvGrpSpPr/>
        <p:nvPr/>
      </p:nvGrpSpPr>
      <p:grpSpPr>
        <a:xfrm>
          <a:off x="0" y="0"/>
          <a:ext cx="0" cy="0"/>
          <a:chOff x="0" y="0"/>
          <a:chExt cx="0" cy="0"/>
        </a:xfrm>
      </p:grpSpPr>
      <p:sp>
        <p:nvSpPr>
          <p:cNvPr id="178" name="Google Shape;178;p43"/>
          <p:cNvSpPr txBox="1">
            <a:spLocks noGrp="1"/>
          </p:cNvSpPr>
          <p:nvPr>
            <p:ph type="title"/>
          </p:nvPr>
        </p:nvSpPr>
        <p:spPr>
          <a:xfrm>
            <a:off x="623888" y="1282304"/>
            <a:ext cx="7886700" cy="2139553"/>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4500"/>
              <a:buFont typeface="Arial"/>
              <a:buNone/>
              <a:defRPr sz="45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9" name="Google Shape;179;p43"/>
          <p:cNvSpPr txBox="1">
            <a:spLocks noGrp="1"/>
          </p:cNvSpPr>
          <p:nvPr>
            <p:ph type="body" idx="1"/>
          </p:nvPr>
        </p:nvSpPr>
        <p:spPr>
          <a:xfrm>
            <a:off x="623888" y="3442098"/>
            <a:ext cx="7886700" cy="112514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750"/>
              </a:spcBef>
              <a:spcAft>
                <a:spcPts val="0"/>
              </a:spcAft>
              <a:buClr>
                <a:srgbClr val="888888"/>
              </a:buClr>
              <a:buSzPts val="1800"/>
              <a:buNone/>
              <a:defRPr sz="1800">
                <a:solidFill>
                  <a:srgbClr val="888888"/>
                </a:solidFill>
              </a:defRPr>
            </a:lvl1pPr>
            <a:lvl2pPr marL="914400" lvl="1" indent="-228600" algn="l">
              <a:lnSpc>
                <a:spcPct val="90000"/>
              </a:lnSpc>
              <a:spcBef>
                <a:spcPts val="375"/>
              </a:spcBef>
              <a:spcAft>
                <a:spcPts val="0"/>
              </a:spcAft>
              <a:buClr>
                <a:srgbClr val="888888"/>
              </a:buClr>
              <a:buSzPts val="1500"/>
              <a:buNone/>
              <a:defRPr sz="1500">
                <a:solidFill>
                  <a:srgbClr val="888888"/>
                </a:solidFill>
              </a:defRPr>
            </a:lvl2pPr>
            <a:lvl3pPr marL="1371600" lvl="2" indent="-228600" algn="l">
              <a:lnSpc>
                <a:spcPct val="90000"/>
              </a:lnSpc>
              <a:spcBef>
                <a:spcPts val="375"/>
              </a:spcBef>
              <a:spcAft>
                <a:spcPts val="0"/>
              </a:spcAft>
              <a:buClr>
                <a:srgbClr val="888888"/>
              </a:buClr>
              <a:buSzPts val="1350"/>
              <a:buNone/>
              <a:defRPr sz="1350">
                <a:solidFill>
                  <a:srgbClr val="888888"/>
                </a:solidFill>
              </a:defRPr>
            </a:lvl3pPr>
            <a:lvl4pPr marL="1828800" lvl="3" indent="-228600" algn="l">
              <a:lnSpc>
                <a:spcPct val="90000"/>
              </a:lnSpc>
              <a:spcBef>
                <a:spcPts val="375"/>
              </a:spcBef>
              <a:spcAft>
                <a:spcPts val="0"/>
              </a:spcAft>
              <a:buClr>
                <a:srgbClr val="888888"/>
              </a:buClr>
              <a:buSzPts val="1200"/>
              <a:buNone/>
              <a:defRPr sz="1200">
                <a:solidFill>
                  <a:srgbClr val="888888"/>
                </a:solidFill>
              </a:defRPr>
            </a:lvl4pPr>
            <a:lvl5pPr marL="2286000" lvl="4" indent="-228600" algn="l">
              <a:lnSpc>
                <a:spcPct val="90000"/>
              </a:lnSpc>
              <a:spcBef>
                <a:spcPts val="375"/>
              </a:spcBef>
              <a:spcAft>
                <a:spcPts val="0"/>
              </a:spcAft>
              <a:buClr>
                <a:srgbClr val="888888"/>
              </a:buClr>
              <a:buSzPts val="1200"/>
              <a:buNone/>
              <a:defRPr sz="1200">
                <a:solidFill>
                  <a:srgbClr val="888888"/>
                </a:solidFill>
              </a:defRPr>
            </a:lvl5pPr>
            <a:lvl6pPr marL="2743200" lvl="5" indent="-228600" algn="l">
              <a:lnSpc>
                <a:spcPct val="90000"/>
              </a:lnSpc>
              <a:spcBef>
                <a:spcPts val="375"/>
              </a:spcBef>
              <a:spcAft>
                <a:spcPts val="0"/>
              </a:spcAft>
              <a:buClr>
                <a:srgbClr val="888888"/>
              </a:buClr>
              <a:buSzPts val="1200"/>
              <a:buNone/>
              <a:defRPr sz="1200">
                <a:solidFill>
                  <a:srgbClr val="888888"/>
                </a:solidFill>
              </a:defRPr>
            </a:lvl6pPr>
            <a:lvl7pPr marL="3200400" lvl="6" indent="-228600" algn="l">
              <a:lnSpc>
                <a:spcPct val="90000"/>
              </a:lnSpc>
              <a:spcBef>
                <a:spcPts val="375"/>
              </a:spcBef>
              <a:spcAft>
                <a:spcPts val="0"/>
              </a:spcAft>
              <a:buClr>
                <a:srgbClr val="888888"/>
              </a:buClr>
              <a:buSzPts val="1200"/>
              <a:buNone/>
              <a:defRPr sz="1200">
                <a:solidFill>
                  <a:srgbClr val="888888"/>
                </a:solidFill>
              </a:defRPr>
            </a:lvl7pPr>
            <a:lvl8pPr marL="3657600" lvl="7" indent="-228600" algn="l">
              <a:lnSpc>
                <a:spcPct val="90000"/>
              </a:lnSpc>
              <a:spcBef>
                <a:spcPts val="375"/>
              </a:spcBef>
              <a:spcAft>
                <a:spcPts val="0"/>
              </a:spcAft>
              <a:buClr>
                <a:srgbClr val="888888"/>
              </a:buClr>
              <a:buSzPts val="1200"/>
              <a:buNone/>
              <a:defRPr sz="1200">
                <a:solidFill>
                  <a:srgbClr val="888888"/>
                </a:solidFill>
              </a:defRPr>
            </a:lvl8pPr>
            <a:lvl9pPr marL="4114800" lvl="8" indent="-228600" algn="l">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180" name="Google Shape;180;p43"/>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1" name="Google Shape;181;p43"/>
          <p:cNvSpPr txBox="1">
            <a:spLocks noGrp="1"/>
          </p:cNvSpPr>
          <p:nvPr>
            <p:ph type="ftr" idx="11"/>
          </p:nvPr>
        </p:nvSpPr>
        <p:spPr>
          <a:xfrm>
            <a:off x="3028950" y="4767263"/>
            <a:ext cx="3086100" cy="27384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2" name="Google Shape;182;p43"/>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183"/>
        <p:cNvGrpSpPr/>
        <p:nvPr/>
      </p:nvGrpSpPr>
      <p:grpSpPr>
        <a:xfrm>
          <a:off x="0" y="0"/>
          <a:ext cx="0" cy="0"/>
          <a:chOff x="0" y="0"/>
          <a:chExt cx="0" cy="0"/>
        </a:xfrm>
      </p:grpSpPr>
      <p:sp>
        <p:nvSpPr>
          <p:cNvPr id="184" name="Google Shape;184;p44"/>
          <p:cNvSpPr txBox="1">
            <a:spLocks noGrp="1"/>
          </p:cNvSpPr>
          <p:nvPr>
            <p:ph type="title"/>
          </p:nvPr>
        </p:nvSpPr>
        <p:spPr>
          <a:xfrm>
            <a:off x="628650" y="273844"/>
            <a:ext cx="7886700" cy="99417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85" name="Google Shape;185;p44"/>
          <p:cNvSpPr txBox="1">
            <a:spLocks noGrp="1"/>
          </p:cNvSpPr>
          <p:nvPr>
            <p:ph type="body" idx="1"/>
          </p:nvPr>
        </p:nvSpPr>
        <p:spPr>
          <a:xfrm>
            <a:off x="628650" y="1369219"/>
            <a:ext cx="3886200" cy="3263504"/>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186" name="Google Shape;186;p44"/>
          <p:cNvSpPr txBox="1">
            <a:spLocks noGrp="1"/>
          </p:cNvSpPr>
          <p:nvPr>
            <p:ph type="body" idx="2"/>
          </p:nvPr>
        </p:nvSpPr>
        <p:spPr>
          <a:xfrm>
            <a:off x="4629150" y="1369219"/>
            <a:ext cx="3886200" cy="3263504"/>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187" name="Google Shape;187;p44"/>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8" name="Google Shape;188;p44"/>
          <p:cNvSpPr txBox="1">
            <a:spLocks noGrp="1"/>
          </p:cNvSpPr>
          <p:nvPr>
            <p:ph type="ftr" idx="11"/>
          </p:nvPr>
        </p:nvSpPr>
        <p:spPr>
          <a:xfrm>
            <a:off x="3028950" y="4767263"/>
            <a:ext cx="3086100" cy="27384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9" name="Google Shape;189;p44"/>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90"/>
        <p:cNvGrpSpPr/>
        <p:nvPr/>
      </p:nvGrpSpPr>
      <p:grpSpPr>
        <a:xfrm>
          <a:off x="0" y="0"/>
          <a:ext cx="0" cy="0"/>
          <a:chOff x="0" y="0"/>
          <a:chExt cx="0" cy="0"/>
        </a:xfrm>
      </p:grpSpPr>
      <p:sp>
        <p:nvSpPr>
          <p:cNvPr id="191" name="Google Shape;191;p45"/>
          <p:cNvSpPr txBox="1">
            <a:spLocks noGrp="1"/>
          </p:cNvSpPr>
          <p:nvPr>
            <p:ph type="title"/>
          </p:nvPr>
        </p:nvSpPr>
        <p:spPr>
          <a:xfrm>
            <a:off x="628650" y="273844"/>
            <a:ext cx="7886700" cy="99417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2" name="Google Shape;192;p45"/>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3" name="Google Shape;193;p45"/>
          <p:cNvSpPr txBox="1">
            <a:spLocks noGrp="1"/>
          </p:cNvSpPr>
          <p:nvPr>
            <p:ph type="ftr" idx="11"/>
          </p:nvPr>
        </p:nvSpPr>
        <p:spPr>
          <a:xfrm>
            <a:off x="3028950" y="4767263"/>
            <a:ext cx="3086100" cy="27384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4" name="Google Shape;194;p45"/>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195"/>
        <p:cNvGrpSpPr/>
        <p:nvPr/>
      </p:nvGrpSpPr>
      <p:grpSpPr>
        <a:xfrm>
          <a:off x="0" y="0"/>
          <a:ext cx="0" cy="0"/>
          <a:chOff x="0" y="0"/>
          <a:chExt cx="0" cy="0"/>
        </a:xfrm>
      </p:grpSpPr>
      <p:sp>
        <p:nvSpPr>
          <p:cNvPr id="196" name="Google Shape;196;p46"/>
          <p:cNvSpPr txBox="1">
            <a:spLocks noGrp="1"/>
          </p:cNvSpPr>
          <p:nvPr>
            <p:ph type="title"/>
          </p:nvPr>
        </p:nvSpPr>
        <p:spPr>
          <a:xfrm>
            <a:off x="629841" y="342900"/>
            <a:ext cx="2949178" cy="120015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7" name="Google Shape;197;p46"/>
          <p:cNvSpPr txBox="1">
            <a:spLocks noGrp="1"/>
          </p:cNvSpPr>
          <p:nvPr>
            <p:ph type="body" idx="1"/>
          </p:nvPr>
        </p:nvSpPr>
        <p:spPr>
          <a:xfrm>
            <a:off x="3887391" y="740569"/>
            <a:ext cx="4629150" cy="3655219"/>
          </a:xfrm>
          <a:prstGeom prst="rect">
            <a:avLst/>
          </a:prstGeom>
          <a:noFill/>
          <a:ln>
            <a:noFill/>
          </a:ln>
        </p:spPr>
        <p:txBody>
          <a:bodyPr spcFirstLastPara="1" wrap="square" lIns="91425" tIns="45700" rIns="91425" bIns="45700" anchor="t" anchorCtr="0">
            <a:normAutofit/>
          </a:bodyPr>
          <a:lstStyle>
            <a:lvl1pPr marL="457200" lvl="0" indent="-381000" algn="l">
              <a:lnSpc>
                <a:spcPct val="90000"/>
              </a:lnSpc>
              <a:spcBef>
                <a:spcPts val="750"/>
              </a:spcBef>
              <a:spcAft>
                <a:spcPts val="0"/>
              </a:spcAft>
              <a:buClr>
                <a:schemeClr val="dk1"/>
              </a:buClr>
              <a:buSzPts val="2400"/>
              <a:buChar char="•"/>
              <a:defRPr sz="2400"/>
            </a:lvl1pPr>
            <a:lvl2pPr marL="914400" lvl="1" indent="-361950" algn="l">
              <a:lnSpc>
                <a:spcPct val="90000"/>
              </a:lnSpc>
              <a:spcBef>
                <a:spcPts val="375"/>
              </a:spcBef>
              <a:spcAft>
                <a:spcPts val="0"/>
              </a:spcAft>
              <a:buClr>
                <a:schemeClr val="dk1"/>
              </a:buClr>
              <a:buSzPts val="2100"/>
              <a:buChar char="•"/>
              <a:defRPr sz="2100"/>
            </a:lvl2pPr>
            <a:lvl3pPr marL="1371600" lvl="2" indent="-342900" algn="l">
              <a:lnSpc>
                <a:spcPct val="90000"/>
              </a:lnSpc>
              <a:spcBef>
                <a:spcPts val="375"/>
              </a:spcBef>
              <a:spcAft>
                <a:spcPts val="0"/>
              </a:spcAft>
              <a:buClr>
                <a:schemeClr val="dk1"/>
              </a:buClr>
              <a:buSzPts val="1800"/>
              <a:buChar char="•"/>
              <a:defRPr sz="1800"/>
            </a:lvl3pPr>
            <a:lvl4pPr marL="1828800" lvl="3" indent="-323850" algn="l">
              <a:lnSpc>
                <a:spcPct val="90000"/>
              </a:lnSpc>
              <a:spcBef>
                <a:spcPts val="375"/>
              </a:spcBef>
              <a:spcAft>
                <a:spcPts val="0"/>
              </a:spcAft>
              <a:buClr>
                <a:schemeClr val="dk1"/>
              </a:buClr>
              <a:buSzPts val="1500"/>
              <a:buChar char="•"/>
              <a:defRPr sz="1500"/>
            </a:lvl4pPr>
            <a:lvl5pPr marL="2286000" lvl="4" indent="-323850" algn="l">
              <a:lnSpc>
                <a:spcPct val="90000"/>
              </a:lnSpc>
              <a:spcBef>
                <a:spcPts val="375"/>
              </a:spcBef>
              <a:spcAft>
                <a:spcPts val="0"/>
              </a:spcAft>
              <a:buClr>
                <a:schemeClr val="dk1"/>
              </a:buClr>
              <a:buSzPts val="1500"/>
              <a:buChar char="•"/>
              <a:defRPr sz="1500"/>
            </a:lvl5pPr>
            <a:lvl6pPr marL="2743200" lvl="5" indent="-323850" algn="l">
              <a:lnSpc>
                <a:spcPct val="90000"/>
              </a:lnSpc>
              <a:spcBef>
                <a:spcPts val="375"/>
              </a:spcBef>
              <a:spcAft>
                <a:spcPts val="0"/>
              </a:spcAft>
              <a:buClr>
                <a:schemeClr val="dk1"/>
              </a:buClr>
              <a:buSzPts val="1500"/>
              <a:buChar char="•"/>
              <a:defRPr sz="1500"/>
            </a:lvl6pPr>
            <a:lvl7pPr marL="3200400" lvl="6" indent="-323850" algn="l">
              <a:lnSpc>
                <a:spcPct val="90000"/>
              </a:lnSpc>
              <a:spcBef>
                <a:spcPts val="375"/>
              </a:spcBef>
              <a:spcAft>
                <a:spcPts val="0"/>
              </a:spcAft>
              <a:buClr>
                <a:schemeClr val="dk1"/>
              </a:buClr>
              <a:buSzPts val="1500"/>
              <a:buChar char="•"/>
              <a:defRPr sz="1500"/>
            </a:lvl7pPr>
            <a:lvl8pPr marL="3657600" lvl="7" indent="-323850" algn="l">
              <a:lnSpc>
                <a:spcPct val="90000"/>
              </a:lnSpc>
              <a:spcBef>
                <a:spcPts val="375"/>
              </a:spcBef>
              <a:spcAft>
                <a:spcPts val="0"/>
              </a:spcAft>
              <a:buClr>
                <a:schemeClr val="dk1"/>
              </a:buClr>
              <a:buSzPts val="1500"/>
              <a:buChar char="•"/>
              <a:defRPr sz="1500"/>
            </a:lvl8pPr>
            <a:lvl9pPr marL="4114800" lvl="8" indent="-323850" algn="l">
              <a:lnSpc>
                <a:spcPct val="90000"/>
              </a:lnSpc>
              <a:spcBef>
                <a:spcPts val="375"/>
              </a:spcBef>
              <a:spcAft>
                <a:spcPts val="0"/>
              </a:spcAft>
              <a:buClr>
                <a:schemeClr val="dk1"/>
              </a:buClr>
              <a:buSzPts val="1500"/>
              <a:buChar char="•"/>
              <a:defRPr sz="1500"/>
            </a:lvl9pPr>
          </a:lstStyle>
          <a:p>
            <a:endParaRPr/>
          </a:p>
        </p:txBody>
      </p:sp>
      <p:sp>
        <p:nvSpPr>
          <p:cNvPr id="198" name="Google Shape;198;p46"/>
          <p:cNvSpPr txBox="1">
            <a:spLocks noGrp="1"/>
          </p:cNvSpPr>
          <p:nvPr>
            <p:ph type="body" idx="2"/>
          </p:nvPr>
        </p:nvSpPr>
        <p:spPr>
          <a:xfrm>
            <a:off x="629841" y="1543050"/>
            <a:ext cx="2949178" cy="2858691"/>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750"/>
              </a:spcBef>
              <a:spcAft>
                <a:spcPts val="0"/>
              </a:spcAft>
              <a:buClr>
                <a:schemeClr val="dk1"/>
              </a:buClr>
              <a:buSzPts val="1200"/>
              <a:buNone/>
              <a:defRPr sz="1200"/>
            </a:lvl1pPr>
            <a:lvl2pPr marL="914400" lvl="1" indent="-228600" algn="l">
              <a:lnSpc>
                <a:spcPct val="90000"/>
              </a:lnSpc>
              <a:spcBef>
                <a:spcPts val="375"/>
              </a:spcBef>
              <a:spcAft>
                <a:spcPts val="0"/>
              </a:spcAft>
              <a:buClr>
                <a:schemeClr val="dk1"/>
              </a:buClr>
              <a:buSzPts val="1050"/>
              <a:buNone/>
              <a:defRPr sz="1050"/>
            </a:lvl2pPr>
            <a:lvl3pPr marL="1371600" lvl="2" indent="-228600" algn="l">
              <a:lnSpc>
                <a:spcPct val="90000"/>
              </a:lnSpc>
              <a:spcBef>
                <a:spcPts val="375"/>
              </a:spcBef>
              <a:spcAft>
                <a:spcPts val="0"/>
              </a:spcAft>
              <a:buClr>
                <a:schemeClr val="dk1"/>
              </a:buClr>
              <a:buSzPts val="900"/>
              <a:buNone/>
              <a:defRPr sz="900"/>
            </a:lvl3pPr>
            <a:lvl4pPr marL="1828800" lvl="3" indent="-228600" algn="l">
              <a:lnSpc>
                <a:spcPct val="90000"/>
              </a:lnSpc>
              <a:spcBef>
                <a:spcPts val="375"/>
              </a:spcBef>
              <a:spcAft>
                <a:spcPts val="0"/>
              </a:spcAft>
              <a:buClr>
                <a:schemeClr val="dk1"/>
              </a:buClr>
              <a:buSzPts val="750"/>
              <a:buNone/>
              <a:defRPr sz="750"/>
            </a:lvl4pPr>
            <a:lvl5pPr marL="2286000" lvl="4" indent="-228600" algn="l">
              <a:lnSpc>
                <a:spcPct val="90000"/>
              </a:lnSpc>
              <a:spcBef>
                <a:spcPts val="375"/>
              </a:spcBef>
              <a:spcAft>
                <a:spcPts val="0"/>
              </a:spcAft>
              <a:buClr>
                <a:schemeClr val="dk1"/>
              </a:buClr>
              <a:buSzPts val="750"/>
              <a:buNone/>
              <a:defRPr sz="750"/>
            </a:lvl5pPr>
            <a:lvl6pPr marL="2743200" lvl="5" indent="-228600" algn="l">
              <a:lnSpc>
                <a:spcPct val="90000"/>
              </a:lnSpc>
              <a:spcBef>
                <a:spcPts val="375"/>
              </a:spcBef>
              <a:spcAft>
                <a:spcPts val="0"/>
              </a:spcAft>
              <a:buClr>
                <a:schemeClr val="dk1"/>
              </a:buClr>
              <a:buSzPts val="750"/>
              <a:buNone/>
              <a:defRPr sz="750"/>
            </a:lvl6pPr>
            <a:lvl7pPr marL="3200400" lvl="6" indent="-228600" algn="l">
              <a:lnSpc>
                <a:spcPct val="90000"/>
              </a:lnSpc>
              <a:spcBef>
                <a:spcPts val="375"/>
              </a:spcBef>
              <a:spcAft>
                <a:spcPts val="0"/>
              </a:spcAft>
              <a:buClr>
                <a:schemeClr val="dk1"/>
              </a:buClr>
              <a:buSzPts val="750"/>
              <a:buNone/>
              <a:defRPr sz="750"/>
            </a:lvl7pPr>
            <a:lvl8pPr marL="3657600" lvl="7" indent="-228600" algn="l">
              <a:lnSpc>
                <a:spcPct val="90000"/>
              </a:lnSpc>
              <a:spcBef>
                <a:spcPts val="375"/>
              </a:spcBef>
              <a:spcAft>
                <a:spcPts val="0"/>
              </a:spcAft>
              <a:buClr>
                <a:schemeClr val="dk1"/>
              </a:buClr>
              <a:buSzPts val="750"/>
              <a:buNone/>
              <a:defRPr sz="750"/>
            </a:lvl8pPr>
            <a:lvl9pPr marL="4114800" lvl="8" indent="-228600" algn="l">
              <a:lnSpc>
                <a:spcPct val="90000"/>
              </a:lnSpc>
              <a:spcBef>
                <a:spcPts val="375"/>
              </a:spcBef>
              <a:spcAft>
                <a:spcPts val="0"/>
              </a:spcAft>
              <a:buClr>
                <a:schemeClr val="dk1"/>
              </a:buClr>
              <a:buSzPts val="750"/>
              <a:buNone/>
              <a:defRPr sz="750"/>
            </a:lvl9pPr>
          </a:lstStyle>
          <a:p>
            <a:endParaRPr/>
          </a:p>
        </p:txBody>
      </p:sp>
      <p:sp>
        <p:nvSpPr>
          <p:cNvPr id="199" name="Google Shape;199;p46"/>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0" name="Google Shape;200;p46"/>
          <p:cNvSpPr txBox="1">
            <a:spLocks noGrp="1"/>
          </p:cNvSpPr>
          <p:nvPr>
            <p:ph type="ftr" idx="11"/>
          </p:nvPr>
        </p:nvSpPr>
        <p:spPr>
          <a:xfrm>
            <a:off x="3028950" y="4767263"/>
            <a:ext cx="3086100" cy="27384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1" name="Google Shape;201;p46"/>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202"/>
        <p:cNvGrpSpPr/>
        <p:nvPr/>
      </p:nvGrpSpPr>
      <p:grpSpPr>
        <a:xfrm>
          <a:off x="0" y="0"/>
          <a:ext cx="0" cy="0"/>
          <a:chOff x="0" y="0"/>
          <a:chExt cx="0" cy="0"/>
        </a:xfrm>
      </p:grpSpPr>
      <p:sp>
        <p:nvSpPr>
          <p:cNvPr id="203" name="Google Shape;203;p47"/>
          <p:cNvSpPr txBox="1">
            <a:spLocks noGrp="1"/>
          </p:cNvSpPr>
          <p:nvPr>
            <p:ph type="title"/>
          </p:nvPr>
        </p:nvSpPr>
        <p:spPr>
          <a:xfrm>
            <a:off x="629841" y="342900"/>
            <a:ext cx="2949178" cy="120015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04" name="Google Shape;204;p47"/>
          <p:cNvSpPr>
            <a:spLocks noGrp="1"/>
          </p:cNvSpPr>
          <p:nvPr>
            <p:ph type="pic" idx="2"/>
          </p:nvPr>
        </p:nvSpPr>
        <p:spPr>
          <a:xfrm>
            <a:off x="3887391" y="740569"/>
            <a:ext cx="4629150" cy="3655219"/>
          </a:xfrm>
          <a:prstGeom prst="rect">
            <a:avLst/>
          </a:prstGeom>
          <a:noFill/>
          <a:ln>
            <a:noFill/>
          </a:ln>
        </p:spPr>
      </p:sp>
      <p:sp>
        <p:nvSpPr>
          <p:cNvPr id="205" name="Google Shape;205;p47"/>
          <p:cNvSpPr txBox="1">
            <a:spLocks noGrp="1"/>
          </p:cNvSpPr>
          <p:nvPr>
            <p:ph type="body" idx="1"/>
          </p:nvPr>
        </p:nvSpPr>
        <p:spPr>
          <a:xfrm>
            <a:off x="629841" y="1543050"/>
            <a:ext cx="2949178" cy="2858691"/>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750"/>
              </a:spcBef>
              <a:spcAft>
                <a:spcPts val="0"/>
              </a:spcAft>
              <a:buClr>
                <a:schemeClr val="dk1"/>
              </a:buClr>
              <a:buSzPts val="1200"/>
              <a:buNone/>
              <a:defRPr sz="1200"/>
            </a:lvl1pPr>
            <a:lvl2pPr marL="914400" lvl="1" indent="-228600" algn="l">
              <a:lnSpc>
                <a:spcPct val="90000"/>
              </a:lnSpc>
              <a:spcBef>
                <a:spcPts val="375"/>
              </a:spcBef>
              <a:spcAft>
                <a:spcPts val="0"/>
              </a:spcAft>
              <a:buClr>
                <a:schemeClr val="dk1"/>
              </a:buClr>
              <a:buSzPts val="1050"/>
              <a:buNone/>
              <a:defRPr sz="1050"/>
            </a:lvl2pPr>
            <a:lvl3pPr marL="1371600" lvl="2" indent="-228600" algn="l">
              <a:lnSpc>
                <a:spcPct val="90000"/>
              </a:lnSpc>
              <a:spcBef>
                <a:spcPts val="375"/>
              </a:spcBef>
              <a:spcAft>
                <a:spcPts val="0"/>
              </a:spcAft>
              <a:buClr>
                <a:schemeClr val="dk1"/>
              </a:buClr>
              <a:buSzPts val="900"/>
              <a:buNone/>
              <a:defRPr sz="900"/>
            </a:lvl3pPr>
            <a:lvl4pPr marL="1828800" lvl="3" indent="-228600" algn="l">
              <a:lnSpc>
                <a:spcPct val="90000"/>
              </a:lnSpc>
              <a:spcBef>
                <a:spcPts val="375"/>
              </a:spcBef>
              <a:spcAft>
                <a:spcPts val="0"/>
              </a:spcAft>
              <a:buClr>
                <a:schemeClr val="dk1"/>
              </a:buClr>
              <a:buSzPts val="750"/>
              <a:buNone/>
              <a:defRPr sz="750"/>
            </a:lvl4pPr>
            <a:lvl5pPr marL="2286000" lvl="4" indent="-228600" algn="l">
              <a:lnSpc>
                <a:spcPct val="90000"/>
              </a:lnSpc>
              <a:spcBef>
                <a:spcPts val="375"/>
              </a:spcBef>
              <a:spcAft>
                <a:spcPts val="0"/>
              </a:spcAft>
              <a:buClr>
                <a:schemeClr val="dk1"/>
              </a:buClr>
              <a:buSzPts val="750"/>
              <a:buNone/>
              <a:defRPr sz="750"/>
            </a:lvl5pPr>
            <a:lvl6pPr marL="2743200" lvl="5" indent="-228600" algn="l">
              <a:lnSpc>
                <a:spcPct val="90000"/>
              </a:lnSpc>
              <a:spcBef>
                <a:spcPts val="375"/>
              </a:spcBef>
              <a:spcAft>
                <a:spcPts val="0"/>
              </a:spcAft>
              <a:buClr>
                <a:schemeClr val="dk1"/>
              </a:buClr>
              <a:buSzPts val="750"/>
              <a:buNone/>
              <a:defRPr sz="750"/>
            </a:lvl6pPr>
            <a:lvl7pPr marL="3200400" lvl="6" indent="-228600" algn="l">
              <a:lnSpc>
                <a:spcPct val="90000"/>
              </a:lnSpc>
              <a:spcBef>
                <a:spcPts val="375"/>
              </a:spcBef>
              <a:spcAft>
                <a:spcPts val="0"/>
              </a:spcAft>
              <a:buClr>
                <a:schemeClr val="dk1"/>
              </a:buClr>
              <a:buSzPts val="750"/>
              <a:buNone/>
              <a:defRPr sz="750"/>
            </a:lvl7pPr>
            <a:lvl8pPr marL="3657600" lvl="7" indent="-228600" algn="l">
              <a:lnSpc>
                <a:spcPct val="90000"/>
              </a:lnSpc>
              <a:spcBef>
                <a:spcPts val="375"/>
              </a:spcBef>
              <a:spcAft>
                <a:spcPts val="0"/>
              </a:spcAft>
              <a:buClr>
                <a:schemeClr val="dk1"/>
              </a:buClr>
              <a:buSzPts val="750"/>
              <a:buNone/>
              <a:defRPr sz="750"/>
            </a:lvl8pPr>
            <a:lvl9pPr marL="4114800" lvl="8" indent="-228600" algn="l">
              <a:lnSpc>
                <a:spcPct val="90000"/>
              </a:lnSpc>
              <a:spcBef>
                <a:spcPts val="375"/>
              </a:spcBef>
              <a:spcAft>
                <a:spcPts val="0"/>
              </a:spcAft>
              <a:buClr>
                <a:schemeClr val="dk1"/>
              </a:buClr>
              <a:buSzPts val="750"/>
              <a:buNone/>
              <a:defRPr sz="750"/>
            </a:lvl9pPr>
          </a:lstStyle>
          <a:p>
            <a:endParaRPr/>
          </a:p>
        </p:txBody>
      </p:sp>
      <p:sp>
        <p:nvSpPr>
          <p:cNvPr id="206" name="Google Shape;206;p47"/>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7" name="Google Shape;207;p47"/>
          <p:cNvSpPr txBox="1">
            <a:spLocks noGrp="1"/>
          </p:cNvSpPr>
          <p:nvPr>
            <p:ph type="ftr" idx="11"/>
          </p:nvPr>
        </p:nvSpPr>
        <p:spPr>
          <a:xfrm>
            <a:off x="3028950" y="4767263"/>
            <a:ext cx="3086100" cy="27384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8" name="Google Shape;208;p47"/>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209"/>
        <p:cNvGrpSpPr/>
        <p:nvPr/>
      </p:nvGrpSpPr>
      <p:grpSpPr>
        <a:xfrm>
          <a:off x="0" y="0"/>
          <a:ext cx="0" cy="0"/>
          <a:chOff x="0" y="0"/>
          <a:chExt cx="0" cy="0"/>
        </a:xfrm>
      </p:grpSpPr>
      <p:sp>
        <p:nvSpPr>
          <p:cNvPr id="210" name="Google Shape;210;p48"/>
          <p:cNvSpPr txBox="1">
            <a:spLocks noGrp="1"/>
          </p:cNvSpPr>
          <p:nvPr>
            <p:ph type="title"/>
          </p:nvPr>
        </p:nvSpPr>
        <p:spPr>
          <a:xfrm>
            <a:off x="628650" y="273844"/>
            <a:ext cx="7886700" cy="99417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11" name="Google Shape;211;p48"/>
          <p:cNvSpPr txBox="1">
            <a:spLocks noGrp="1"/>
          </p:cNvSpPr>
          <p:nvPr>
            <p:ph type="body" idx="1"/>
          </p:nvPr>
        </p:nvSpPr>
        <p:spPr>
          <a:xfrm rot="5400000">
            <a:off x="2940248" y="-942379"/>
            <a:ext cx="3263504" cy="78867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212" name="Google Shape;212;p48"/>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3" name="Google Shape;213;p48"/>
          <p:cNvSpPr txBox="1">
            <a:spLocks noGrp="1"/>
          </p:cNvSpPr>
          <p:nvPr>
            <p:ph type="ftr" idx="11"/>
          </p:nvPr>
        </p:nvSpPr>
        <p:spPr>
          <a:xfrm>
            <a:off x="3028950" y="4767263"/>
            <a:ext cx="3086100" cy="27384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4" name="Google Shape;214;p48"/>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215"/>
        <p:cNvGrpSpPr/>
        <p:nvPr/>
      </p:nvGrpSpPr>
      <p:grpSpPr>
        <a:xfrm>
          <a:off x="0" y="0"/>
          <a:ext cx="0" cy="0"/>
          <a:chOff x="0" y="0"/>
          <a:chExt cx="0" cy="0"/>
        </a:xfrm>
      </p:grpSpPr>
      <p:sp>
        <p:nvSpPr>
          <p:cNvPr id="216" name="Google Shape;216;p49"/>
          <p:cNvSpPr txBox="1">
            <a:spLocks noGrp="1"/>
          </p:cNvSpPr>
          <p:nvPr>
            <p:ph type="title"/>
          </p:nvPr>
        </p:nvSpPr>
        <p:spPr>
          <a:xfrm rot="5400000">
            <a:off x="5350073" y="1467446"/>
            <a:ext cx="4358879" cy="1971675"/>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17" name="Google Shape;217;p49"/>
          <p:cNvSpPr txBox="1">
            <a:spLocks noGrp="1"/>
          </p:cNvSpPr>
          <p:nvPr>
            <p:ph type="body" idx="1"/>
          </p:nvPr>
        </p:nvSpPr>
        <p:spPr>
          <a:xfrm rot="5400000">
            <a:off x="1349573" y="-447079"/>
            <a:ext cx="4358879" cy="580072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218" name="Google Shape;218;p49"/>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9" name="Google Shape;219;p49"/>
          <p:cNvSpPr txBox="1">
            <a:spLocks noGrp="1"/>
          </p:cNvSpPr>
          <p:nvPr>
            <p:ph type="ftr" idx="11"/>
          </p:nvPr>
        </p:nvSpPr>
        <p:spPr>
          <a:xfrm>
            <a:off x="3028950" y="4767263"/>
            <a:ext cx="3086100" cy="27384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0" name="Google Shape;220;p49"/>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slideLayout" Target="../slideLayouts/slideLayout26.xml"/><Relationship Id="rId5" Type="http://schemas.openxmlformats.org/officeDocument/2006/relationships/slideLayout" Target="../slideLayouts/slideLayout27.xml"/><Relationship Id="rId6" Type="http://schemas.openxmlformats.org/officeDocument/2006/relationships/slideLayout" Target="../slideLayouts/slideLayout28.xml"/><Relationship Id="rId7" Type="http://schemas.openxmlformats.org/officeDocument/2006/relationships/slideLayout" Target="../slideLayouts/slideLayout29.xml"/><Relationship Id="rId8" Type="http://schemas.openxmlformats.org/officeDocument/2006/relationships/slideLayout" Target="../slideLayouts/slideLayout30.xml"/><Relationship Id="rId9" Type="http://schemas.openxmlformats.org/officeDocument/2006/relationships/slideLayout" Target="../slideLayouts/slideLayout31.xml"/><Relationship Id="rId10" Type="http://schemas.openxmlformats.org/officeDocument/2006/relationships/slideLayout" Target="../slideLayouts/slideLayout32.xml"/><Relationship Id="rId11" Type="http://schemas.openxmlformats.org/officeDocument/2006/relationships/slideLayout" Target="../slideLayouts/slideLayout33.xml"/><Relationship Id="rId12" Type="http://schemas.openxmlformats.org/officeDocument/2006/relationships/slideLayout" Target="../slideLayouts/slideLayout34.xml"/><Relationship Id="rId13"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slideLayout" Target="../slideLayouts/slideLayout36.xml"/><Relationship Id="rId3" Type="http://schemas.openxmlformats.org/officeDocument/2006/relationships/slideLayout" Target="../slideLayouts/slideLayout37.xml"/><Relationship Id="rId4" Type="http://schemas.openxmlformats.org/officeDocument/2006/relationships/slideLayout" Target="../slideLayouts/slideLayout38.xml"/><Relationship Id="rId5" Type="http://schemas.openxmlformats.org/officeDocument/2006/relationships/slideLayout" Target="../slideLayouts/slideLayout39.xml"/><Relationship Id="rId6" Type="http://schemas.openxmlformats.org/officeDocument/2006/relationships/slideLayout" Target="../slideLayouts/slideLayout40.xml"/><Relationship Id="rId7" Type="http://schemas.openxmlformats.org/officeDocument/2006/relationships/slideLayout" Target="../slideLayouts/slideLayout41.xml"/><Relationship Id="rId8" Type="http://schemas.openxmlformats.org/officeDocument/2006/relationships/slideLayout" Target="../slideLayouts/slideLayout42.xml"/><Relationship Id="rId9" Type="http://schemas.openxmlformats.org/officeDocument/2006/relationships/slideLayout" Target="../slideLayouts/slideLayout43.xml"/><Relationship Id="rId10" Type="http://schemas.openxmlformats.org/officeDocument/2006/relationships/slideLayout" Target="../slideLayouts/slideLayout44.xml"/><Relationship Id="rId11" Type="http://schemas.openxmlformats.org/officeDocument/2006/relationships/slideLayout" Target="../slideLayouts/slideLayout45.xml"/><Relationship Id="rId12"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52" name="Google Shape;52;p13"/>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53" name="Google Shape;53;p1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95"/>
        <p:cNvGrpSpPr/>
        <p:nvPr/>
      </p:nvGrpSpPr>
      <p:grpSpPr>
        <a:xfrm>
          <a:off x="0" y="0"/>
          <a:ext cx="0" cy="0"/>
          <a:chOff x="0" y="0"/>
          <a:chExt cx="0" cy="0"/>
        </a:xfrm>
      </p:grpSpPr>
      <p:sp>
        <p:nvSpPr>
          <p:cNvPr id="96" name="Google Shape;96;p25"/>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97" name="Google Shape;97;p25"/>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98" name="Google Shape;98;p2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 id="2147483681"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46"/>
        <p:cNvGrpSpPr/>
        <p:nvPr/>
      </p:nvGrpSpPr>
      <p:grpSpPr>
        <a:xfrm>
          <a:off x="0" y="0"/>
          <a:ext cx="0" cy="0"/>
          <a:chOff x="0" y="0"/>
          <a:chExt cx="0" cy="0"/>
        </a:xfrm>
      </p:grpSpPr>
      <p:sp>
        <p:nvSpPr>
          <p:cNvPr id="147" name="Google Shape;147;p38"/>
          <p:cNvSpPr txBox="1">
            <a:spLocks noGrp="1"/>
          </p:cNvSpPr>
          <p:nvPr>
            <p:ph type="title"/>
          </p:nvPr>
        </p:nvSpPr>
        <p:spPr>
          <a:xfrm>
            <a:off x="628650" y="273844"/>
            <a:ext cx="7886700" cy="994172"/>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Arial"/>
              <a:buNone/>
              <a:defRPr sz="3300" b="0" i="0" u="none" strike="noStrike" cap="non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48" name="Google Shape;148;p38"/>
          <p:cNvSpPr txBox="1">
            <a:spLocks noGrp="1"/>
          </p:cNvSpPr>
          <p:nvPr>
            <p:ph type="body" idx="1"/>
          </p:nvPr>
        </p:nvSpPr>
        <p:spPr>
          <a:xfrm>
            <a:off x="628650" y="1369219"/>
            <a:ext cx="7886700" cy="3263504"/>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Roboto"/>
                <a:ea typeface="Roboto"/>
                <a:cs typeface="Roboto"/>
                <a:sym typeface="Roboto"/>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Roboto"/>
                <a:ea typeface="Roboto"/>
                <a:cs typeface="Roboto"/>
                <a:sym typeface="Roboto"/>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Roboto"/>
                <a:ea typeface="Roboto"/>
                <a:cs typeface="Roboto"/>
                <a:sym typeface="Roboto"/>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Roboto"/>
                <a:ea typeface="Roboto"/>
                <a:cs typeface="Roboto"/>
                <a:sym typeface="Roboto"/>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49" name="Google Shape;149;p38"/>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a:solidFill>
                  <a:srgbClr val="888888"/>
                </a:solidFill>
                <a:latin typeface="Roboto"/>
                <a:ea typeface="Roboto"/>
                <a:cs typeface="Roboto"/>
                <a:sym typeface="Roboto"/>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50" name="Google Shape;150;p38"/>
          <p:cNvSpPr txBox="1">
            <a:spLocks noGrp="1"/>
          </p:cNvSpPr>
          <p:nvPr>
            <p:ph type="ftr" idx="11"/>
          </p:nvPr>
        </p:nvSpPr>
        <p:spPr>
          <a:xfrm>
            <a:off x="3028950" y="4767263"/>
            <a:ext cx="3086100" cy="273844"/>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a:solidFill>
                  <a:srgbClr val="888888"/>
                </a:solidFill>
                <a:latin typeface="Roboto"/>
                <a:ea typeface="Roboto"/>
                <a:cs typeface="Roboto"/>
                <a:sym typeface="Roboto"/>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51" name="Google Shape;151;p38"/>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100" b="1" i="0">
                <a:solidFill>
                  <a:schemeClr val="dk1"/>
                </a:solidFill>
                <a:latin typeface="Roboto"/>
                <a:ea typeface="Roboto"/>
                <a:cs typeface="Roboto"/>
                <a:sym typeface="Roboto"/>
              </a:defRPr>
            </a:lvl1pPr>
            <a:lvl2pPr marL="0" marR="0" lvl="1" indent="0" algn="r" rtl="0">
              <a:spcBef>
                <a:spcPts val="0"/>
              </a:spcBef>
              <a:buNone/>
              <a:defRPr sz="1100" b="1" i="0">
                <a:solidFill>
                  <a:schemeClr val="dk1"/>
                </a:solidFill>
                <a:latin typeface="Roboto"/>
                <a:ea typeface="Roboto"/>
                <a:cs typeface="Roboto"/>
                <a:sym typeface="Roboto"/>
              </a:defRPr>
            </a:lvl2pPr>
            <a:lvl3pPr marL="0" marR="0" lvl="2" indent="0" algn="r" rtl="0">
              <a:spcBef>
                <a:spcPts val="0"/>
              </a:spcBef>
              <a:buNone/>
              <a:defRPr sz="1100" b="1" i="0">
                <a:solidFill>
                  <a:schemeClr val="dk1"/>
                </a:solidFill>
                <a:latin typeface="Roboto"/>
                <a:ea typeface="Roboto"/>
                <a:cs typeface="Roboto"/>
                <a:sym typeface="Roboto"/>
              </a:defRPr>
            </a:lvl3pPr>
            <a:lvl4pPr marL="0" marR="0" lvl="3" indent="0" algn="r" rtl="0">
              <a:spcBef>
                <a:spcPts val="0"/>
              </a:spcBef>
              <a:buNone/>
              <a:defRPr sz="1100" b="1" i="0">
                <a:solidFill>
                  <a:schemeClr val="dk1"/>
                </a:solidFill>
                <a:latin typeface="Roboto"/>
                <a:ea typeface="Roboto"/>
                <a:cs typeface="Roboto"/>
                <a:sym typeface="Roboto"/>
              </a:defRPr>
            </a:lvl4pPr>
            <a:lvl5pPr marL="0" marR="0" lvl="4" indent="0" algn="r" rtl="0">
              <a:spcBef>
                <a:spcPts val="0"/>
              </a:spcBef>
              <a:buNone/>
              <a:defRPr sz="1100" b="1" i="0">
                <a:solidFill>
                  <a:schemeClr val="dk1"/>
                </a:solidFill>
                <a:latin typeface="Roboto"/>
                <a:ea typeface="Roboto"/>
                <a:cs typeface="Roboto"/>
                <a:sym typeface="Roboto"/>
              </a:defRPr>
            </a:lvl5pPr>
            <a:lvl6pPr marL="0" marR="0" lvl="5" indent="0" algn="r" rtl="0">
              <a:spcBef>
                <a:spcPts val="0"/>
              </a:spcBef>
              <a:buNone/>
              <a:defRPr sz="1100" b="1" i="0">
                <a:solidFill>
                  <a:schemeClr val="dk1"/>
                </a:solidFill>
                <a:latin typeface="Roboto"/>
                <a:ea typeface="Roboto"/>
                <a:cs typeface="Roboto"/>
                <a:sym typeface="Roboto"/>
              </a:defRPr>
            </a:lvl6pPr>
            <a:lvl7pPr marL="0" marR="0" lvl="6" indent="0" algn="r" rtl="0">
              <a:spcBef>
                <a:spcPts val="0"/>
              </a:spcBef>
              <a:buNone/>
              <a:defRPr sz="1100" b="1" i="0">
                <a:solidFill>
                  <a:schemeClr val="dk1"/>
                </a:solidFill>
                <a:latin typeface="Roboto"/>
                <a:ea typeface="Roboto"/>
                <a:cs typeface="Roboto"/>
                <a:sym typeface="Roboto"/>
              </a:defRPr>
            </a:lvl7pPr>
            <a:lvl8pPr marL="0" marR="0" lvl="7" indent="0" algn="r" rtl="0">
              <a:spcBef>
                <a:spcPts val="0"/>
              </a:spcBef>
              <a:buNone/>
              <a:defRPr sz="1100" b="1" i="0">
                <a:solidFill>
                  <a:schemeClr val="dk1"/>
                </a:solidFill>
                <a:latin typeface="Roboto"/>
                <a:ea typeface="Roboto"/>
                <a:cs typeface="Roboto"/>
                <a:sym typeface="Roboto"/>
              </a:defRPr>
            </a:lvl8pPr>
            <a:lvl9pPr marL="0" marR="0" lvl="8" indent="0" algn="r" rtl="0">
              <a:spcBef>
                <a:spcPts val="0"/>
              </a:spcBef>
              <a:buNone/>
              <a:defRPr sz="1100" b="1" i="0">
                <a:solidFill>
                  <a:schemeClr val="dk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82" r:id="rId1"/>
    <p:sldLayoutId id="2147483683" r:id="rId2"/>
    <p:sldLayoutId id="2147483684" r:id="rId3"/>
    <p:sldLayoutId id="2147483685" r:id="rId4"/>
    <p:sldLayoutId id="2147483686" r:id="rId5"/>
    <p:sldLayoutId id="2147483687" r:id="rId6"/>
    <p:sldLayoutId id="2147483688" r:id="rId7"/>
    <p:sldLayoutId id="2147483689" r:id="rId8"/>
    <p:sldLayoutId id="2147483690" r:id="rId9"/>
    <p:sldLayoutId id="2147483691" r:id="rId10"/>
    <p:sldLayoutId id="2147483692"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xml"/><Relationship Id="rId3" Type="http://schemas.openxmlformats.org/officeDocument/2006/relationships/hyperlink" Target="https://github.com/mGalarnyk/Python_Tutorials/tree/master/NLP/Fine_Tuning/02_fomc_roberta" TargetMode="External"/><Relationship Id="rId4" Type="http://schemas.openxmlformats.org/officeDocument/2006/relationships/image" Target="../media/image4.png"/><Relationship Id="rId5" Type="http://schemas.openxmlformats.org/officeDocument/2006/relationships/hyperlink" Target="https://www.youtube.com/@AIBites"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xml"/><Relationship Id="rId3" Type="http://schemas.openxmlformats.org/officeDocument/2006/relationships/hyperlink" Target="https://arxiv.org/abs/2012.13255" TargetMode="Externa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xml"/><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image" Target="../media/image9.png"/><Relationship Id="rId7" Type="http://schemas.openxmlformats.org/officeDocument/2006/relationships/hyperlink" Target="https://arxiv.org/abs/2106.09685" TargetMode="External"/><Relationship Id="rId8" Type="http://schemas.openxmlformats.org/officeDocument/2006/relationships/image" Target="../media/image10.png"/><Relationship Id="rId9" Type="http://schemas.openxmlformats.org/officeDocument/2006/relationships/image" Target="../media/image11.png"/><Relationship Id="rId10" Type="http://schemas.openxmlformats.org/officeDocument/2006/relationships/image" Target="../media/image12.png"/><Relationship Id="rId11" Type="http://schemas.openxmlformats.org/officeDocument/2006/relationships/image" Target="../media/image1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xml"/><Relationship Id="rId3" Type="http://schemas.openxmlformats.org/officeDocument/2006/relationships/hyperlink" Target="https://arxiv.org/abs/2106.09685" TargetMode="External"/><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image" Target="../media/image14.png"/><Relationship Id="rId3" Type="http://schemas.openxmlformats.org/officeDocument/2006/relationships/hyperlink" Target="https://arxiv.org/abs/2106.09685"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image" Target="../media/image15.png"/><Relationship Id="rId3" Type="http://schemas.openxmlformats.org/officeDocument/2006/relationships/hyperlink" Target="https://dzone.com/articles/fine-tuning-llm-parameter-efficient-fine-tuning-pe"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2.xml"/><Relationship Id="rId3" Type="http://schemas.openxmlformats.org/officeDocument/2006/relationships/hyperlink" Target="https://arxiv.org/abs/2106.09685"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5.xml"/><Relationship Id="rId3" Type="http://schemas.openxmlformats.org/officeDocument/2006/relationships/image" Target="../media/image18.png"/><Relationship Id="rId4" Type="http://schemas.openxmlformats.org/officeDocument/2006/relationships/hyperlink" Target="https://arxiv.org/abs/2305.14314"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6.xml"/><Relationship Id="rId3" Type="http://schemas.openxmlformats.org/officeDocument/2006/relationships/hyperlink" Target="https://arxiv.org/abs/2305.14314"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7.xml"/><Relationship Id="rId3" Type="http://schemas.openxmlformats.org/officeDocument/2006/relationships/hyperlink" Target="https://arxiv.org/abs/2305.14314" TargetMode="External"/><Relationship Id="rId4" Type="http://schemas.openxmlformats.org/officeDocument/2006/relationships/image" Target="../media/image1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9.xml"/><Relationship Id="rId3" Type="http://schemas.openxmlformats.org/officeDocument/2006/relationships/hyperlink" Target="https://arxiv.org/abs/2305.14314"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0.xml"/><Relationship Id="rId3" Type="http://schemas.openxmlformats.org/officeDocument/2006/relationships/hyperlink" Target="https://arxiv.org/abs/2305.14314"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3.xml"/><Relationship Id="rId3" Type="http://schemas.openxmlformats.org/officeDocument/2006/relationships/image" Target="../media/image21.png"/><Relationship Id="rId4" Type="http://schemas.openxmlformats.org/officeDocument/2006/relationships/hyperlink" Target="https://www.youtube.com/@AIBites"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4.xml"/><Relationship Id="rId3" Type="http://schemas.openxmlformats.org/officeDocument/2006/relationships/hyperlink" Target="https://arxiv.org/abs/2405.09673"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8.xml"/><Relationship Id="rId3" Type="http://schemas.openxmlformats.org/officeDocument/2006/relationships/hyperlink" Target="https://github.com/mGalarnyk/Python_Tutorials/blob/master/NLP/Fine_Tuning/02_fomc_roberta/fomc_roberta_finetune.ipynb" TargetMode="External"/><Relationship Id="rId4" Type="http://schemas.openxmlformats.org/officeDocument/2006/relationships/hyperlink" Target="https://codelabs.developers.google.com/codelabs/how-to-run-inference-cloud-run-gpu-vllm#0" TargetMode="External"/><Relationship Id="rId5" Type="http://schemas.openxmlformats.org/officeDocument/2006/relationships/hyperlink" Target="https://github.com/mGalarnyk/Python_Tutorials/tree/master/NLP/Fine_Tuning/02_fomc_roberta"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hyperlink" Target="https://aclanthology.org/2023.acl-long.368/" TargetMode="External"/><Relationship Id="rId3" Type="http://schemas.openxmlformats.org/officeDocument/2006/relationships/notesSlide" Target="../notesSlides/notesSlide5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hyperlink" Target="https://aclanthology.org/2023.acl-long.368/" TargetMode="External"/><Relationship Id="rId3" Type="http://schemas.openxmlformats.org/officeDocument/2006/relationships/notesSlide" Target="../notesSlides/notesSlide5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image" Target="../media/image32.png"/><Relationship Id="rId3" Type="http://schemas.openxmlformats.org/officeDocument/2006/relationships/hyperlink" Target="https://github.com/flyteorg/flyte" TargetMode="External"/><Relationship Id="rId4" Type="http://schemas.openxmlformats.org/officeDocument/2006/relationships/notesSlide" Target="../notesSlides/notesSlide6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hyperlink" Target="https://github.com/vllm-project/vllm" TargetMode="External"/><Relationship Id="rId3" Type="http://schemas.openxmlformats.org/officeDocument/2006/relationships/notesSlide" Target="../notesSlides/notesSlide6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9.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3.xml"/><Relationship Id="rId3" Type="http://schemas.openxmlformats.org/officeDocument/2006/relationships/image" Target="../media/image23.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3.xml"/><Relationship Id="rId3" Type="http://schemas.openxmlformats.org/officeDocument/2006/relationships/image" Target="../media/image16.png"/><Relationship Id="rId4" Type="http://schemas.openxmlformats.org/officeDocument/2006/relationships/image" Target="../media/image17.png"/><Relationship Id="rId5" Type="http://schemas.openxmlformats.org/officeDocument/2006/relationships/hyperlink" Target="https://arxiv.org/abs/2106.09685" TargetMode="Externa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1.xml"/><Relationship Id="rId3" Type="http://schemas.openxmlformats.org/officeDocument/2006/relationships/image" Target="../media/image20.png"/><Relationship Id="rId4" Type="http://schemas.openxmlformats.org/officeDocument/2006/relationships/hyperlink" Target="https://arxiv.org/abs/2305.14314" TargetMode="Externa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4.xml"/><Relationship Id="rId3" Type="http://schemas.openxmlformats.org/officeDocument/2006/relationships/hyperlink" Target="https://arxiv.org/abs/2101.00190" TargetMode="Externa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5.xml"/><Relationship Id="rId3" Type="http://schemas.openxmlformats.org/officeDocument/2006/relationships/hyperlink" Target="https://arxiv.org/abs/2210.17323" TargetMode="Externa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6.xml"/><Relationship Id="rId3" Type="http://schemas.openxmlformats.org/officeDocument/2006/relationships/hyperlink" Target="https://arxiv.org/abs/2305.18290" TargetMode="Externa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7.xml"/><Relationship Id="rId3" Type="http://schemas.openxmlformats.org/officeDocument/2006/relationships/hyperlink" Target="https://arxiv.org/abs/2305.13245" TargetMode="Externa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8.xml"/><Relationship Id="rId3" Type="http://schemas.openxmlformats.org/officeDocument/2006/relationships/hyperlink" Target="https://arxiv.org/abs/2309.12307" TargetMode="Externa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9.xml"/><Relationship Id="rId3" Type="http://schemas.openxmlformats.org/officeDocument/2006/relationships/hyperlink" Target="https://arxiv.org/abs/2303.10512" TargetMode="Externa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0.xml"/><Relationship Id="rId3" Type="http://schemas.openxmlformats.org/officeDocument/2006/relationships/image" Target="../media/image29.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1.xml"/><Relationship Id="rId3" Type="http://schemas.openxmlformats.org/officeDocument/2006/relationships/image" Target="../media/image30.png"/><Relationship Id="rId4" Type="http://schemas.openxmlformats.org/officeDocument/2006/relationships/hyperlink" Target="https://blog.eleuther.ai/transformer-math/" TargetMode="Externa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5.xml"/><Relationship Id="rId3" Type="http://schemas.openxmlformats.org/officeDocument/2006/relationships/image" Target="../media/image31.png"/><Relationship Id="rId4" Type="http://schemas.openxmlformats.org/officeDocument/2006/relationships/hyperlink" Target="https://arxiv.org/abs/1711.05101" TargetMode="Externa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B title"/>
          <p:cNvSpPr txBox="1"/>
          <p:nvPr/>
        </p:nvSpPr>
        <p:spPr>
          <a:xfrm>
            <a:off x="457200" y="1051560"/>
            <a:ext cx="4297680" cy="2194560"/>
          </a:xfrm>
          <a:prstGeom prst="rect">
            <a:avLst/>
          </a:prstGeom>
          <a:noFill/>
        </p:spPr>
        <p:txBody>
          <a:bodyPr wrap="square" lIns="0" tIns="0" rIns="0" bIns="0" anchor="t">
            <a:spAutoFit/>
          </a:bodyPr>
          <a:lstStyle/>
          <a:p>
            <a:r>
              <a:rPr sz="3000" b="1">
                <a:solidFill>
                  <a:srgbClr val="222222"/>
                </a:solidFill>
                <a:latin typeface="Arial"/>
              </a:rPr>
              <a:t>Parameter-Efficient</a:t>
            </a:r>
          </a:p>
          <a:p>
            <a:r>
              <a:rPr sz="3000" b="1">
                <a:solidFill>
                  <a:srgbClr val="222222"/>
                </a:solidFill>
                <a:latin typeface="Arial"/>
              </a:rPr>
              <a:t>Fine-Tuning (PEFT)</a:t>
            </a:r>
          </a:p>
        </p:txBody>
      </p:sp>
      <p:sp>
        <p:nvSpPr>
          <p:cNvPr id="3" name="BG title rule"/>
          <p:cNvSpPr/>
          <p:nvPr/>
        </p:nvSpPr>
        <p:spPr>
          <a:xfrm>
            <a:off x="457200" y="3383280"/>
            <a:ext cx="914400" cy="27432"/>
          </a:xfrm>
          <a:prstGeom prst="rect">
            <a:avLst/>
          </a:prstGeom>
          <a:solidFill>
            <a:srgbClr val="428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B presenter"/>
          <p:cNvSpPr txBox="1"/>
          <p:nvPr/>
        </p:nvSpPr>
        <p:spPr>
          <a:xfrm>
            <a:off x="457200" y="3566160"/>
            <a:ext cx="4297680" cy="292608"/>
          </a:xfrm>
          <a:prstGeom prst="rect">
            <a:avLst/>
          </a:prstGeom>
          <a:noFill/>
        </p:spPr>
        <p:txBody>
          <a:bodyPr wrap="square" lIns="0" tIns="0" rIns="0" bIns="0">
            <a:spAutoFit/>
          </a:bodyPr>
          <a:lstStyle/>
          <a:p>
            <a:r>
              <a:rPr sz="1600" b="1" i="0">
                <a:solidFill>
                  <a:srgbClr val="222222"/>
                </a:solidFill>
                <a:latin typeface="Arial"/>
              </a:rPr>
              <a:t>Michael Galarnyk</a:t>
            </a:r>
          </a:p>
        </p:txBody>
      </p:sp>
      <p:sp>
        <p:nvSpPr>
          <p:cNvPr id="5" name="TB date"/>
          <p:cNvSpPr txBox="1"/>
          <p:nvPr/>
        </p:nvSpPr>
        <p:spPr>
          <a:xfrm>
            <a:off x="457200" y="3886200"/>
            <a:ext cx="4297680" cy="274320"/>
          </a:xfrm>
          <a:prstGeom prst="rect">
            <a:avLst/>
          </a:prstGeom>
          <a:noFill/>
        </p:spPr>
        <p:txBody>
          <a:bodyPr wrap="square" lIns="0" tIns="0" rIns="0" bIns="0">
            <a:spAutoFit/>
          </a:bodyPr>
          <a:lstStyle/>
          <a:p>
            <a:r>
              <a:rPr sz="1200" b="0" i="0">
                <a:solidFill>
                  <a:srgbClr val="595959"/>
                </a:solidFill>
                <a:latin typeface="Arial"/>
              </a:rPr>
              <a:t>ODSC AI West · October 29, 2026</a:t>
            </a:r>
          </a:p>
        </p:txBody>
      </p:sp>
      <p:sp>
        <p:nvSpPr>
          <p:cNvPr id="6" name="TB lbl THE PROBLEM"/>
          <p:cNvSpPr txBox="1"/>
          <p:nvPr/>
        </p:nvSpPr>
        <p:spPr>
          <a:xfrm>
            <a:off x="5212080" y="932688"/>
            <a:ext cx="3657600" cy="182880"/>
          </a:xfrm>
          <a:prstGeom prst="rect">
            <a:avLst/>
          </a:prstGeom>
          <a:noFill/>
        </p:spPr>
        <p:txBody>
          <a:bodyPr wrap="square" lIns="0" tIns="0" rIns="0" bIns="0">
            <a:spAutoFit/>
          </a:bodyPr>
          <a:lstStyle/>
          <a:p>
            <a:r>
              <a:rPr sz="900" b="1" i="0">
                <a:solidFill>
                  <a:srgbClr val="595959"/>
                </a:solidFill>
                <a:latin typeface="Arial"/>
              </a:rPr>
              <a:t>THE PROBLEM</a:t>
            </a:r>
          </a:p>
        </p:txBody>
      </p:sp>
      <p:sp>
        <p:nvSpPr>
          <p:cNvPr id="7" name="SHP card THE PROBLEM"/>
          <p:cNvSpPr/>
          <p:nvPr/>
        </p:nvSpPr>
        <p:spPr>
          <a:xfrm>
            <a:off x="5212080" y="1133856"/>
            <a:ext cx="3657600" cy="658368"/>
          </a:xfrm>
          <a:prstGeom prst="rect">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400" b="1">
                <a:solidFill>
                  <a:srgbClr val="222222"/>
                </a:solidFill>
                <a:latin typeface="Arial"/>
              </a:rPr>
              <a:t>Full fine-tuning a 4B model needs ~38 GB of GPU memory.</a:t>
            </a:r>
          </a:p>
        </p:txBody>
      </p:sp>
      <p:sp>
        <p:nvSpPr>
          <p:cNvPr id="9" name="TB lbl THE IDEA"/>
          <p:cNvSpPr txBox="1"/>
          <p:nvPr/>
        </p:nvSpPr>
        <p:spPr>
          <a:xfrm>
            <a:off x="5212080" y="2212848"/>
            <a:ext cx="3657600" cy="182880"/>
          </a:xfrm>
          <a:prstGeom prst="rect">
            <a:avLst/>
          </a:prstGeom>
          <a:noFill/>
        </p:spPr>
        <p:txBody>
          <a:bodyPr wrap="square" lIns="0" tIns="0" rIns="0" bIns="0">
            <a:spAutoFit/>
          </a:bodyPr>
          <a:lstStyle/>
          <a:p>
            <a:r>
              <a:rPr sz="900" b="1" i="0">
                <a:solidFill>
                  <a:srgbClr val="595959"/>
                </a:solidFill>
                <a:latin typeface="Arial"/>
              </a:rPr>
              <a:t>THE IDEA</a:t>
            </a:r>
          </a:p>
        </p:txBody>
      </p:sp>
      <p:sp>
        <p:nvSpPr>
          <p:cNvPr id="10" name="SHP card THE IDEA"/>
          <p:cNvSpPr/>
          <p:nvPr/>
        </p:nvSpPr>
        <p:spPr>
          <a:xfrm>
            <a:off x="5212080" y="2414016"/>
            <a:ext cx="3657600" cy="658368"/>
          </a:xfrm>
          <a:prstGeom prst="rect">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400" b="1">
                <a:solidFill>
                  <a:srgbClr val="222222"/>
                </a:solidFill>
                <a:latin typeface="Arial"/>
              </a:rPr>
              <a:t>Freeze the base model. Train a small set of new parameters.</a:t>
            </a:r>
          </a:p>
        </p:txBody>
      </p:sp>
      <p:sp>
        <p:nvSpPr>
          <p:cNvPr id="12" name="TB lbl THE RESULT"/>
          <p:cNvSpPr txBox="1"/>
          <p:nvPr/>
        </p:nvSpPr>
        <p:spPr>
          <a:xfrm>
            <a:off x="5212080" y="3493008"/>
            <a:ext cx="3657600" cy="182880"/>
          </a:xfrm>
          <a:prstGeom prst="rect">
            <a:avLst/>
          </a:prstGeom>
          <a:noFill/>
        </p:spPr>
        <p:txBody>
          <a:bodyPr wrap="square" lIns="0" tIns="0" rIns="0" bIns="0">
            <a:spAutoFit/>
          </a:bodyPr>
          <a:lstStyle/>
          <a:p>
            <a:r>
              <a:rPr sz="900" b="1" i="0">
                <a:solidFill>
                  <a:srgbClr val="595959"/>
                </a:solidFill>
                <a:latin typeface="Arial"/>
              </a:rPr>
              <a:t>THE RESULT</a:t>
            </a:r>
          </a:p>
        </p:txBody>
      </p:sp>
      <p:sp>
        <p:nvSpPr>
          <p:cNvPr id="13" name="SHP card THE RESULT"/>
          <p:cNvSpPr/>
          <p:nvPr/>
        </p:nvSpPr>
        <p:spPr>
          <a:xfrm>
            <a:off x="5212080" y="3694176"/>
            <a:ext cx="3657600" cy="658368"/>
          </a:xfrm>
          <a:prstGeom prst="rect">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400" b="1">
                <a:solidFill>
                  <a:srgbClr val="222222"/>
                </a:solidFill>
                <a:latin typeface="Arial"/>
              </a:rPr>
              <a:t>Fine-tune large models on one GPU with matched task quality.</a:t>
            </a:r>
          </a:p>
        </p:txBody>
      </p:sp>
      <p:sp>
        <p:nvSpPr>
          <p:cNvPr id="15" name="PageNum 1"/>
          <p:cNvSpPr txBox="1"/>
          <p:nvPr/>
        </p:nvSpPr>
        <p:spPr>
          <a:xfrm>
            <a:off x="8595360" y="4892040"/>
            <a:ext cx="457200" cy="201168"/>
          </a:xfrm>
          <a:prstGeom prst="rect">
            <a:avLst/>
          </a:prstGeom>
          <a:noFill/>
        </p:spPr>
        <p:txBody>
          <a:bodyPr wrap="square" lIns="0" tIns="0" rIns="0" bIns="0">
            <a:spAutoFit/>
          </a:bodyPr>
          <a:lstStyle/>
          <a:p>
            <a:pPr algn="r"/>
            <a:r>
              <a:rPr sz="900">
                <a:solidFill>
                  <a:srgbClr val="595959"/>
                </a:solidFill>
                <a:latin typeface="Arial"/>
              </a:rPr>
              <a:t>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B section title"/>
          <p:cNvSpPr txBox="1"/>
          <p:nvPr/>
        </p:nvSpPr>
        <p:spPr>
          <a:xfrm>
            <a:off x="457200" y="2194560"/>
            <a:ext cx="8229600" cy="1097280"/>
          </a:xfrm>
          <a:prstGeom prst="rect">
            <a:avLst/>
          </a:prstGeom>
          <a:noFill/>
        </p:spPr>
        <p:txBody>
          <a:bodyPr wrap="square" lIns="0" tIns="0" rIns="0" bIns="0" anchor="t">
            <a:spAutoFit/>
          </a:bodyPr>
          <a:lstStyle/>
          <a:p>
            <a:pPr algn="l"/>
            <a:r>
              <a:rPr sz="3400" b="1">
                <a:solidFill>
                  <a:srgbClr val="222222"/>
                </a:solidFill>
                <a:latin typeface="Arial"/>
              </a:rPr>
              <a:t>Full fine-tuning is memory-bound</a:t>
            </a:r>
          </a:p>
        </p:txBody>
      </p:sp>
      <p:sp>
        <p:nvSpPr>
          <p:cNvPr id="4" name="BG rule"/>
          <p:cNvSpPr/>
          <p:nvPr/>
        </p:nvSpPr>
        <p:spPr>
          <a:xfrm>
            <a:off x="457200" y="3383280"/>
            <a:ext cx="1097280" cy="36576"/>
          </a:xfrm>
          <a:prstGeom prst="rect">
            <a:avLst/>
          </a:prstGeom>
          <a:solidFill>
            <a:srgbClr val="428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PageNum 2"/>
          <p:cNvSpPr txBox="1"/>
          <p:nvPr/>
        </p:nvSpPr>
        <p:spPr>
          <a:xfrm>
            <a:off x="8595360" y="4892040"/>
            <a:ext cx="457200" cy="201168"/>
          </a:xfrm>
          <a:prstGeom prst="rect">
            <a:avLst/>
          </a:prstGeom>
          <a:noFill/>
        </p:spPr>
        <p:txBody>
          <a:bodyPr wrap="square" lIns="0" tIns="0" rIns="0" bIns="0">
            <a:spAutoFit/>
          </a:bodyPr>
          <a:lstStyle/>
          <a:p>
            <a:pPr algn="r"/>
            <a:r>
              <a:rPr sz="900">
                <a:solidFill>
                  <a:srgbClr val="595959"/>
                </a:solidFill>
                <a:latin typeface="Arial"/>
              </a:rPr>
              <a:t>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0" name="Tile params_in 340"/>
          <p:cNvSpPr/>
          <p:nvPr/>
        </p:nvSpPr>
        <p:spPr>
          <a:xfrm rot="5400000">
            <a:off x="769463" y="2136822"/>
            <a:ext cx="198434" cy="198434"/>
          </a:xfrm>
          <a:prstGeom prst="roundRect">
            <a:avLst/>
          </a:prstGeom>
          <a:solidFill>
            <a:srgbClr val="FDD893"/>
          </a:solidFill>
          <a:ln>
            <a:solidFill>
              <a:srgbClr val="FFC618"/>
            </a:solidFill>
          </a:ln>
        </p:spPr>
        <p:style>
          <a:lnRef idx="1">
            <a:srgbClr val="FFC000"/>
          </a:lnRef>
          <a:fillRef idx="2">
            <a:srgbClr val="FFC000"/>
          </a:fillRef>
          <a:effectRef idx="1">
            <a:srgbClr val="FFC000"/>
          </a:effectRef>
          <a:fontRef idx="minor">
            <a:srgbClr val="44546A"/>
          </a:fontRef>
        </p:style>
        <p:txBody>
          <a:bodyPr rtlCol="0" anchor="ctr"/>
          <a:lstStyle/>
          <a:p>
            <a:pPr algn="ctr"/>
            <a:endParaRPr lang="en-US">
              <a:latin typeface="Roboto" panose="02000000000000000000" pitchFamily="2" charset="0"/>
            </a:endParaRPr>
          </a:p>
        </p:txBody>
      </p:sp>
      <p:sp>
        <p:nvSpPr>
          <p:cNvPr id="341" name="Tile params_in 341"/>
          <p:cNvSpPr/>
          <p:nvPr/>
        </p:nvSpPr>
        <p:spPr>
          <a:xfrm rot="5400000">
            <a:off x="769463" y="2392432"/>
            <a:ext cx="198434" cy="198434"/>
          </a:xfrm>
          <a:prstGeom prst="roundRect">
            <a:avLst/>
          </a:prstGeom>
          <a:solidFill>
            <a:srgbClr val="FDD893"/>
          </a:solidFill>
          <a:ln>
            <a:solidFill>
              <a:srgbClr val="FFC618"/>
            </a:solidFill>
          </a:ln>
        </p:spPr>
        <p:style>
          <a:lnRef idx="1">
            <a:srgbClr val="FFC000"/>
          </a:lnRef>
          <a:fillRef idx="2">
            <a:srgbClr val="FFC000"/>
          </a:fillRef>
          <a:effectRef idx="1">
            <a:srgbClr val="FFC000"/>
          </a:effectRef>
          <a:fontRef idx="minor">
            <a:srgbClr val="44546A"/>
          </a:fontRef>
        </p:style>
        <p:txBody>
          <a:bodyPr rtlCol="0" anchor="ctr"/>
          <a:lstStyle/>
          <a:p>
            <a:pPr algn="ctr"/>
            <a:endParaRPr lang="en-US">
              <a:latin typeface="Roboto" panose="02000000000000000000" pitchFamily="2" charset="0"/>
            </a:endParaRPr>
          </a:p>
        </p:txBody>
      </p:sp>
      <p:sp>
        <p:nvSpPr>
          <p:cNvPr id="342" name="Tile params_in 342"/>
          <p:cNvSpPr/>
          <p:nvPr/>
        </p:nvSpPr>
        <p:spPr>
          <a:xfrm rot="5400000">
            <a:off x="769463" y="2648042"/>
            <a:ext cx="198434" cy="198434"/>
          </a:xfrm>
          <a:prstGeom prst="roundRect">
            <a:avLst/>
          </a:prstGeom>
          <a:solidFill>
            <a:srgbClr val="FDD893"/>
          </a:solidFill>
          <a:ln>
            <a:solidFill>
              <a:srgbClr val="FFC618"/>
            </a:solidFill>
          </a:ln>
        </p:spPr>
        <p:style>
          <a:lnRef idx="1">
            <a:srgbClr val="FFC000"/>
          </a:lnRef>
          <a:fillRef idx="2">
            <a:srgbClr val="FFC000"/>
          </a:fillRef>
          <a:effectRef idx="1">
            <a:srgbClr val="FFC000"/>
          </a:effectRef>
          <a:fontRef idx="minor">
            <a:srgbClr val="44546A"/>
          </a:fontRef>
        </p:style>
        <p:txBody>
          <a:bodyPr rtlCol="0" anchor="ctr"/>
          <a:lstStyle/>
          <a:p>
            <a:pPr algn="ctr"/>
            <a:endParaRPr lang="en-US">
              <a:latin typeface="Roboto" panose="02000000000000000000" pitchFamily="2" charset="0"/>
            </a:endParaRPr>
          </a:p>
        </p:txBody>
      </p:sp>
      <p:sp>
        <p:nvSpPr>
          <p:cNvPr id="343" name="Tile params_in 343"/>
          <p:cNvSpPr/>
          <p:nvPr/>
        </p:nvSpPr>
        <p:spPr>
          <a:xfrm rot="5400000">
            <a:off x="769463" y="2903653"/>
            <a:ext cx="198434" cy="198434"/>
          </a:xfrm>
          <a:prstGeom prst="roundRect">
            <a:avLst/>
          </a:prstGeom>
          <a:solidFill>
            <a:srgbClr val="FDD893"/>
          </a:solidFill>
          <a:ln>
            <a:solidFill>
              <a:srgbClr val="FFC618"/>
            </a:solidFill>
          </a:ln>
        </p:spPr>
        <p:style>
          <a:lnRef idx="1">
            <a:srgbClr val="FFC000"/>
          </a:lnRef>
          <a:fillRef idx="2">
            <a:srgbClr val="FFC000"/>
          </a:fillRef>
          <a:effectRef idx="1">
            <a:srgbClr val="FFC000"/>
          </a:effectRef>
          <a:fontRef idx="minor">
            <a:srgbClr val="44546A"/>
          </a:fontRef>
        </p:style>
        <p:txBody>
          <a:bodyPr rtlCol="0" anchor="ctr"/>
          <a:lstStyle/>
          <a:p>
            <a:pPr algn="ctr"/>
            <a:endParaRPr lang="en-US">
              <a:latin typeface="Roboto" panose="02000000000000000000" pitchFamily="2" charset="0"/>
            </a:endParaRPr>
          </a:p>
        </p:txBody>
      </p:sp>
      <p:sp>
        <p:nvSpPr>
          <p:cNvPr id="344" name="Tile params_in 344"/>
          <p:cNvSpPr/>
          <p:nvPr/>
        </p:nvSpPr>
        <p:spPr>
          <a:xfrm rot="5400000">
            <a:off x="769463" y="3159264"/>
            <a:ext cx="198434" cy="198434"/>
          </a:xfrm>
          <a:prstGeom prst="roundRect">
            <a:avLst/>
          </a:prstGeom>
          <a:solidFill>
            <a:srgbClr val="FDD893"/>
          </a:solidFill>
          <a:ln>
            <a:solidFill>
              <a:srgbClr val="FFC618"/>
            </a:solidFill>
          </a:ln>
        </p:spPr>
        <p:style>
          <a:lnRef idx="1">
            <a:srgbClr val="FFC000"/>
          </a:lnRef>
          <a:fillRef idx="2">
            <a:srgbClr val="FFC000"/>
          </a:fillRef>
          <a:effectRef idx="1">
            <a:srgbClr val="FFC000"/>
          </a:effectRef>
          <a:fontRef idx="minor">
            <a:srgbClr val="44546A"/>
          </a:fontRef>
        </p:style>
        <p:txBody>
          <a:bodyPr rtlCol="0" anchor="ctr"/>
          <a:lstStyle/>
          <a:p>
            <a:pPr algn="ctr"/>
            <a:endParaRPr lang="en-US">
              <a:latin typeface="Roboto" panose="02000000000000000000" pitchFamily="2" charset="0"/>
            </a:endParaRPr>
          </a:p>
        </p:txBody>
      </p:sp>
      <p:sp>
        <p:nvSpPr>
          <p:cNvPr id="345" name="Tile params_in 345"/>
          <p:cNvSpPr/>
          <p:nvPr/>
        </p:nvSpPr>
        <p:spPr>
          <a:xfrm rot="5400000">
            <a:off x="769463" y="3414874"/>
            <a:ext cx="198434" cy="198434"/>
          </a:xfrm>
          <a:prstGeom prst="roundRect">
            <a:avLst/>
          </a:prstGeom>
          <a:solidFill>
            <a:srgbClr val="FDD893"/>
          </a:solidFill>
          <a:ln>
            <a:solidFill>
              <a:srgbClr val="FFC618"/>
            </a:solidFill>
          </a:ln>
        </p:spPr>
        <p:style>
          <a:lnRef idx="1">
            <a:srgbClr val="FFC000"/>
          </a:lnRef>
          <a:fillRef idx="2">
            <a:srgbClr val="FFC000"/>
          </a:fillRef>
          <a:effectRef idx="1">
            <a:srgbClr val="FFC000"/>
          </a:effectRef>
          <a:fontRef idx="minor">
            <a:srgbClr val="44546A"/>
          </a:fontRef>
        </p:style>
        <p:txBody>
          <a:bodyPr rtlCol="0" anchor="ctr"/>
          <a:lstStyle/>
          <a:p>
            <a:pPr algn="ctr"/>
            <a:endParaRPr lang="en-US">
              <a:latin typeface="Roboto" panose="02000000000000000000" pitchFamily="2" charset="0"/>
            </a:endParaRPr>
          </a:p>
        </p:txBody>
      </p:sp>
      <p:sp>
        <p:nvSpPr>
          <p:cNvPr id="346" name="Tile params_in 346"/>
          <p:cNvSpPr/>
          <p:nvPr/>
        </p:nvSpPr>
        <p:spPr>
          <a:xfrm rot="5400000">
            <a:off x="769463" y="3670485"/>
            <a:ext cx="198434" cy="198434"/>
          </a:xfrm>
          <a:prstGeom prst="roundRect">
            <a:avLst/>
          </a:prstGeom>
          <a:solidFill>
            <a:srgbClr val="FDD893"/>
          </a:solidFill>
          <a:ln>
            <a:solidFill>
              <a:srgbClr val="FFC618"/>
            </a:solidFill>
          </a:ln>
        </p:spPr>
        <p:style>
          <a:lnRef idx="1">
            <a:srgbClr val="FFC000"/>
          </a:lnRef>
          <a:fillRef idx="2">
            <a:srgbClr val="FFC000"/>
          </a:fillRef>
          <a:effectRef idx="1">
            <a:srgbClr val="FFC000"/>
          </a:effectRef>
          <a:fontRef idx="minor">
            <a:srgbClr val="44546A"/>
          </a:fontRef>
        </p:style>
        <p:txBody>
          <a:bodyPr rtlCol="0" anchor="ctr"/>
          <a:lstStyle/>
          <a:p>
            <a:pPr algn="ctr"/>
            <a:endParaRPr lang="en-US">
              <a:latin typeface="Roboto" panose="02000000000000000000" pitchFamily="2" charset="0"/>
            </a:endParaRPr>
          </a:p>
        </p:txBody>
      </p:sp>
      <p:sp>
        <p:nvSpPr>
          <p:cNvPr id="347" name="Tile params_in 347"/>
          <p:cNvSpPr/>
          <p:nvPr/>
        </p:nvSpPr>
        <p:spPr>
          <a:xfrm rot="5400000">
            <a:off x="769463" y="3926096"/>
            <a:ext cx="198434" cy="198434"/>
          </a:xfrm>
          <a:prstGeom prst="roundRect">
            <a:avLst/>
          </a:prstGeom>
          <a:solidFill>
            <a:srgbClr val="FDD893"/>
          </a:solidFill>
          <a:ln>
            <a:solidFill>
              <a:srgbClr val="FFC618"/>
            </a:solidFill>
          </a:ln>
        </p:spPr>
        <p:style>
          <a:lnRef idx="1">
            <a:srgbClr val="FFC000"/>
          </a:lnRef>
          <a:fillRef idx="2">
            <a:srgbClr val="FFC000"/>
          </a:fillRef>
          <a:effectRef idx="1">
            <a:srgbClr val="FFC000"/>
          </a:effectRef>
          <a:fontRef idx="minor">
            <a:srgbClr val="44546A"/>
          </a:fontRef>
        </p:style>
        <p:txBody>
          <a:bodyPr rtlCol="0" anchor="ctr"/>
          <a:lstStyle/>
          <a:p>
            <a:pPr algn="ctr"/>
            <a:endParaRPr lang="en-US">
              <a:latin typeface="Roboto" panose="02000000000000000000" pitchFamily="2" charset="0"/>
            </a:endParaRPr>
          </a:p>
        </p:txBody>
      </p:sp>
      <p:sp>
        <p:nvSpPr>
          <p:cNvPr id="348" name="Tile grads_in 348"/>
          <p:cNvSpPr/>
          <p:nvPr/>
        </p:nvSpPr>
        <p:spPr>
          <a:xfrm rot="5400000">
            <a:off x="1958183" y="2136822"/>
            <a:ext cx="198434" cy="198434"/>
          </a:xfrm>
          <a:prstGeom prst="roundRect">
            <a:avLst/>
          </a:prstGeom>
          <a:solidFill>
            <a:srgbClr val="AAC6E7"/>
          </a:solidFill>
          <a:ln>
            <a:solidFill>
              <a:srgbClr val="4472C4"/>
            </a:solidFill>
          </a:ln>
        </p:spPr>
        <p:style>
          <a:lnRef idx="1">
            <a:srgbClr val="FFC000"/>
          </a:lnRef>
          <a:fillRef idx="2">
            <a:srgbClr val="FFC000"/>
          </a:fillRef>
          <a:effectRef idx="1">
            <a:srgbClr val="FFC000"/>
          </a:effectRef>
          <a:fontRef idx="minor">
            <a:srgbClr val="44546A"/>
          </a:fontRef>
        </p:style>
        <p:txBody>
          <a:bodyPr rtlCol="0" anchor="ctr"/>
          <a:lstStyle/>
          <a:p>
            <a:pPr algn="ctr"/>
            <a:endParaRPr lang="en-US">
              <a:latin typeface="Roboto" panose="02000000000000000000" pitchFamily="2" charset="0"/>
            </a:endParaRPr>
          </a:p>
        </p:txBody>
      </p:sp>
      <p:sp>
        <p:nvSpPr>
          <p:cNvPr id="349" name="Tile grads_in 349"/>
          <p:cNvSpPr/>
          <p:nvPr/>
        </p:nvSpPr>
        <p:spPr>
          <a:xfrm rot="5400000">
            <a:off x="1958183" y="2392432"/>
            <a:ext cx="198434" cy="198434"/>
          </a:xfrm>
          <a:prstGeom prst="roundRect">
            <a:avLst/>
          </a:prstGeom>
          <a:solidFill>
            <a:srgbClr val="AAC6E7"/>
          </a:solidFill>
          <a:ln>
            <a:solidFill>
              <a:srgbClr val="4472C4"/>
            </a:solidFill>
          </a:ln>
        </p:spPr>
        <p:style>
          <a:lnRef idx="1">
            <a:srgbClr val="FFC000"/>
          </a:lnRef>
          <a:fillRef idx="2">
            <a:srgbClr val="FFC000"/>
          </a:fillRef>
          <a:effectRef idx="1">
            <a:srgbClr val="FFC000"/>
          </a:effectRef>
          <a:fontRef idx="minor">
            <a:srgbClr val="44546A"/>
          </a:fontRef>
        </p:style>
        <p:txBody>
          <a:bodyPr rtlCol="0" anchor="ctr"/>
          <a:lstStyle/>
          <a:p>
            <a:pPr algn="ctr"/>
            <a:endParaRPr lang="en-US">
              <a:latin typeface="Roboto" panose="02000000000000000000" pitchFamily="2" charset="0"/>
            </a:endParaRPr>
          </a:p>
        </p:txBody>
      </p:sp>
      <p:sp>
        <p:nvSpPr>
          <p:cNvPr id="350" name="Tile grads_in 350"/>
          <p:cNvSpPr/>
          <p:nvPr/>
        </p:nvSpPr>
        <p:spPr>
          <a:xfrm rot="5400000">
            <a:off x="1958183" y="2648042"/>
            <a:ext cx="198434" cy="198434"/>
          </a:xfrm>
          <a:prstGeom prst="roundRect">
            <a:avLst/>
          </a:prstGeom>
          <a:solidFill>
            <a:srgbClr val="AAC6E7"/>
          </a:solidFill>
          <a:ln>
            <a:solidFill>
              <a:srgbClr val="4472C4"/>
            </a:solidFill>
          </a:ln>
        </p:spPr>
        <p:style>
          <a:lnRef idx="1">
            <a:srgbClr val="FFC000"/>
          </a:lnRef>
          <a:fillRef idx="2">
            <a:srgbClr val="FFC000"/>
          </a:fillRef>
          <a:effectRef idx="1">
            <a:srgbClr val="FFC000"/>
          </a:effectRef>
          <a:fontRef idx="minor">
            <a:srgbClr val="44546A"/>
          </a:fontRef>
        </p:style>
        <p:txBody>
          <a:bodyPr rtlCol="0" anchor="ctr"/>
          <a:lstStyle/>
          <a:p>
            <a:pPr algn="ctr"/>
            <a:endParaRPr lang="en-US">
              <a:latin typeface="Roboto" panose="02000000000000000000" pitchFamily="2" charset="0"/>
            </a:endParaRPr>
          </a:p>
        </p:txBody>
      </p:sp>
      <p:sp>
        <p:nvSpPr>
          <p:cNvPr id="351" name="Tile grads_in 351"/>
          <p:cNvSpPr/>
          <p:nvPr/>
        </p:nvSpPr>
        <p:spPr>
          <a:xfrm rot="5400000">
            <a:off x="1958183" y="2903653"/>
            <a:ext cx="198434" cy="198434"/>
          </a:xfrm>
          <a:prstGeom prst="roundRect">
            <a:avLst/>
          </a:prstGeom>
          <a:solidFill>
            <a:srgbClr val="AAC6E7"/>
          </a:solidFill>
          <a:ln>
            <a:solidFill>
              <a:srgbClr val="4472C4"/>
            </a:solidFill>
          </a:ln>
        </p:spPr>
        <p:style>
          <a:lnRef idx="1">
            <a:srgbClr val="FFC000"/>
          </a:lnRef>
          <a:fillRef idx="2">
            <a:srgbClr val="FFC000"/>
          </a:fillRef>
          <a:effectRef idx="1">
            <a:srgbClr val="FFC000"/>
          </a:effectRef>
          <a:fontRef idx="minor">
            <a:srgbClr val="44546A"/>
          </a:fontRef>
        </p:style>
        <p:txBody>
          <a:bodyPr rtlCol="0" anchor="ctr"/>
          <a:lstStyle/>
          <a:p>
            <a:pPr algn="ctr"/>
            <a:endParaRPr lang="en-US">
              <a:latin typeface="Roboto" panose="02000000000000000000" pitchFamily="2" charset="0"/>
            </a:endParaRPr>
          </a:p>
        </p:txBody>
      </p:sp>
      <p:sp>
        <p:nvSpPr>
          <p:cNvPr id="352" name="Tile grads_in 352"/>
          <p:cNvSpPr/>
          <p:nvPr/>
        </p:nvSpPr>
        <p:spPr>
          <a:xfrm rot="5400000">
            <a:off x="1958183" y="3159264"/>
            <a:ext cx="198434" cy="198434"/>
          </a:xfrm>
          <a:prstGeom prst="roundRect">
            <a:avLst/>
          </a:prstGeom>
          <a:solidFill>
            <a:srgbClr val="AAC6E7"/>
          </a:solidFill>
          <a:ln>
            <a:solidFill>
              <a:srgbClr val="4472C4"/>
            </a:solidFill>
          </a:ln>
        </p:spPr>
        <p:style>
          <a:lnRef idx="1">
            <a:srgbClr val="FFC000"/>
          </a:lnRef>
          <a:fillRef idx="2">
            <a:srgbClr val="FFC000"/>
          </a:fillRef>
          <a:effectRef idx="1">
            <a:srgbClr val="FFC000"/>
          </a:effectRef>
          <a:fontRef idx="minor">
            <a:srgbClr val="44546A"/>
          </a:fontRef>
        </p:style>
        <p:txBody>
          <a:bodyPr rtlCol="0" anchor="ctr"/>
          <a:lstStyle/>
          <a:p>
            <a:pPr algn="ctr"/>
            <a:endParaRPr lang="en-US">
              <a:latin typeface="Roboto" panose="02000000000000000000" pitchFamily="2" charset="0"/>
            </a:endParaRPr>
          </a:p>
        </p:txBody>
      </p:sp>
      <p:sp>
        <p:nvSpPr>
          <p:cNvPr id="353" name="Tile grads_in 353"/>
          <p:cNvSpPr/>
          <p:nvPr/>
        </p:nvSpPr>
        <p:spPr>
          <a:xfrm rot="5400000">
            <a:off x="1958183" y="3414874"/>
            <a:ext cx="198434" cy="198434"/>
          </a:xfrm>
          <a:prstGeom prst="roundRect">
            <a:avLst/>
          </a:prstGeom>
          <a:solidFill>
            <a:srgbClr val="AAC6E7"/>
          </a:solidFill>
          <a:ln>
            <a:solidFill>
              <a:srgbClr val="4472C4"/>
            </a:solidFill>
          </a:ln>
        </p:spPr>
        <p:style>
          <a:lnRef idx="1">
            <a:srgbClr val="FFC000"/>
          </a:lnRef>
          <a:fillRef idx="2">
            <a:srgbClr val="FFC000"/>
          </a:fillRef>
          <a:effectRef idx="1">
            <a:srgbClr val="FFC000"/>
          </a:effectRef>
          <a:fontRef idx="minor">
            <a:srgbClr val="44546A"/>
          </a:fontRef>
        </p:style>
        <p:txBody>
          <a:bodyPr rtlCol="0" anchor="ctr"/>
          <a:lstStyle/>
          <a:p>
            <a:pPr algn="ctr"/>
            <a:endParaRPr lang="en-US">
              <a:latin typeface="Roboto" panose="02000000000000000000" pitchFamily="2" charset="0"/>
            </a:endParaRPr>
          </a:p>
        </p:txBody>
      </p:sp>
      <p:sp>
        <p:nvSpPr>
          <p:cNvPr id="354" name="Tile grads_in 354"/>
          <p:cNvSpPr/>
          <p:nvPr/>
        </p:nvSpPr>
        <p:spPr>
          <a:xfrm rot="5400000">
            <a:off x="1958183" y="3670485"/>
            <a:ext cx="198434" cy="198434"/>
          </a:xfrm>
          <a:prstGeom prst="roundRect">
            <a:avLst/>
          </a:prstGeom>
          <a:solidFill>
            <a:srgbClr val="AAC6E7"/>
          </a:solidFill>
          <a:ln>
            <a:solidFill>
              <a:srgbClr val="4472C4"/>
            </a:solidFill>
          </a:ln>
        </p:spPr>
        <p:style>
          <a:lnRef idx="1">
            <a:srgbClr val="FFC000"/>
          </a:lnRef>
          <a:fillRef idx="2">
            <a:srgbClr val="FFC000"/>
          </a:fillRef>
          <a:effectRef idx="1">
            <a:srgbClr val="FFC000"/>
          </a:effectRef>
          <a:fontRef idx="minor">
            <a:srgbClr val="44546A"/>
          </a:fontRef>
        </p:style>
        <p:txBody>
          <a:bodyPr rtlCol="0" anchor="ctr"/>
          <a:lstStyle/>
          <a:p>
            <a:pPr algn="ctr"/>
            <a:endParaRPr lang="en-US">
              <a:latin typeface="Roboto" panose="02000000000000000000" pitchFamily="2" charset="0"/>
            </a:endParaRPr>
          </a:p>
        </p:txBody>
      </p:sp>
      <p:sp>
        <p:nvSpPr>
          <p:cNvPr id="355" name="Tile grads_in 355"/>
          <p:cNvSpPr/>
          <p:nvPr/>
        </p:nvSpPr>
        <p:spPr>
          <a:xfrm rot="5400000">
            <a:off x="1958183" y="3926096"/>
            <a:ext cx="198434" cy="198434"/>
          </a:xfrm>
          <a:prstGeom prst="roundRect">
            <a:avLst/>
          </a:prstGeom>
          <a:solidFill>
            <a:srgbClr val="AAC6E7"/>
          </a:solidFill>
          <a:ln>
            <a:solidFill>
              <a:srgbClr val="4472C4"/>
            </a:solidFill>
          </a:ln>
        </p:spPr>
        <p:style>
          <a:lnRef idx="1">
            <a:srgbClr val="FFC000"/>
          </a:lnRef>
          <a:fillRef idx="2">
            <a:srgbClr val="FFC000"/>
          </a:fillRef>
          <a:effectRef idx="1">
            <a:srgbClr val="FFC000"/>
          </a:effectRef>
          <a:fontRef idx="minor">
            <a:srgbClr val="44546A"/>
          </a:fontRef>
        </p:style>
        <p:txBody>
          <a:bodyPr rtlCol="0" anchor="ctr"/>
          <a:lstStyle/>
          <a:p>
            <a:pPr algn="ctr"/>
            <a:endParaRPr lang="en-US">
              <a:latin typeface="Roboto" panose="02000000000000000000" pitchFamily="2" charset="0"/>
            </a:endParaRPr>
          </a:p>
        </p:txBody>
      </p:sp>
      <p:sp>
        <p:nvSpPr>
          <p:cNvPr id="356" name="Tile opt_in 356"/>
          <p:cNvSpPr/>
          <p:nvPr/>
        </p:nvSpPr>
        <p:spPr>
          <a:xfrm rot="5400000">
            <a:off x="3017972" y="2136822"/>
            <a:ext cx="198434" cy="198434"/>
          </a:xfrm>
          <a:prstGeom prst="roundRect">
            <a:avLst/>
          </a:prstGeom>
          <a:solidFill>
            <a:srgbClr val="70AD47">
              <a:lumMod val="60000"/>
              <a:lumOff val="40000"/>
            </a:srgbClr>
          </a:solidFill>
          <a:ln>
            <a:solidFill>
              <a:srgbClr val="70AD47"/>
            </a:solidFill>
          </a:ln>
        </p:spPr>
        <p:style>
          <a:lnRef idx="1">
            <a:srgbClr val="FFC000"/>
          </a:lnRef>
          <a:fillRef idx="2">
            <a:srgbClr val="FFC000"/>
          </a:fillRef>
          <a:effectRef idx="1">
            <a:srgbClr val="FFC000"/>
          </a:effectRef>
          <a:fontRef idx="minor">
            <a:srgbClr val="44546A"/>
          </a:fontRef>
        </p:style>
        <p:txBody>
          <a:bodyPr rtlCol="0" anchor="ctr"/>
          <a:lstStyle/>
          <a:p>
            <a:pPr algn="ctr"/>
            <a:endParaRPr lang="en-US">
              <a:latin typeface="Roboto" panose="02000000000000000000" pitchFamily="2" charset="0"/>
            </a:endParaRPr>
          </a:p>
        </p:txBody>
      </p:sp>
      <p:sp>
        <p:nvSpPr>
          <p:cNvPr id="357" name="Tile opt_in 357"/>
          <p:cNvSpPr/>
          <p:nvPr/>
        </p:nvSpPr>
        <p:spPr>
          <a:xfrm rot="5400000">
            <a:off x="3017972" y="2392432"/>
            <a:ext cx="198434" cy="198434"/>
          </a:xfrm>
          <a:prstGeom prst="roundRect">
            <a:avLst/>
          </a:prstGeom>
          <a:solidFill>
            <a:srgbClr val="70AD47">
              <a:lumMod val="60000"/>
              <a:lumOff val="40000"/>
            </a:srgbClr>
          </a:solidFill>
          <a:ln>
            <a:solidFill>
              <a:srgbClr val="70AD47"/>
            </a:solidFill>
          </a:ln>
        </p:spPr>
        <p:style>
          <a:lnRef idx="1">
            <a:srgbClr val="FFC000"/>
          </a:lnRef>
          <a:fillRef idx="2">
            <a:srgbClr val="FFC000"/>
          </a:fillRef>
          <a:effectRef idx="1">
            <a:srgbClr val="FFC000"/>
          </a:effectRef>
          <a:fontRef idx="minor">
            <a:srgbClr val="44546A"/>
          </a:fontRef>
        </p:style>
        <p:txBody>
          <a:bodyPr rtlCol="0" anchor="ctr"/>
          <a:lstStyle/>
          <a:p>
            <a:pPr algn="ctr"/>
            <a:endParaRPr lang="en-US">
              <a:latin typeface="Roboto" panose="02000000000000000000" pitchFamily="2" charset="0"/>
            </a:endParaRPr>
          </a:p>
        </p:txBody>
      </p:sp>
      <p:sp>
        <p:nvSpPr>
          <p:cNvPr id="358" name="Tile opt_in 358"/>
          <p:cNvSpPr/>
          <p:nvPr/>
        </p:nvSpPr>
        <p:spPr>
          <a:xfrm rot="5400000">
            <a:off x="3017972" y="2648042"/>
            <a:ext cx="198434" cy="198434"/>
          </a:xfrm>
          <a:prstGeom prst="roundRect">
            <a:avLst/>
          </a:prstGeom>
          <a:solidFill>
            <a:srgbClr val="70AD47">
              <a:lumMod val="60000"/>
              <a:lumOff val="40000"/>
            </a:srgbClr>
          </a:solidFill>
          <a:ln>
            <a:solidFill>
              <a:srgbClr val="70AD47"/>
            </a:solidFill>
          </a:ln>
        </p:spPr>
        <p:style>
          <a:lnRef idx="1">
            <a:srgbClr val="FFC000"/>
          </a:lnRef>
          <a:fillRef idx="2">
            <a:srgbClr val="FFC000"/>
          </a:fillRef>
          <a:effectRef idx="1">
            <a:srgbClr val="FFC000"/>
          </a:effectRef>
          <a:fontRef idx="minor">
            <a:srgbClr val="44546A"/>
          </a:fontRef>
        </p:style>
        <p:txBody>
          <a:bodyPr rtlCol="0" anchor="ctr"/>
          <a:lstStyle/>
          <a:p>
            <a:pPr algn="ctr"/>
            <a:endParaRPr lang="en-US">
              <a:latin typeface="Roboto" panose="02000000000000000000" pitchFamily="2" charset="0"/>
            </a:endParaRPr>
          </a:p>
        </p:txBody>
      </p:sp>
      <p:sp>
        <p:nvSpPr>
          <p:cNvPr id="359" name="Tile opt_in 359"/>
          <p:cNvSpPr/>
          <p:nvPr/>
        </p:nvSpPr>
        <p:spPr>
          <a:xfrm rot="5400000">
            <a:off x="3017972" y="2903653"/>
            <a:ext cx="198434" cy="198434"/>
          </a:xfrm>
          <a:prstGeom prst="roundRect">
            <a:avLst/>
          </a:prstGeom>
          <a:solidFill>
            <a:srgbClr val="70AD47">
              <a:lumMod val="60000"/>
              <a:lumOff val="40000"/>
            </a:srgbClr>
          </a:solidFill>
          <a:ln>
            <a:solidFill>
              <a:srgbClr val="70AD47"/>
            </a:solidFill>
          </a:ln>
        </p:spPr>
        <p:style>
          <a:lnRef idx="1">
            <a:srgbClr val="FFC000"/>
          </a:lnRef>
          <a:fillRef idx="2">
            <a:srgbClr val="FFC000"/>
          </a:fillRef>
          <a:effectRef idx="1">
            <a:srgbClr val="FFC000"/>
          </a:effectRef>
          <a:fontRef idx="minor">
            <a:srgbClr val="44546A"/>
          </a:fontRef>
        </p:style>
        <p:txBody>
          <a:bodyPr rtlCol="0" anchor="ctr"/>
          <a:lstStyle/>
          <a:p>
            <a:pPr algn="ctr"/>
            <a:endParaRPr lang="en-US">
              <a:latin typeface="Roboto" panose="02000000000000000000" pitchFamily="2" charset="0"/>
            </a:endParaRPr>
          </a:p>
        </p:txBody>
      </p:sp>
      <p:sp>
        <p:nvSpPr>
          <p:cNvPr id="360" name="Tile opt_in 360"/>
          <p:cNvSpPr/>
          <p:nvPr/>
        </p:nvSpPr>
        <p:spPr>
          <a:xfrm rot="5400000">
            <a:off x="3017972" y="3159264"/>
            <a:ext cx="198434" cy="198434"/>
          </a:xfrm>
          <a:prstGeom prst="roundRect">
            <a:avLst/>
          </a:prstGeom>
          <a:solidFill>
            <a:srgbClr val="70AD47">
              <a:lumMod val="60000"/>
              <a:lumOff val="40000"/>
            </a:srgbClr>
          </a:solidFill>
          <a:ln>
            <a:solidFill>
              <a:srgbClr val="70AD47"/>
            </a:solidFill>
          </a:ln>
        </p:spPr>
        <p:style>
          <a:lnRef idx="1">
            <a:srgbClr val="FFC000"/>
          </a:lnRef>
          <a:fillRef idx="2">
            <a:srgbClr val="FFC000"/>
          </a:fillRef>
          <a:effectRef idx="1">
            <a:srgbClr val="FFC000"/>
          </a:effectRef>
          <a:fontRef idx="minor">
            <a:srgbClr val="44546A"/>
          </a:fontRef>
        </p:style>
        <p:txBody>
          <a:bodyPr rtlCol="0" anchor="ctr"/>
          <a:lstStyle/>
          <a:p>
            <a:pPr algn="ctr"/>
            <a:endParaRPr lang="en-US">
              <a:latin typeface="Roboto" panose="02000000000000000000" pitchFamily="2" charset="0"/>
            </a:endParaRPr>
          </a:p>
        </p:txBody>
      </p:sp>
      <p:sp>
        <p:nvSpPr>
          <p:cNvPr id="361" name="Tile opt_in 361"/>
          <p:cNvSpPr/>
          <p:nvPr/>
        </p:nvSpPr>
        <p:spPr>
          <a:xfrm rot="5400000">
            <a:off x="3017972" y="3414874"/>
            <a:ext cx="198434" cy="198434"/>
          </a:xfrm>
          <a:prstGeom prst="roundRect">
            <a:avLst/>
          </a:prstGeom>
          <a:solidFill>
            <a:srgbClr val="70AD47">
              <a:lumMod val="60000"/>
              <a:lumOff val="40000"/>
            </a:srgbClr>
          </a:solidFill>
          <a:ln>
            <a:solidFill>
              <a:srgbClr val="70AD47"/>
            </a:solidFill>
          </a:ln>
        </p:spPr>
        <p:style>
          <a:lnRef idx="1">
            <a:srgbClr val="FFC000"/>
          </a:lnRef>
          <a:fillRef idx="2">
            <a:srgbClr val="FFC000"/>
          </a:fillRef>
          <a:effectRef idx="1">
            <a:srgbClr val="FFC000"/>
          </a:effectRef>
          <a:fontRef idx="minor">
            <a:srgbClr val="44546A"/>
          </a:fontRef>
        </p:style>
        <p:txBody>
          <a:bodyPr rtlCol="0" anchor="ctr"/>
          <a:lstStyle/>
          <a:p>
            <a:pPr algn="ctr"/>
            <a:endParaRPr lang="en-US">
              <a:latin typeface="Roboto" panose="02000000000000000000" pitchFamily="2" charset="0"/>
            </a:endParaRPr>
          </a:p>
        </p:txBody>
      </p:sp>
      <p:sp>
        <p:nvSpPr>
          <p:cNvPr id="362" name="Tile opt_in 362"/>
          <p:cNvSpPr/>
          <p:nvPr/>
        </p:nvSpPr>
        <p:spPr>
          <a:xfrm rot="5400000">
            <a:off x="3017972" y="3670485"/>
            <a:ext cx="198434" cy="198434"/>
          </a:xfrm>
          <a:prstGeom prst="roundRect">
            <a:avLst/>
          </a:prstGeom>
          <a:solidFill>
            <a:srgbClr val="70AD47">
              <a:lumMod val="60000"/>
              <a:lumOff val="40000"/>
            </a:srgbClr>
          </a:solidFill>
          <a:ln>
            <a:solidFill>
              <a:srgbClr val="70AD47"/>
            </a:solidFill>
          </a:ln>
        </p:spPr>
        <p:style>
          <a:lnRef idx="1">
            <a:srgbClr val="FFC000"/>
          </a:lnRef>
          <a:fillRef idx="2">
            <a:srgbClr val="FFC000"/>
          </a:fillRef>
          <a:effectRef idx="1">
            <a:srgbClr val="FFC000"/>
          </a:effectRef>
          <a:fontRef idx="minor">
            <a:srgbClr val="44546A"/>
          </a:fontRef>
        </p:style>
        <p:txBody>
          <a:bodyPr rtlCol="0" anchor="ctr"/>
          <a:lstStyle/>
          <a:p>
            <a:pPr algn="ctr"/>
            <a:endParaRPr lang="en-US">
              <a:latin typeface="Roboto" panose="02000000000000000000" pitchFamily="2" charset="0"/>
            </a:endParaRPr>
          </a:p>
        </p:txBody>
      </p:sp>
      <p:sp>
        <p:nvSpPr>
          <p:cNvPr id="363" name="Tile opt_in 363"/>
          <p:cNvSpPr/>
          <p:nvPr/>
        </p:nvSpPr>
        <p:spPr>
          <a:xfrm rot="5400000">
            <a:off x="3017972" y="3926096"/>
            <a:ext cx="198434" cy="198434"/>
          </a:xfrm>
          <a:prstGeom prst="roundRect">
            <a:avLst/>
          </a:prstGeom>
          <a:solidFill>
            <a:srgbClr val="70AD47">
              <a:lumMod val="60000"/>
              <a:lumOff val="40000"/>
            </a:srgbClr>
          </a:solidFill>
          <a:ln>
            <a:solidFill>
              <a:srgbClr val="70AD47"/>
            </a:solidFill>
          </a:ln>
        </p:spPr>
        <p:style>
          <a:lnRef idx="1">
            <a:srgbClr val="FFC000"/>
          </a:lnRef>
          <a:fillRef idx="2">
            <a:srgbClr val="FFC000"/>
          </a:fillRef>
          <a:effectRef idx="1">
            <a:srgbClr val="FFC000"/>
          </a:effectRef>
          <a:fontRef idx="minor">
            <a:srgbClr val="44546A"/>
          </a:fontRef>
        </p:style>
        <p:txBody>
          <a:bodyPr rtlCol="0" anchor="ctr"/>
          <a:lstStyle/>
          <a:p>
            <a:pPr algn="ctr"/>
            <a:endParaRPr lang="en-US">
              <a:latin typeface="Roboto" panose="02000000000000000000" pitchFamily="2" charset="0"/>
            </a:endParaRPr>
          </a:p>
        </p:txBody>
      </p:sp>
      <p:sp>
        <p:nvSpPr>
          <p:cNvPr id="364" name="Tile opt_out 364"/>
          <p:cNvSpPr/>
          <p:nvPr/>
        </p:nvSpPr>
        <p:spPr>
          <a:xfrm rot="5400000">
            <a:off x="3275833" y="2136822"/>
            <a:ext cx="198434" cy="198434"/>
          </a:xfrm>
          <a:prstGeom prst="roundRect">
            <a:avLst/>
          </a:prstGeom>
          <a:gradFill flip="none" rotWithShape="0">
            <a:gsLst>
              <a:gs pos="48000">
                <a:srgbClr val="70AD47">
                  <a:lumMod val="60000"/>
                  <a:lumOff val="40000"/>
                </a:srgbClr>
              </a:gs>
              <a:gs pos="52000">
                <a:srgbClr val="C00000"/>
              </a:gs>
            </a:gsLst>
            <a:lin ang="2700000" scaled="1"/>
            <a:tileRect/>
          </a:gradFill>
          <a:ln>
            <a:solidFill>
              <a:srgbClr val="C00000"/>
            </a:solidFill>
          </a:ln>
        </p:spPr>
        <p:style>
          <a:lnRef idx="1">
            <a:srgbClr val="ED7D31"/>
          </a:lnRef>
          <a:fillRef idx="2">
            <a:srgbClr val="ED7D31"/>
          </a:fillRef>
          <a:effectRef idx="1">
            <a:srgbClr val="ED7D31"/>
          </a:effectRef>
          <a:fontRef idx="minor">
            <a:srgbClr val="44546A"/>
          </a:fontRef>
        </p:style>
        <p:txBody>
          <a:bodyPr rtlCol="0" anchor="ctr"/>
          <a:lstStyle/>
          <a:p>
            <a:pPr algn="ctr"/>
            <a:endParaRPr lang="en-US">
              <a:latin typeface="Roboto" panose="02000000000000000000" pitchFamily="2" charset="0"/>
            </a:endParaRPr>
          </a:p>
        </p:txBody>
      </p:sp>
      <p:sp>
        <p:nvSpPr>
          <p:cNvPr id="365" name="Tile opt_out 365"/>
          <p:cNvSpPr/>
          <p:nvPr/>
        </p:nvSpPr>
        <p:spPr>
          <a:xfrm rot="5400000">
            <a:off x="3275833" y="2392432"/>
            <a:ext cx="198434" cy="198434"/>
          </a:xfrm>
          <a:prstGeom prst="roundRect">
            <a:avLst/>
          </a:prstGeom>
          <a:gradFill flip="none" rotWithShape="0">
            <a:gsLst>
              <a:gs pos="48000">
                <a:srgbClr val="70AD47">
                  <a:lumMod val="60000"/>
                  <a:lumOff val="40000"/>
                </a:srgbClr>
              </a:gs>
              <a:gs pos="52000">
                <a:srgbClr val="C00000"/>
              </a:gs>
            </a:gsLst>
            <a:lin ang="2700000" scaled="1"/>
            <a:tileRect/>
          </a:gradFill>
          <a:ln>
            <a:solidFill>
              <a:srgbClr val="C00000"/>
            </a:solidFill>
          </a:ln>
        </p:spPr>
        <p:style>
          <a:lnRef idx="1">
            <a:srgbClr val="ED7D31"/>
          </a:lnRef>
          <a:fillRef idx="2">
            <a:srgbClr val="ED7D31"/>
          </a:fillRef>
          <a:effectRef idx="1">
            <a:srgbClr val="ED7D31"/>
          </a:effectRef>
          <a:fontRef idx="minor">
            <a:srgbClr val="44546A"/>
          </a:fontRef>
        </p:style>
        <p:txBody>
          <a:bodyPr rtlCol="0" anchor="ctr"/>
          <a:lstStyle/>
          <a:p>
            <a:pPr algn="ctr"/>
            <a:endParaRPr lang="en-US">
              <a:latin typeface="Roboto" panose="02000000000000000000" pitchFamily="2" charset="0"/>
            </a:endParaRPr>
          </a:p>
        </p:txBody>
      </p:sp>
      <p:sp>
        <p:nvSpPr>
          <p:cNvPr id="366" name="Tile opt_out 366"/>
          <p:cNvSpPr/>
          <p:nvPr/>
        </p:nvSpPr>
        <p:spPr>
          <a:xfrm rot="5400000">
            <a:off x="3275833" y="2648042"/>
            <a:ext cx="198434" cy="198434"/>
          </a:xfrm>
          <a:prstGeom prst="roundRect">
            <a:avLst/>
          </a:prstGeom>
          <a:gradFill flip="none" rotWithShape="0">
            <a:gsLst>
              <a:gs pos="48000">
                <a:srgbClr val="70AD47">
                  <a:lumMod val="60000"/>
                  <a:lumOff val="40000"/>
                </a:srgbClr>
              </a:gs>
              <a:gs pos="52000">
                <a:srgbClr val="C00000"/>
              </a:gs>
            </a:gsLst>
            <a:lin ang="2700000" scaled="1"/>
            <a:tileRect/>
          </a:gradFill>
          <a:ln>
            <a:solidFill>
              <a:srgbClr val="C00000"/>
            </a:solidFill>
          </a:ln>
        </p:spPr>
        <p:style>
          <a:lnRef idx="1">
            <a:srgbClr val="ED7D31"/>
          </a:lnRef>
          <a:fillRef idx="2">
            <a:srgbClr val="ED7D31"/>
          </a:fillRef>
          <a:effectRef idx="1">
            <a:srgbClr val="ED7D31"/>
          </a:effectRef>
          <a:fontRef idx="minor">
            <a:srgbClr val="44546A"/>
          </a:fontRef>
        </p:style>
        <p:txBody>
          <a:bodyPr rtlCol="0" anchor="ctr"/>
          <a:lstStyle/>
          <a:p>
            <a:pPr algn="ctr"/>
            <a:endParaRPr lang="en-US">
              <a:latin typeface="Roboto" panose="02000000000000000000" pitchFamily="2" charset="0"/>
            </a:endParaRPr>
          </a:p>
        </p:txBody>
      </p:sp>
      <p:sp>
        <p:nvSpPr>
          <p:cNvPr id="367" name="Tile opt_out 367"/>
          <p:cNvSpPr/>
          <p:nvPr/>
        </p:nvSpPr>
        <p:spPr>
          <a:xfrm rot="5400000">
            <a:off x="3275833" y="2903653"/>
            <a:ext cx="198434" cy="198434"/>
          </a:xfrm>
          <a:prstGeom prst="roundRect">
            <a:avLst/>
          </a:prstGeom>
          <a:gradFill flip="none" rotWithShape="0">
            <a:gsLst>
              <a:gs pos="48000">
                <a:srgbClr val="70AD47">
                  <a:lumMod val="60000"/>
                  <a:lumOff val="40000"/>
                </a:srgbClr>
              </a:gs>
              <a:gs pos="52000">
                <a:srgbClr val="C00000"/>
              </a:gs>
            </a:gsLst>
            <a:lin ang="2700000" scaled="1"/>
            <a:tileRect/>
          </a:gradFill>
          <a:ln>
            <a:solidFill>
              <a:srgbClr val="C00000"/>
            </a:solidFill>
          </a:ln>
        </p:spPr>
        <p:style>
          <a:lnRef idx="1">
            <a:srgbClr val="ED7D31"/>
          </a:lnRef>
          <a:fillRef idx="2">
            <a:srgbClr val="ED7D31"/>
          </a:fillRef>
          <a:effectRef idx="1">
            <a:srgbClr val="ED7D31"/>
          </a:effectRef>
          <a:fontRef idx="minor">
            <a:srgbClr val="44546A"/>
          </a:fontRef>
        </p:style>
        <p:txBody>
          <a:bodyPr rtlCol="0" anchor="ctr"/>
          <a:lstStyle/>
          <a:p>
            <a:pPr algn="ctr"/>
            <a:endParaRPr lang="en-US">
              <a:latin typeface="Roboto" panose="02000000000000000000" pitchFamily="2" charset="0"/>
            </a:endParaRPr>
          </a:p>
        </p:txBody>
      </p:sp>
      <p:sp>
        <p:nvSpPr>
          <p:cNvPr id="368" name="Tile opt_out 368"/>
          <p:cNvSpPr/>
          <p:nvPr/>
        </p:nvSpPr>
        <p:spPr>
          <a:xfrm rot="5400000">
            <a:off x="3275833" y="3159264"/>
            <a:ext cx="198434" cy="198434"/>
          </a:xfrm>
          <a:prstGeom prst="roundRect">
            <a:avLst/>
          </a:prstGeom>
          <a:gradFill flip="none" rotWithShape="0">
            <a:gsLst>
              <a:gs pos="48000">
                <a:srgbClr val="70AD47">
                  <a:lumMod val="60000"/>
                  <a:lumOff val="40000"/>
                </a:srgbClr>
              </a:gs>
              <a:gs pos="52000">
                <a:srgbClr val="C00000"/>
              </a:gs>
            </a:gsLst>
            <a:lin ang="2700000" scaled="1"/>
            <a:tileRect/>
          </a:gradFill>
          <a:ln>
            <a:solidFill>
              <a:srgbClr val="C00000"/>
            </a:solidFill>
          </a:ln>
        </p:spPr>
        <p:style>
          <a:lnRef idx="1">
            <a:srgbClr val="ED7D31"/>
          </a:lnRef>
          <a:fillRef idx="2">
            <a:srgbClr val="ED7D31"/>
          </a:fillRef>
          <a:effectRef idx="1">
            <a:srgbClr val="ED7D31"/>
          </a:effectRef>
          <a:fontRef idx="minor">
            <a:srgbClr val="44546A"/>
          </a:fontRef>
        </p:style>
        <p:txBody>
          <a:bodyPr rtlCol="0" anchor="ctr"/>
          <a:lstStyle/>
          <a:p>
            <a:pPr algn="ctr"/>
            <a:endParaRPr lang="en-US">
              <a:latin typeface="Roboto" panose="02000000000000000000" pitchFamily="2" charset="0"/>
            </a:endParaRPr>
          </a:p>
        </p:txBody>
      </p:sp>
      <p:sp>
        <p:nvSpPr>
          <p:cNvPr id="369" name="Tile opt_out 369"/>
          <p:cNvSpPr/>
          <p:nvPr/>
        </p:nvSpPr>
        <p:spPr>
          <a:xfrm rot="5400000">
            <a:off x="3275833" y="3414874"/>
            <a:ext cx="198434" cy="198434"/>
          </a:xfrm>
          <a:prstGeom prst="roundRect">
            <a:avLst/>
          </a:prstGeom>
          <a:gradFill flip="none" rotWithShape="0">
            <a:gsLst>
              <a:gs pos="48000">
                <a:srgbClr val="70AD47">
                  <a:lumMod val="60000"/>
                  <a:lumOff val="40000"/>
                </a:srgbClr>
              </a:gs>
              <a:gs pos="52000">
                <a:srgbClr val="C00000"/>
              </a:gs>
            </a:gsLst>
            <a:lin ang="2700000" scaled="1"/>
            <a:tileRect/>
          </a:gradFill>
          <a:ln>
            <a:solidFill>
              <a:srgbClr val="C00000"/>
            </a:solidFill>
          </a:ln>
        </p:spPr>
        <p:style>
          <a:lnRef idx="1">
            <a:srgbClr val="ED7D31"/>
          </a:lnRef>
          <a:fillRef idx="2">
            <a:srgbClr val="ED7D31"/>
          </a:fillRef>
          <a:effectRef idx="1">
            <a:srgbClr val="ED7D31"/>
          </a:effectRef>
          <a:fontRef idx="minor">
            <a:srgbClr val="44546A"/>
          </a:fontRef>
        </p:style>
        <p:txBody>
          <a:bodyPr rtlCol="0" anchor="ctr"/>
          <a:lstStyle/>
          <a:p>
            <a:pPr algn="ctr"/>
            <a:endParaRPr lang="en-US">
              <a:latin typeface="Roboto" panose="02000000000000000000" pitchFamily="2" charset="0"/>
            </a:endParaRPr>
          </a:p>
        </p:txBody>
      </p:sp>
      <p:sp>
        <p:nvSpPr>
          <p:cNvPr id="370" name="Tile opt_out 370"/>
          <p:cNvSpPr/>
          <p:nvPr/>
        </p:nvSpPr>
        <p:spPr>
          <a:xfrm rot="5400000">
            <a:off x="3275833" y="3670485"/>
            <a:ext cx="198434" cy="198434"/>
          </a:xfrm>
          <a:prstGeom prst="roundRect">
            <a:avLst/>
          </a:prstGeom>
          <a:gradFill flip="none" rotWithShape="0">
            <a:gsLst>
              <a:gs pos="48000">
                <a:srgbClr val="70AD47">
                  <a:lumMod val="60000"/>
                  <a:lumOff val="40000"/>
                </a:srgbClr>
              </a:gs>
              <a:gs pos="52000">
                <a:srgbClr val="C00000"/>
              </a:gs>
            </a:gsLst>
            <a:lin ang="2700000" scaled="1"/>
            <a:tileRect/>
          </a:gradFill>
          <a:ln>
            <a:solidFill>
              <a:srgbClr val="C00000"/>
            </a:solidFill>
          </a:ln>
        </p:spPr>
        <p:style>
          <a:lnRef idx="1">
            <a:srgbClr val="ED7D31"/>
          </a:lnRef>
          <a:fillRef idx="2">
            <a:srgbClr val="ED7D31"/>
          </a:fillRef>
          <a:effectRef idx="1">
            <a:srgbClr val="ED7D31"/>
          </a:effectRef>
          <a:fontRef idx="minor">
            <a:srgbClr val="44546A"/>
          </a:fontRef>
        </p:style>
        <p:txBody>
          <a:bodyPr rtlCol="0" anchor="ctr"/>
          <a:lstStyle/>
          <a:p>
            <a:pPr algn="ctr"/>
            <a:endParaRPr lang="en-US">
              <a:latin typeface="Roboto" panose="02000000000000000000" pitchFamily="2" charset="0"/>
            </a:endParaRPr>
          </a:p>
        </p:txBody>
      </p:sp>
      <p:sp>
        <p:nvSpPr>
          <p:cNvPr id="371" name="Tile act_out 371"/>
          <p:cNvSpPr/>
          <p:nvPr/>
        </p:nvSpPr>
        <p:spPr>
          <a:xfrm rot="5400000">
            <a:off x="4427063" y="2136822"/>
            <a:ext cx="198434" cy="198434"/>
          </a:xfrm>
          <a:prstGeom prst="roundRect">
            <a:avLst/>
          </a:prstGeom>
          <a:gradFill flip="none" rotWithShape="0">
            <a:gsLst>
              <a:gs pos="48000">
                <a:srgbClr val="EBB6FF"/>
              </a:gs>
              <a:gs pos="52000">
                <a:srgbClr val="C00000"/>
              </a:gs>
            </a:gsLst>
            <a:lin ang="2700000" scaled="1"/>
            <a:tileRect/>
          </a:gradFill>
          <a:ln>
            <a:solidFill>
              <a:srgbClr val="C00000"/>
            </a:solidFill>
          </a:ln>
        </p:spPr>
        <p:style>
          <a:lnRef idx="1">
            <a:srgbClr val="ED7D31"/>
          </a:lnRef>
          <a:fillRef idx="2">
            <a:srgbClr val="ED7D31"/>
          </a:fillRef>
          <a:effectRef idx="1">
            <a:srgbClr val="ED7D31"/>
          </a:effectRef>
          <a:fontRef idx="minor">
            <a:srgbClr val="44546A"/>
          </a:fontRef>
        </p:style>
        <p:txBody>
          <a:bodyPr rtlCol="0" anchor="ctr"/>
          <a:lstStyle/>
          <a:p>
            <a:pPr algn="ctr"/>
            <a:endParaRPr lang="en-US">
              <a:latin typeface="Roboto" panose="02000000000000000000" pitchFamily="2" charset="0"/>
            </a:endParaRPr>
          </a:p>
        </p:txBody>
      </p:sp>
      <p:sp>
        <p:nvSpPr>
          <p:cNvPr id="372" name="Tile act_out 372"/>
          <p:cNvSpPr/>
          <p:nvPr/>
        </p:nvSpPr>
        <p:spPr>
          <a:xfrm rot="5400000">
            <a:off x="4427063" y="2392432"/>
            <a:ext cx="198434" cy="198434"/>
          </a:xfrm>
          <a:prstGeom prst="roundRect">
            <a:avLst/>
          </a:prstGeom>
          <a:gradFill flip="none" rotWithShape="0">
            <a:gsLst>
              <a:gs pos="48000">
                <a:srgbClr val="EBB6FF"/>
              </a:gs>
              <a:gs pos="52000">
                <a:srgbClr val="C00000"/>
              </a:gs>
            </a:gsLst>
            <a:lin ang="2700000" scaled="1"/>
            <a:tileRect/>
          </a:gradFill>
          <a:ln>
            <a:solidFill>
              <a:srgbClr val="C00000"/>
            </a:solidFill>
          </a:ln>
        </p:spPr>
        <p:style>
          <a:lnRef idx="1">
            <a:srgbClr val="ED7D31"/>
          </a:lnRef>
          <a:fillRef idx="2">
            <a:srgbClr val="ED7D31"/>
          </a:fillRef>
          <a:effectRef idx="1">
            <a:srgbClr val="ED7D31"/>
          </a:effectRef>
          <a:fontRef idx="minor">
            <a:srgbClr val="44546A"/>
          </a:fontRef>
        </p:style>
        <p:txBody>
          <a:bodyPr rtlCol="0" anchor="ctr"/>
          <a:lstStyle/>
          <a:p>
            <a:pPr algn="ctr"/>
            <a:endParaRPr lang="en-US">
              <a:latin typeface="Roboto" panose="02000000000000000000" pitchFamily="2" charset="0"/>
            </a:endParaRPr>
          </a:p>
        </p:txBody>
      </p:sp>
      <p:sp>
        <p:nvSpPr>
          <p:cNvPr id="373" name="Tile act_out 373"/>
          <p:cNvSpPr/>
          <p:nvPr/>
        </p:nvSpPr>
        <p:spPr>
          <a:xfrm rot="5400000">
            <a:off x="4427063" y="2648042"/>
            <a:ext cx="198434" cy="198434"/>
          </a:xfrm>
          <a:prstGeom prst="roundRect">
            <a:avLst/>
          </a:prstGeom>
          <a:gradFill flip="none" rotWithShape="0">
            <a:gsLst>
              <a:gs pos="48000">
                <a:srgbClr val="EBB6FF"/>
              </a:gs>
              <a:gs pos="52000">
                <a:srgbClr val="C00000"/>
              </a:gs>
            </a:gsLst>
            <a:lin ang="2700000" scaled="1"/>
            <a:tileRect/>
          </a:gradFill>
          <a:ln>
            <a:solidFill>
              <a:srgbClr val="C00000"/>
            </a:solidFill>
          </a:ln>
        </p:spPr>
        <p:style>
          <a:lnRef idx="1">
            <a:srgbClr val="ED7D31"/>
          </a:lnRef>
          <a:fillRef idx="2">
            <a:srgbClr val="ED7D31"/>
          </a:fillRef>
          <a:effectRef idx="1">
            <a:srgbClr val="ED7D31"/>
          </a:effectRef>
          <a:fontRef idx="minor">
            <a:srgbClr val="44546A"/>
          </a:fontRef>
        </p:style>
        <p:txBody>
          <a:bodyPr rtlCol="0" anchor="ctr"/>
          <a:lstStyle/>
          <a:p>
            <a:pPr algn="ctr"/>
            <a:endParaRPr lang="en-US">
              <a:latin typeface="Roboto" panose="02000000000000000000" pitchFamily="2" charset="0"/>
            </a:endParaRPr>
          </a:p>
        </p:txBody>
      </p:sp>
      <p:sp>
        <p:nvSpPr>
          <p:cNvPr id="374" name="Tile act_out 374"/>
          <p:cNvSpPr/>
          <p:nvPr/>
        </p:nvSpPr>
        <p:spPr>
          <a:xfrm rot="5400000">
            <a:off x="4427063" y="2903653"/>
            <a:ext cx="198434" cy="198434"/>
          </a:xfrm>
          <a:prstGeom prst="roundRect">
            <a:avLst/>
          </a:prstGeom>
          <a:gradFill flip="none" rotWithShape="0">
            <a:gsLst>
              <a:gs pos="48000">
                <a:srgbClr val="EBB6FF"/>
              </a:gs>
              <a:gs pos="52000">
                <a:srgbClr val="C00000"/>
              </a:gs>
            </a:gsLst>
            <a:lin ang="2700000" scaled="1"/>
            <a:tileRect/>
          </a:gradFill>
          <a:ln>
            <a:solidFill>
              <a:srgbClr val="C00000"/>
            </a:solidFill>
          </a:ln>
        </p:spPr>
        <p:style>
          <a:lnRef idx="1">
            <a:srgbClr val="ED7D31"/>
          </a:lnRef>
          <a:fillRef idx="2">
            <a:srgbClr val="ED7D31"/>
          </a:fillRef>
          <a:effectRef idx="1">
            <a:srgbClr val="ED7D31"/>
          </a:effectRef>
          <a:fontRef idx="minor">
            <a:srgbClr val="44546A"/>
          </a:fontRef>
        </p:style>
        <p:txBody>
          <a:bodyPr rtlCol="0" anchor="ctr"/>
          <a:lstStyle/>
          <a:p>
            <a:pPr algn="ctr"/>
            <a:endParaRPr lang="en-US">
              <a:latin typeface="Roboto" panose="02000000000000000000" pitchFamily="2" charset="0"/>
            </a:endParaRPr>
          </a:p>
        </p:txBody>
      </p:sp>
      <p:sp>
        <p:nvSpPr>
          <p:cNvPr id="375" name="Tile act_out 375"/>
          <p:cNvSpPr/>
          <p:nvPr/>
        </p:nvSpPr>
        <p:spPr>
          <a:xfrm rot="5400000">
            <a:off x="4427063" y="3159264"/>
            <a:ext cx="198434" cy="198434"/>
          </a:xfrm>
          <a:prstGeom prst="roundRect">
            <a:avLst/>
          </a:prstGeom>
          <a:gradFill flip="none" rotWithShape="0">
            <a:gsLst>
              <a:gs pos="48000">
                <a:srgbClr val="EBB6FF"/>
              </a:gs>
              <a:gs pos="52000">
                <a:srgbClr val="C00000"/>
              </a:gs>
            </a:gsLst>
            <a:lin ang="2700000" scaled="1"/>
            <a:tileRect/>
          </a:gradFill>
          <a:ln>
            <a:solidFill>
              <a:srgbClr val="C00000"/>
            </a:solidFill>
          </a:ln>
        </p:spPr>
        <p:style>
          <a:lnRef idx="1">
            <a:srgbClr val="ED7D31"/>
          </a:lnRef>
          <a:fillRef idx="2">
            <a:srgbClr val="ED7D31"/>
          </a:fillRef>
          <a:effectRef idx="1">
            <a:srgbClr val="ED7D31"/>
          </a:effectRef>
          <a:fontRef idx="minor">
            <a:srgbClr val="44546A"/>
          </a:fontRef>
        </p:style>
        <p:txBody>
          <a:bodyPr rtlCol="0" anchor="ctr"/>
          <a:lstStyle/>
          <a:p>
            <a:pPr algn="ctr"/>
            <a:endParaRPr lang="en-US">
              <a:latin typeface="Roboto" panose="02000000000000000000" pitchFamily="2" charset="0"/>
            </a:endParaRPr>
          </a:p>
        </p:txBody>
      </p:sp>
      <p:sp>
        <p:nvSpPr>
          <p:cNvPr id="376" name="Tile act_out 376"/>
          <p:cNvSpPr/>
          <p:nvPr/>
        </p:nvSpPr>
        <p:spPr>
          <a:xfrm rot="5400000">
            <a:off x="4427063" y="3414874"/>
            <a:ext cx="198434" cy="198434"/>
          </a:xfrm>
          <a:prstGeom prst="roundRect">
            <a:avLst/>
          </a:prstGeom>
          <a:gradFill flip="none" rotWithShape="0">
            <a:gsLst>
              <a:gs pos="48000">
                <a:srgbClr val="EBB6FF"/>
              </a:gs>
              <a:gs pos="52000">
                <a:srgbClr val="C00000"/>
              </a:gs>
            </a:gsLst>
            <a:lin ang="2700000" scaled="1"/>
            <a:tileRect/>
          </a:gradFill>
          <a:ln>
            <a:solidFill>
              <a:srgbClr val="C00000"/>
            </a:solidFill>
          </a:ln>
        </p:spPr>
        <p:style>
          <a:lnRef idx="1">
            <a:srgbClr val="ED7D31"/>
          </a:lnRef>
          <a:fillRef idx="2">
            <a:srgbClr val="ED7D31"/>
          </a:fillRef>
          <a:effectRef idx="1">
            <a:srgbClr val="ED7D31"/>
          </a:effectRef>
          <a:fontRef idx="minor">
            <a:srgbClr val="44546A"/>
          </a:fontRef>
        </p:style>
        <p:txBody>
          <a:bodyPr rtlCol="0" anchor="ctr"/>
          <a:lstStyle/>
          <a:p>
            <a:pPr algn="ctr"/>
            <a:endParaRPr lang="en-US">
              <a:latin typeface="Roboto" panose="02000000000000000000" pitchFamily="2" charset="0"/>
            </a:endParaRPr>
          </a:p>
        </p:txBody>
      </p:sp>
      <p:sp>
        <p:nvSpPr>
          <p:cNvPr id="377" name="Tile act_out 377"/>
          <p:cNvSpPr/>
          <p:nvPr/>
        </p:nvSpPr>
        <p:spPr>
          <a:xfrm rot="5400000">
            <a:off x="4427063" y="3670485"/>
            <a:ext cx="198434" cy="198434"/>
          </a:xfrm>
          <a:prstGeom prst="roundRect">
            <a:avLst/>
          </a:prstGeom>
          <a:gradFill flip="none" rotWithShape="0">
            <a:gsLst>
              <a:gs pos="48000">
                <a:srgbClr val="EBB6FF"/>
              </a:gs>
              <a:gs pos="52000">
                <a:srgbClr val="C00000"/>
              </a:gs>
            </a:gsLst>
            <a:lin ang="2700000" scaled="1"/>
            <a:tileRect/>
          </a:gradFill>
          <a:ln>
            <a:solidFill>
              <a:srgbClr val="C00000"/>
            </a:solidFill>
          </a:ln>
        </p:spPr>
        <p:style>
          <a:lnRef idx="1">
            <a:srgbClr val="ED7D31"/>
          </a:lnRef>
          <a:fillRef idx="2">
            <a:srgbClr val="ED7D31"/>
          </a:fillRef>
          <a:effectRef idx="1">
            <a:srgbClr val="ED7D31"/>
          </a:effectRef>
          <a:fontRef idx="minor">
            <a:srgbClr val="44546A"/>
          </a:fontRef>
        </p:style>
        <p:txBody>
          <a:bodyPr rtlCol="0" anchor="ctr"/>
          <a:lstStyle/>
          <a:p>
            <a:pPr algn="ctr"/>
            <a:endParaRPr lang="en-US">
              <a:latin typeface="Roboto" panose="02000000000000000000" pitchFamily="2" charset="0"/>
            </a:endParaRPr>
          </a:p>
        </p:txBody>
      </p:sp>
      <p:sp>
        <p:nvSpPr>
          <p:cNvPr id="378" name="Tile act_out 378"/>
          <p:cNvSpPr/>
          <p:nvPr/>
        </p:nvSpPr>
        <p:spPr>
          <a:xfrm rot="5400000">
            <a:off x="4427063" y="3926096"/>
            <a:ext cx="198434" cy="198434"/>
          </a:xfrm>
          <a:prstGeom prst="roundRect">
            <a:avLst/>
          </a:prstGeom>
          <a:gradFill flip="none" rotWithShape="0">
            <a:gsLst>
              <a:gs pos="48000">
                <a:srgbClr val="EBB6FF"/>
              </a:gs>
              <a:gs pos="52000">
                <a:srgbClr val="C00000"/>
              </a:gs>
            </a:gsLst>
            <a:lin ang="2700000" scaled="1"/>
            <a:tileRect/>
          </a:gradFill>
          <a:ln>
            <a:solidFill>
              <a:srgbClr val="C00000"/>
            </a:solidFill>
          </a:ln>
        </p:spPr>
        <p:style>
          <a:lnRef idx="1">
            <a:srgbClr val="ED7D31"/>
          </a:lnRef>
          <a:fillRef idx="2">
            <a:srgbClr val="ED7D31"/>
          </a:fillRef>
          <a:effectRef idx="1">
            <a:srgbClr val="ED7D31"/>
          </a:effectRef>
          <a:fontRef idx="minor">
            <a:srgbClr val="44546A"/>
          </a:fontRef>
        </p:style>
        <p:txBody>
          <a:bodyPr rtlCol="0" anchor="ctr"/>
          <a:lstStyle/>
          <a:p>
            <a:pPr algn="ctr"/>
            <a:endParaRPr lang="en-US">
              <a:latin typeface="Roboto" panose="02000000000000000000" pitchFamily="2" charset="0"/>
            </a:endParaRPr>
          </a:p>
        </p:txBody>
      </p:sp>
      <p:sp>
        <p:nvSpPr>
          <p:cNvPr id="276" name="TextBox 275">
            <a:extLst>
              <a:ext uri="{FF2B5EF4-FFF2-40B4-BE49-F238E27FC236}">
                <a16:creationId xmlns:a16="http://schemas.microsoft.com/office/drawing/2014/main" id="{A1D966E3-4103-326B-FCA6-1227794AF782}"/>
              </a:ext>
            </a:extLst>
          </p:cNvPr>
          <p:cNvSpPr txBox="1"/>
          <p:nvPr/>
        </p:nvSpPr>
        <p:spPr>
          <a:xfrm>
            <a:off x="137159" y="4473242"/>
            <a:ext cx="1463040" cy="584775"/>
          </a:xfrm>
          <a:prstGeom prst="rect">
            <a:avLst/>
          </a:prstGeom>
          <a:noFill/>
          <a:ln>
            <a:noFill/>
          </a:ln>
        </p:spPr>
        <p:txBody>
          <a:bodyPr wrap="square" rtlCol="0">
            <a:spAutoFit/>
          </a:bodyPr>
          <a:lstStyle/>
          <a:p>
            <a:pPr algn="ctr"/>
            <a:r>
              <a:rPr lang="en-US" sz="1600">
                <a:solidFill>
                  <a:srgbClr val="222222"/>
                </a:solidFill>
                <a:latin typeface="Roboto" panose="02000000000000000000" pitchFamily="2" charset="0"/>
                <a:ea typeface="Roboto" panose="02000000000000000000" pitchFamily="2" charset="0"/>
              </a:rPr>
              <a:t>Parameters</a:t>
            </a:r>
          </a:p>
          <a:p>
            <a:pPr algn="ctr"/>
            <a:r>
              <a:rPr lang="en-US" sz="1600">
                <a:solidFill>
                  <a:srgbClr val="222222"/>
                </a:solidFill>
                <a:latin typeface="Roboto" panose="02000000000000000000" pitchFamily="2" charset="0"/>
                <a:ea typeface="Roboto" panose="02000000000000000000" pitchFamily="2" charset="0"/>
              </a:rPr>
              <a:t>(bf16) 7.5GB</a:t>
            </a:r>
          </a:p>
        </p:txBody>
      </p:sp>
      <p:sp>
        <p:nvSpPr>
          <p:cNvPr id="277" name="TextBox 276">
            <a:extLst>
              <a:ext uri="{FF2B5EF4-FFF2-40B4-BE49-F238E27FC236}">
                <a16:creationId xmlns:a16="http://schemas.microsoft.com/office/drawing/2014/main" id="{2FB799A4-084B-8BB8-3527-BD974AD1411B}"/>
              </a:ext>
            </a:extLst>
          </p:cNvPr>
          <p:cNvSpPr txBox="1"/>
          <p:nvPr/>
        </p:nvSpPr>
        <p:spPr>
          <a:xfrm>
            <a:off x="1325880" y="4473242"/>
            <a:ext cx="1463040" cy="584775"/>
          </a:xfrm>
          <a:prstGeom prst="rect">
            <a:avLst/>
          </a:prstGeom>
          <a:noFill/>
          <a:ln>
            <a:noFill/>
          </a:ln>
        </p:spPr>
        <p:txBody>
          <a:bodyPr wrap="square" rtlCol="0">
            <a:spAutoFit/>
          </a:bodyPr>
          <a:lstStyle/>
          <a:p>
            <a:pPr algn="ctr"/>
            <a:r>
              <a:rPr lang="en-US" sz="1600">
                <a:solidFill>
                  <a:srgbClr val="222222"/>
                </a:solidFill>
                <a:latin typeface="Roboto" panose="02000000000000000000" pitchFamily="2" charset="0"/>
                <a:ea typeface="Roboto" panose="02000000000000000000" pitchFamily="2" charset="0"/>
              </a:rPr>
              <a:t>Gradients</a:t>
            </a:r>
          </a:p>
          <a:p>
            <a:pPr algn="ctr"/>
            <a:r>
              <a:rPr lang="en-US" sz="1600">
                <a:solidFill>
                  <a:srgbClr val="222222"/>
                </a:solidFill>
                <a:latin typeface="Roboto" panose="02000000000000000000" pitchFamily="2" charset="0"/>
                <a:ea typeface="Roboto" panose="02000000000000000000" pitchFamily="2" charset="0"/>
              </a:rPr>
              <a:t>(bf16) 7.5GB</a:t>
            </a:r>
          </a:p>
        </p:txBody>
      </p:sp>
      <p:sp>
        <p:nvSpPr>
          <p:cNvPr id="278" name="TextBox 277">
            <a:extLst>
              <a:ext uri="{FF2B5EF4-FFF2-40B4-BE49-F238E27FC236}">
                <a16:creationId xmlns:a16="http://schemas.microsoft.com/office/drawing/2014/main" id="{D93AB1AD-0C52-6153-CDB5-675AE3BB5D80}"/>
              </a:ext>
            </a:extLst>
          </p:cNvPr>
          <p:cNvSpPr txBox="1"/>
          <p:nvPr/>
        </p:nvSpPr>
        <p:spPr>
          <a:xfrm>
            <a:off x="2514600" y="4462087"/>
            <a:ext cx="1463040" cy="584775"/>
          </a:xfrm>
          <a:prstGeom prst="rect">
            <a:avLst/>
          </a:prstGeom>
          <a:noFill/>
          <a:ln>
            <a:noFill/>
          </a:ln>
        </p:spPr>
        <p:txBody>
          <a:bodyPr wrap="square" rtlCol="0">
            <a:spAutoFit/>
          </a:bodyPr>
          <a:lstStyle/>
          <a:p>
            <a:pPr algn="ctr"/>
            <a:r>
              <a:rPr lang="en-US" sz="1600">
                <a:solidFill>
                  <a:srgbClr val="222222"/>
                </a:solidFill>
                <a:latin typeface="Roboto" panose="02000000000000000000" pitchFamily="2" charset="0"/>
                <a:ea typeface="Roboto" panose="02000000000000000000" pitchFamily="2" charset="0"/>
              </a:rPr>
              <a:t>Optimizer</a:t>
            </a:r>
          </a:p>
          <a:p>
            <a:pPr algn="ctr"/>
            <a:r>
              <a:rPr lang="en-US" sz="1600">
                <a:solidFill>
                  <a:srgbClr val="222222"/>
                </a:solidFill>
                <a:latin typeface="Roboto" panose="02000000000000000000" pitchFamily="2" charset="0"/>
                <a:ea typeface="Roboto" panose="02000000000000000000" pitchFamily="2" charset="0"/>
              </a:rPr>
              <a:t>(bf16) 15GB</a:t>
            </a:r>
          </a:p>
        </p:txBody>
      </p:sp>
      <p:sp>
        <p:nvSpPr>
          <p:cNvPr id="2" name="TextBox 1">
            <a:extLst>
              <a:ext uri="{FF2B5EF4-FFF2-40B4-BE49-F238E27FC236}">
                <a16:creationId xmlns:a16="http://schemas.microsoft.com/office/drawing/2014/main" id="{DA796785-3264-C98D-1364-7873E76A19E7}"/>
              </a:ext>
            </a:extLst>
          </p:cNvPr>
          <p:cNvSpPr txBox="1"/>
          <p:nvPr/>
        </p:nvSpPr>
        <p:spPr>
          <a:xfrm>
            <a:off x="5166360" y="4467597"/>
            <a:ext cx="1463040" cy="646331"/>
          </a:xfrm>
          <a:prstGeom prst="rect">
            <a:avLst/>
          </a:prstGeom>
          <a:noFill/>
          <a:ln>
            <a:noFill/>
          </a:ln>
        </p:spPr>
        <p:txBody>
          <a:bodyPr wrap="square" rtlCol="0">
            <a:spAutoFit/>
          </a:bodyPr>
          <a:lstStyle/>
          <a:p>
            <a:pPr algn="ctr"/>
            <a:r>
              <a:rPr lang="en-US">
                <a:solidFill>
                  <a:srgbClr val="222222"/>
                </a:solidFill>
                <a:latin typeface="Roboto" panose="02000000000000000000" pitchFamily="2" charset="0"/>
              </a:rPr>
              <a:t>Total</a:t>
            </a:r>
          </a:p>
          <a:p>
            <a:pPr algn="ctr"/>
            <a:r>
              <a:rPr lang="en-US">
                <a:solidFill>
                  <a:srgbClr val="222222"/>
                </a:solidFill>
                <a:latin typeface="Roboto" panose="02000000000000000000" pitchFamily="2" charset="0"/>
              </a:rPr>
              <a:t>~38GB needed</a:t>
            </a:r>
          </a:p>
        </p:txBody>
      </p:sp>
      <p:sp>
        <p:nvSpPr>
          <p:cNvPr id="3" name="TextBox 2">
            <a:extLst>
              <a:ext uri="{FF2B5EF4-FFF2-40B4-BE49-F238E27FC236}">
                <a16:creationId xmlns:a16="http://schemas.microsoft.com/office/drawing/2014/main" id="{6F8776FD-8E38-8701-4AD4-F956ABDF7A02}"/>
              </a:ext>
            </a:extLst>
          </p:cNvPr>
          <p:cNvSpPr txBox="1"/>
          <p:nvPr/>
        </p:nvSpPr>
        <p:spPr>
          <a:xfrm>
            <a:off x="895654" y="1218767"/>
            <a:ext cx="2194560" cy="523220"/>
          </a:xfrm>
          <a:prstGeom prst="rect">
            <a:avLst/>
          </a:prstGeom>
          <a:noFill/>
        </p:spPr>
        <p:txBody>
          <a:bodyPr wrap="square" rtlCol="0">
            <a:spAutoFit/>
          </a:bodyPr>
          <a:lstStyle/>
          <a:p>
            <a:pPr algn="ctr"/>
            <a:r>
              <a:rPr sz="1100">
                <a:solidFill>
                  <a:srgbClr val="222222"/>
                </a:solidFill>
                <a:latin typeface="Arial"/>
              </a:rPr>
              <a:t>Our RTX PRO 5000 GPU</a:t>
            </a:r>
          </a:p>
          <a:p>
            <a:pPr algn="ctr"/>
            <a:r>
              <a:rPr sz="1100">
                <a:solidFill>
                  <a:srgbClr val="222222"/>
                </a:solidFill>
                <a:latin typeface="Arial"/>
              </a:rPr>
              <a:t>(24 GB)</a:t>
            </a:r>
          </a:p>
        </p:txBody>
      </p:sp>
      <p:sp>
        <p:nvSpPr>
          <p:cNvPr id="5" name="Left Brace 4">
            <a:extLst>
              <a:ext uri="{FF2B5EF4-FFF2-40B4-BE49-F238E27FC236}">
                <a16:creationId xmlns:a16="http://schemas.microsoft.com/office/drawing/2014/main" id="{27EE41C5-12CB-4E43-58FA-99B2AE642954}"/>
              </a:ext>
            </a:extLst>
          </p:cNvPr>
          <p:cNvSpPr/>
          <p:nvPr/>
        </p:nvSpPr>
        <p:spPr>
          <a:xfrm rot="5400000">
            <a:off x="1824685" y="667716"/>
            <a:ext cx="336499" cy="2504541"/>
          </a:xfrm>
          <a:prstGeom prst="leftBrace">
            <a:avLst/>
          </a:prstGeom>
        </p:spPr>
        <p:style>
          <a:lnRef idx="3">
            <a:srgbClr val="44546A"/>
          </a:lnRef>
          <a:fillRef idx="0">
            <a:srgbClr val="44546A"/>
          </a:fillRef>
          <a:effectRef idx="2">
            <a:srgbClr val="44546A"/>
          </a:effectRef>
          <a:fontRef idx="minor">
            <a:srgbClr val="44546A"/>
          </a:fontRef>
        </p:style>
        <p:txBody>
          <a:bodyPr rtlCol="0" anchor="ctr"/>
          <a:lstStyle/>
          <a:p>
            <a:pPr algn="ctr"/>
            <a:endParaRPr lang="en-US">
              <a:latin typeface="Roboto" panose="02000000000000000000" pitchFamily="2" charset="0"/>
            </a:endParaRPr>
          </a:p>
        </p:txBody>
      </p:sp>
      <p:sp>
        <p:nvSpPr>
          <p:cNvPr id="37" name="TextBox 36">
            <a:extLst>
              <a:ext uri="{FF2B5EF4-FFF2-40B4-BE49-F238E27FC236}">
                <a16:creationId xmlns:a16="http://schemas.microsoft.com/office/drawing/2014/main" id="{C5E7C49D-9254-C222-532B-79E05C5DC0E8}"/>
              </a:ext>
            </a:extLst>
          </p:cNvPr>
          <p:cNvSpPr txBox="1"/>
          <p:nvPr/>
        </p:nvSpPr>
        <p:spPr>
          <a:xfrm>
            <a:off x="3794760" y="4453070"/>
            <a:ext cx="1463040" cy="584775"/>
          </a:xfrm>
          <a:prstGeom prst="rect">
            <a:avLst/>
          </a:prstGeom>
          <a:noFill/>
          <a:ln>
            <a:noFill/>
          </a:ln>
        </p:spPr>
        <p:txBody>
          <a:bodyPr wrap="square" rtlCol="0">
            <a:spAutoFit/>
          </a:bodyPr>
          <a:lstStyle/>
          <a:p>
            <a:pPr algn="ctr"/>
            <a:r>
              <a:rPr lang="en-US" sz="1600">
                <a:solidFill>
                  <a:srgbClr val="222222"/>
                </a:solidFill>
                <a:latin typeface="Roboto" panose="02000000000000000000" pitchFamily="2" charset="0"/>
                <a:ea typeface="Roboto" panose="02000000000000000000" pitchFamily="2" charset="0"/>
              </a:rPr>
              <a:t>Activations</a:t>
            </a:r>
          </a:p>
          <a:p>
            <a:pPr algn="ctr"/>
            <a:r>
              <a:rPr lang="en-US" sz="1600">
                <a:solidFill>
                  <a:srgbClr val="222222"/>
                </a:solidFill>
                <a:latin typeface="Roboto" panose="02000000000000000000" pitchFamily="2" charset="0"/>
                <a:ea typeface="Roboto" panose="02000000000000000000" pitchFamily="2" charset="0"/>
              </a:rPr>
              <a:t>(bf16) 7.6GB</a:t>
            </a:r>
          </a:p>
        </p:txBody>
      </p:sp>
      <p:grpSp>
        <p:nvGrpSpPr>
          <p:cNvPr id="38" name="Group 37">
            <a:extLst>
              <a:ext uri="{FF2B5EF4-FFF2-40B4-BE49-F238E27FC236}">
                <a16:creationId xmlns:a16="http://schemas.microsoft.com/office/drawing/2014/main" id="{931A8D93-59B3-2291-0BAA-69385B680D16}"/>
              </a:ext>
            </a:extLst>
          </p:cNvPr>
          <p:cNvGrpSpPr/>
          <p:nvPr/>
        </p:nvGrpSpPr>
        <p:grpSpPr>
          <a:xfrm>
            <a:off x="6365946" y="1394843"/>
            <a:ext cx="2221492" cy="2523928"/>
            <a:chOff x="6365946" y="1394843"/>
            <a:chExt cx="2221492" cy="2523928"/>
          </a:xfrm>
        </p:grpSpPr>
        <p:sp>
          <p:nvSpPr>
            <p:cNvPr id="39" name="Rounded Rectangle 38">
              <a:extLst>
                <a:ext uri="{FF2B5EF4-FFF2-40B4-BE49-F238E27FC236}">
                  <a16:creationId xmlns:a16="http://schemas.microsoft.com/office/drawing/2014/main" id="{5772402C-24B7-45B9-A322-E6B6F46D3873}"/>
                </a:ext>
              </a:extLst>
            </p:cNvPr>
            <p:cNvSpPr/>
            <p:nvPr/>
          </p:nvSpPr>
          <p:spPr>
            <a:xfrm>
              <a:off x="6368675" y="1422845"/>
              <a:ext cx="352916" cy="352916"/>
            </a:xfrm>
            <a:prstGeom prst="roundRect">
              <a:avLst/>
            </a:prstGeom>
            <a:solidFill>
              <a:srgbClr val="FDD893"/>
            </a:solidFill>
            <a:ln>
              <a:solidFill>
                <a:srgbClr val="FFC618"/>
              </a:solidFill>
            </a:ln>
          </p:spPr>
          <p:style>
            <a:lnRef idx="1">
              <a:srgbClr val="ED7D31"/>
            </a:lnRef>
            <a:fillRef idx="2">
              <a:srgbClr val="ED7D31"/>
            </a:fillRef>
            <a:effectRef idx="1">
              <a:srgbClr val="ED7D31"/>
            </a:effectRef>
            <a:fontRef idx="minor">
              <a:srgbClr val="44546A"/>
            </a:fontRef>
          </p:style>
          <p:txBody>
            <a:bodyPr rtlCol="0" anchor="ctr"/>
            <a:lstStyle/>
            <a:p>
              <a:pPr algn="ctr"/>
              <a:endParaRPr lang="en-US">
                <a:latin typeface="Roboto" panose="02000000000000000000" pitchFamily="2" charset="0"/>
              </a:endParaRPr>
            </a:p>
          </p:txBody>
        </p:sp>
        <p:sp>
          <p:nvSpPr>
            <p:cNvPr id="40" name="TextBox 39">
              <a:extLst>
                <a:ext uri="{FF2B5EF4-FFF2-40B4-BE49-F238E27FC236}">
                  <a16:creationId xmlns:a16="http://schemas.microsoft.com/office/drawing/2014/main" id="{A6C41E30-5F56-8D61-3C35-44693622D856}"/>
                </a:ext>
              </a:extLst>
            </p:cNvPr>
            <p:cNvSpPr txBox="1"/>
            <p:nvPr/>
          </p:nvSpPr>
          <p:spPr>
            <a:xfrm>
              <a:off x="6737756" y="1394843"/>
              <a:ext cx="1531473" cy="369332"/>
            </a:xfrm>
            <a:prstGeom prst="rect">
              <a:avLst/>
            </a:prstGeom>
            <a:noFill/>
          </p:spPr>
          <p:txBody>
            <a:bodyPr wrap="square" anchor="ctr">
              <a:spAutoFit/>
            </a:bodyPr>
            <a:lstStyle/>
            <a:p>
              <a:r>
                <a:rPr lang="en-US">
                  <a:solidFill>
                    <a:srgbClr val="FFC000">
                      <a:lumMod val="75000"/>
                    </a:srgbClr>
                  </a:solidFill>
                  <a:latin typeface="Roboto" panose="02000000000000000000" pitchFamily="2" charset="0"/>
                </a:rPr>
                <a:t>Parameters</a:t>
              </a:r>
            </a:p>
          </p:txBody>
        </p:sp>
        <p:sp>
          <p:nvSpPr>
            <p:cNvPr id="41" name="Rounded Rectangle 40">
              <a:extLst>
                <a:ext uri="{FF2B5EF4-FFF2-40B4-BE49-F238E27FC236}">
                  <a16:creationId xmlns:a16="http://schemas.microsoft.com/office/drawing/2014/main" id="{22E4685F-80CF-7E3F-41FA-6DF2B00E8284}"/>
                </a:ext>
              </a:extLst>
            </p:cNvPr>
            <p:cNvSpPr/>
            <p:nvPr/>
          </p:nvSpPr>
          <p:spPr>
            <a:xfrm>
              <a:off x="6368675" y="1954469"/>
              <a:ext cx="352916" cy="352917"/>
            </a:xfrm>
            <a:prstGeom prst="roundRect">
              <a:avLst/>
            </a:prstGeom>
            <a:solidFill>
              <a:srgbClr val="AAC6E7"/>
            </a:solidFill>
            <a:ln>
              <a:solidFill>
                <a:srgbClr val="4472C4"/>
              </a:solidFill>
            </a:ln>
          </p:spPr>
          <p:style>
            <a:lnRef idx="1">
              <a:srgbClr val="ED7D31"/>
            </a:lnRef>
            <a:fillRef idx="2">
              <a:srgbClr val="ED7D31"/>
            </a:fillRef>
            <a:effectRef idx="1">
              <a:srgbClr val="ED7D31"/>
            </a:effectRef>
            <a:fontRef idx="minor">
              <a:srgbClr val="44546A"/>
            </a:fontRef>
          </p:style>
          <p:txBody>
            <a:bodyPr rtlCol="0" anchor="ctr"/>
            <a:lstStyle/>
            <a:p>
              <a:pPr algn="ctr"/>
              <a:endParaRPr lang="en-US">
                <a:latin typeface="Roboto" panose="02000000000000000000" pitchFamily="2" charset="0"/>
              </a:endParaRPr>
            </a:p>
          </p:txBody>
        </p:sp>
        <p:sp>
          <p:nvSpPr>
            <p:cNvPr id="42" name="TextBox 41">
              <a:extLst>
                <a:ext uri="{FF2B5EF4-FFF2-40B4-BE49-F238E27FC236}">
                  <a16:creationId xmlns:a16="http://schemas.microsoft.com/office/drawing/2014/main" id="{F7F4A03C-0CA7-855C-66B1-471326E1D688}"/>
                </a:ext>
              </a:extLst>
            </p:cNvPr>
            <p:cNvSpPr txBox="1"/>
            <p:nvPr/>
          </p:nvSpPr>
          <p:spPr>
            <a:xfrm>
              <a:off x="6737756" y="1938551"/>
              <a:ext cx="1531473" cy="369333"/>
            </a:xfrm>
            <a:prstGeom prst="rect">
              <a:avLst/>
            </a:prstGeom>
            <a:noFill/>
          </p:spPr>
          <p:txBody>
            <a:bodyPr wrap="square" anchor="ctr">
              <a:spAutoFit/>
            </a:bodyPr>
            <a:lstStyle/>
            <a:p>
              <a:r>
                <a:rPr lang="en-US">
                  <a:solidFill>
                    <a:srgbClr val="4472C4"/>
                  </a:solidFill>
                  <a:latin typeface="Roboto" panose="02000000000000000000" pitchFamily="2" charset="0"/>
                </a:rPr>
                <a:t>Gradients</a:t>
              </a:r>
            </a:p>
          </p:txBody>
        </p:sp>
        <p:sp>
          <p:nvSpPr>
            <p:cNvPr id="43" name="Rounded Rectangle 42">
              <a:extLst>
                <a:ext uri="{FF2B5EF4-FFF2-40B4-BE49-F238E27FC236}">
                  <a16:creationId xmlns:a16="http://schemas.microsoft.com/office/drawing/2014/main" id="{4CB3AF64-8143-A322-1C93-5C54985DB8BD}"/>
                </a:ext>
              </a:extLst>
            </p:cNvPr>
            <p:cNvSpPr/>
            <p:nvPr/>
          </p:nvSpPr>
          <p:spPr>
            <a:xfrm rot="5400000">
              <a:off x="6365945" y="2510626"/>
              <a:ext cx="352917" cy="352916"/>
            </a:xfrm>
            <a:prstGeom prst="roundRect">
              <a:avLst/>
            </a:prstGeom>
            <a:solidFill>
              <a:srgbClr val="70AD47">
                <a:lumMod val="60000"/>
                <a:lumOff val="40000"/>
              </a:srgbClr>
            </a:solidFill>
            <a:ln>
              <a:solidFill>
                <a:srgbClr val="70AD47"/>
              </a:solidFill>
            </a:ln>
          </p:spPr>
          <p:style>
            <a:lnRef idx="1">
              <a:srgbClr val="ED7D31"/>
            </a:lnRef>
            <a:fillRef idx="2">
              <a:srgbClr val="ED7D31"/>
            </a:fillRef>
            <a:effectRef idx="1">
              <a:srgbClr val="ED7D31"/>
            </a:effectRef>
            <a:fontRef idx="minor">
              <a:srgbClr val="44546A"/>
            </a:fontRef>
          </p:style>
          <p:txBody>
            <a:bodyPr rtlCol="0" anchor="ctr"/>
            <a:lstStyle/>
            <a:p>
              <a:pPr algn="ctr"/>
              <a:endParaRPr lang="en-US">
                <a:latin typeface="Roboto" panose="02000000000000000000" pitchFamily="2" charset="0"/>
              </a:endParaRPr>
            </a:p>
          </p:txBody>
        </p:sp>
        <p:sp>
          <p:nvSpPr>
            <p:cNvPr id="44" name="TextBox 43">
              <a:extLst>
                <a:ext uri="{FF2B5EF4-FFF2-40B4-BE49-F238E27FC236}">
                  <a16:creationId xmlns:a16="http://schemas.microsoft.com/office/drawing/2014/main" id="{B4C4184F-254C-EBEB-5B7A-919161D2B9ED}"/>
                </a:ext>
              </a:extLst>
            </p:cNvPr>
            <p:cNvSpPr txBox="1"/>
            <p:nvPr/>
          </p:nvSpPr>
          <p:spPr>
            <a:xfrm>
              <a:off x="6737525" y="2494708"/>
              <a:ext cx="1531474" cy="369333"/>
            </a:xfrm>
            <a:prstGeom prst="rect">
              <a:avLst/>
            </a:prstGeom>
            <a:noFill/>
          </p:spPr>
          <p:txBody>
            <a:bodyPr wrap="square" anchor="ctr">
              <a:spAutoFit/>
            </a:bodyPr>
            <a:lstStyle/>
            <a:p>
              <a:r>
                <a:rPr lang="en-US">
                  <a:solidFill>
                    <a:srgbClr val="70AD47">
                      <a:lumMod val="75000"/>
                    </a:srgbClr>
                  </a:solidFill>
                  <a:latin typeface="Roboto" panose="02000000000000000000" pitchFamily="2" charset="0"/>
                </a:rPr>
                <a:t>Optimizer</a:t>
              </a:r>
            </a:p>
          </p:txBody>
        </p:sp>
        <p:sp>
          <p:nvSpPr>
            <p:cNvPr id="45" name="Rounded Rectangle 44">
              <a:extLst>
                <a:ext uri="{FF2B5EF4-FFF2-40B4-BE49-F238E27FC236}">
                  <a16:creationId xmlns:a16="http://schemas.microsoft.com/office/drawing/2014/main" id="{CA15F85F-0651-AC25-55A0-3265C6E66A91}"/>
                </a:ext>
              </a:extLst>
            </p:cNvPr>
            <p:cNvSpPr/>
            <p:nvPr/>
          </p:nvSpPr>
          <p:spPr>
            <a:xfrm rot="5400000">
              <a:off x="6379586" y="3567750"/>
              <a:ext cx="351020" cy="351021"/>
            </a:xfrm>
            <a:prstGeom prst="roundRect">
              <a:avLst/>
            </a:prstGeom>
            <a:gradFill flip="none" rotWithShape="0">
              <a:gsLst>
                <a:gs pos="48000">
                  <a:srgbClr val="FFFFFF">
                    <a:lumMod val="65000"/>
                  </a:srgbClr>
                </a:gs>
                <a:gs pos="52000">
                  <a:srgbClr val="C00000"/>
                </a:gs>
              </a:gsLst>
              <a:lin ang="2700000" scaled="1"/>
              <a:tileRect/>
            </a:gradFill>
            <a:ln>
              <a:solidFill>
                <a:srgbClr val="C00000"/>
              </a:solidFill>
            </a:ln>
          </p:spPr>
          <p:style>
            <a:lnRef idx="1">
              <a:srgbClr val="ED7D31"/>
            </a:lnRef>
            <a:fillRef idx="2">
              <a:srgbClr val="ED7D31"/>
            </a:fillRef>
            <a:effectRef idx="1">
              <a:srgbClr val="ED7D31"/>
            </a:effectRef>
            <a:fontRef idx="minor">
              <a:srgbClr val="44546A"/>
            </a:fontRef>
          </p:style>
          <p:txBody>
            <a:bodyPr rtlCol="0" anchor="ctr"/>
            <a:lstStyle/>
            <a:p>
              <a:pPr algn="ctr"/>
              <a:endParaRPr lang="en-US">
                <a:latin typeface="Roboto" panose="02000000000000000000" pitchFamily="2" charset="0"/>
              </a:endParaRPr>
            </a:p>
          </p:txBody>
        </p:sp>
        <p:sp>
          <p:nvSpPr>
            <p:cNvPr id="46" name="TextBox 45">
              <a:extLst>
                <a:ext uri="{FF2B5EF4-FFF2-40B4-BE49-F238E27FC236}">
                  <a16:creationId xmlns:a16="http://schemas.microsoft.com/office/drawing/2014/main" id="{9B8E202E-F11B-6F74-9EB5-170A93E4573E}"/>
                </a:ext>
              </a:extLst>
            </p:cNvPr>
            <p:cNvSpPr txBox="1"/>
            <p:nvPr/>
          </p:nvSpPr>
          <p:spPr>
            <a:xfrm>
              <a:off x="6769826" y="3545345"/>
              <a:ext cx="1817612" cy="369331"/>
            </a:xfrm>
            <a:prstGeom prst="rect">
              <a:avLst/>
            </a:prstGeom>
            <a:noFill/>
          </p:spPr>
          <p:txBody>
            <a:bodyPr wrap="square" anchor="ctr">
              <a:spAutoFit/>
            </a:bodyPr>
            <a:lstStyle/>
            <a:p>
              <a:r>
                <a:rPr lang="en-US">
                  <a:solidFill>
                    <a:srgbClr val="C00000"/>
                  </a:solidFill>
                  <a:latin typeface="Roboto" panose="02000000000000000000" pitchFamily="2" charset="0"/>
                </a:rPr>
                <a:t>Out of Memory</a:t>
              </a:r>
            </a:p>
          </p:txBody>
        </p:sp>
        <p:sp>
          <p:nvSpPr>
            <p:cNvPr id="47" name="Rounded Rectangle 46">
              <a:extLst>
                <a:ext uri="{FF2B5EF4-FFF2-40B4-BE49-F238E27FC236}">
                  <a16:creationId xmlns:a16="http://schemas.microsoft.com/office/drawing/2014/main" id="{C8FAA960-4104-A26C-BF8F-97C9A0F963A4}"/>
                </a:ext>
              </a:extLst>
            </p:cNvPr>
            <p:cNvSpPr/>
            <p:nvPr/>
          </p:nvSpPr>
          <p:spPr>
            <a:xfrm rot="5400000">
              <a:off x="6365945" y="3053512"/>
              <a:ext cx="352917" cy="352916"/>
            </a:xfrm>
            <a:prstGeom prst="roundRect">
              <a:avLst/>
            </a:prstGeom>
            <a:solidFill>
              <a:srgbClr val="EBB6FF"/>
            </a:solidFill>
            <a:ln>
              <a:solidFill>
                <a:srgbClr val="7030A0"/>
              </a:solidFill>
            </a:ln>
          </p:spPr>
          <p:style>
            <a:lnRef idx="1">
              <a:srgbClr val="ED7D31"/>
            </a:lnRef>
            <a:fillRef idx="2">
              <a:srgbClr val="ED7D31"/>
            </a:fillRef>
            <a:effectRef idx="1">
              <a:srgbClr val="ED7D31"/>
            </a:effectRef>
            <a:fontRef idx="minor">
              <a:srgbClr val="44546A"/>
            </a:fontRef>
          </p:style>
          <p:txBody>
            <a:bodyPr rtlCol="0" anchor="ctr"/>
            <a:lstStyle/>
            <a:p>
              <a:pPr algn="ctr"/>
              <a:r>
                <a:rPr lang="en-US">
                  <a:latin typeface="Roboto" panose="02000000000000000000" pitchFamily="2" charset="0"/>
                </a:rPr>
                <a:t/>
              </a:r>
            </a:p>
          </p:txBody>
        </p:sp>
        <p:sp>
          <p:nvSpPr>
            <p:cNvPr id="48" name="TextBox 47">
              <a:extLst>
                <a:ext uri="{FF2B5EF4-FFF2-40B4-BE49-F238E27FC236}">
                  <a16:creationId xmlns:a16="http://schemas.microsoft.com/office/drawing/2014/main" id="{6A927590-5045-EC17-F5AD-F6D918FADFE3}"/>
                </a:ext>
              </a:extLst>
            </p:cNvPr>
            <p:cNvSpPr txBox="1"/>
            <p:nvPr/>
          </p:nvSpPr>
          <p:spPr>
            <a:xfrm>
              <a:off x="6737525" y="3037594"/>
              <a:ext cx="1531474" cy="369333"/>
            </a:xfrm>
            <a:prstGeom prst="rect">
              <a:avLst/>
            </a:prstGeom>
            <a:noFill/>
            <a:ln>
              <a:noFill/>
            </a:ln>
          </p:spPr>
          <p:style>
            <a:lnRef idx="1">
              <a:srgbClr val="ED7D31"/>
            </a:lnRef>
            <a:fillRef idx="2">
              <a:srgbClr val="ED7D31"/>
            </a:fillRef>
            <a:effectRef idx="0">
              <a:srgbClr val="ED7D31"/>
            </a:effectRef>
            <a:fontRef idx="minor">
              <a:srgbClr val="44546A"/>
            </a:fontRef>
          </p:style>
          <p:txBody>
            <a:bodyPr rtlCol="0" anchor="ctr"/>
            <a:lstStyle>
              <a:defPPr>
                <a:defRPr lang="en-US"/>
              </a:defPPr>
              <a:lvl1pPr algn="ctr"/>
              <a:lvl2pPr>
                <a:defRPr>
                  <a:solidFill>
                    <a:srgbClr val="44546A"/>
                  </a:solidFill>
                </a:defRPr>
              </a:lvl2pPr>
              <a:lvl3pPr>
                <a:defRPr>
                  <a:solidFill>
                    <a:srgbClr val="44546A"/>
                  </a:solidFill>
                </a:defRPr>
              </a:lvl3pPr>
              <a:lvl4pPr>
                <a:defRPr>
                  <a:solidFill>
                    <a:srgbClr val="44546A"/>
                  </a:solidFill>
                </a:defRPr>
              </a:lvl4pPr>
              <a:lvl5pPr>
                <a:defRPr>
                  <a:solidFill>
                    <a:srgbClr val="44546A"/>
                  </a:solidFill>
                </a:defRPr>
              </a:lvl5pPr>
              <a:lvl6pPr>
                <a:defRPr>
                  <a:solidFill>
                    <a:srgbClr val="44546A"/>
                  </a:solidFill>
                </a:defRPr>
              </a:lvl6pPr>
              <a:lvl7pPr>
                <a:defRPr>
                  <a:solidFill>
                    <a:srgbClr val="44546A"/>
                  </a:solidFill>
                </a:defRPr>
              </a:lvl7pPr>
              <a:lvl8pPr>
                <a:defRPr>
                  <a:solidFill>
                    <a:srgbClr val="44546A"/>
                  </a:solidFill>
                </a:defRPr>
              </a:lvl8pPr>
              <a:lvl9pPr>
                <a:defRPr>
                  <a:solidFill>
                    <a:srgbClr val="44546A"/>
                  </a:solidFill>
                </a:defRPr>
              </a:lvl9pPr>
            </a:lstStyle>
            <a:p>
              <a:pPr algn="l"/>
              <a:r>
                <a:rPr lang="en-US">
                  <a:solidFill>
                    <a:srgbClr val="BF6CF3"/>
                  </a:solidFill>
                  <a:latin typeface="Roboto" panose="02000000000000000000" pitchFamily="2" charset="0"/>
                </a:rPr>
                <a:t>Activations</a:t>
              </a:r>
            </a:p>
          </p:txBody>
        </p:sp>
      </p:grpSp>
      <p:sp>
        <p:nvSpPr>
          <p:cNvPr id="279" name="TB title"/>
          <p:cNvSpPr txBox="1"/>
          <p:nvPr/>
        </p:nvSpPr>
        <p:spPr>
          <a:xfrm>
            <a:off x="310896" y="320040"/>
            <a:ext cx="8522208" cy="731520"/>
          </a:xfrm>
          <a:prstGeom prst="rect">
            <a:avLst/>
          </a:prstGeom>
          <a:noFill/>
        </p:spPr>
        <p:txBody>
          <a:bodyPr wrap="square" lIns="0" tIns="0" rIns="0" bIns="0">
            <a:spAutoFit/>
          </a:bodyPr>
          <a:lstStyle/>
          <a:p>
            <a:r>
              <a:rPr sz="2200" b="1">
                <a:solidFill>
                  <a:srgbClr val="4285F4"/>
                </a:solidFill>
                <a:latin typeface="Arial"/>
              </a:rPr>
              <a:t>Full fine-tuning</a:t>
            </a:r>
            <a:r>
              <a:rPr sz="2200" b="1">
                <a:solidFill>
                  <a:srgbClr val="222222"/>
                </a:solidFill>
                <a:latin typeface="Arial"/>
              </a:rPr>
              <a:t> Nemotron 3 Nano 4B: gradients + optimizer dominate the ~38 GB</a:t>
            </a:r>
          </a:p>
        </p:txBody>
      </p:sp>
      <p:sp>
        <p:nvSpPr>
          <p:cNvPr id="280" name="BG title rule"/>
          <p:cNvSpPr/>
          <p:nvPr/>
        </p:nvSpPr>
        <p:spPr>
          <a:xfrm>
            <a:off x="310896" y="1060704"/>
            <a:ext cx="548640" cy="27432"/>
          </a:xfrm>
          <a:prstGeom prst="rect">
            <a:avLst/>
          </a:prstGeom>
          <a:solidFill>
            <a:srgbClr val="428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1" name="PageNum 3"/>
          <p:cNvSpPr txBox="1"/>
          <p:nvPr/>
        </p:nvSpPr>
        <p:spPr>
          <a:xfrm>
            <a:off x="8595360" y="4892040"/>
            <a:ext cx="457200" cy="201168"/>
          </a:xfrm>
          <a:prstGeom prst="rect">
            <a:avLst/>
          </a:prstGeom>
          <a:noFill/>
        </p:spPr>
        <p:txBody>
          <a:bodyPr wrap="square" lIns="0" tIns="0" rIns="0" bIns="0">
            <a:spAutoFit/>
          </a:bodyPr>
          <a:lstStyle/>
          <a:p>
            <a:pPr algn="r"/>
            <a:r>
              <a:rPr sz="900">
                <a:solidFill>
                  <a:srgbClr val="595959"/>
                </a:solidFill>
                <a:latin typeface="Arial"/>
              </a:rPr>
              <a:t>3</a:t>
            </a:r>
          </a:p>
        </p:txBody>
      </p:sp>
      <p:sp>
        <p:nvSpPr>
          <p:cNvPr id="340" name="Legend scale tile"/>
          <p:cNvSpPr/>
          <p:nvPr/>
        </p:nvSpPr>
        <p:spPr>
          <a:xfrm rot="5400000">
            <a:off x="6429954" y="4147371"/>
            <a:ext cx="198434" cy="198434"/>
          </a:xfrm>
          <a:prstGeom prst="roundRect">
            <a:avLst/>
          </a:prstGeom>
          <a:solidFill>
            <a:srgbClr val="F2F2F2"/>
          </a:solidFill>
          <a:ln>
            <a:solidFill>
              <a:srgbClr val="7F7F7F"/>
            </a:solidFill>
          </a:ln>
        </p:spPr>
        <p:style>
          <a:lnRef idx="1">
            <a:srgbClr val="FFC000"/>
          </a:lnRef>
          <a:fillRef idx="2">
            <a:srgbClr val="FFC000"/>
          </a:fillRef>
          <a:effectRef idx="1">
            <a:srgbClr val="FFC000"/>
          </a:effectRef>
          <a:fontRef idx="minor">
            <a:srgbClr val="44546A"/>
          </a:fontRef>
        </p:style>
        <p:txBody>
          <a:bodyPr rtlCol="0" anchor="ctr"/>
          <a:lstStyle/>
          <a:p>
            <a:pPr algn="ctr"/>
            <a:endParaRPr lang="en-US">
              <a:latin typeface="Roboto" panose="02000000000000000000" pitchFamily="2" charset="0"/>
            </a:endParaRPr>
          </a:p>
        </p:txBody>
      </p:sp>
      <p:sp>
        <p:nvSpPr>
          <p:cNvPr id="46" name="Legend scale label">
            <a:extLst>
              <a:ext uri="{FF2B5EF4-FFF2-40B4-BE49-F238E27FC236}">
                <a16:creationId xmlns:a16="http://schemas.microsoft.com/office/drawing/2014/main" id="{9B8E202E-F11B-6F74-9EB5-170A93E4573E}"/>
              </a:ext>
            </a:extLst>
          </p:cNvPr>
          <p:cNvSpPr txBox="1"/>
          <p:nvPr/>
        </p:nvSpPr>
        <p:spPr>
          <a:xfrm>
            <a:off x="6769826" y="4083363"/>
            <a:ext cx="1920240" cy="369331"/>
          </a:xfrm>
          <a:prstGeom prst="rect">
            <a:avLst/>
          </a:prstGeom>
          <a:noFill/>
        </p:spPr>
        <p:txBody>
          <a:bodyPr wrap="square" anchor="ctr">
            <a:spAutoFit/>
          </a:bodyPr>
          <a:lstStyle/>
          <a:p>
            <a:r>
              <a:rPr lang="en-US">
                <a:solidFill>
                  <a:srgbClr val="595959"/>
                </a:solidFill>
                <a:latin typeface="Roboto" panose="02000000000000000000" pitchFamily="2" charset="0"/>
              </a:rPr>
              <a:t>1 square = 1 GB</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B title"/>
          <p:cNvSpPr txBox="1"/>
          <p:nvPr/>
        </p:nvSpPr>
        <p:spPr>
          <a:xfrm>
            <a:off x="310896" y="320040"/>
            <a:ext cx="8522208" cy="576072"/>
          </a:xfrm>
          <a:prstGeom prst="rect">
            <a:avLst/>
          </a:prstGeom>
          <a:noFill/>
        </p:spPr>
        <p:txBody>
          <a:bodyPr wrap="square" lIns="0" tIns="0" rIns="0" bIns="0">
            <a:spAutoFit/>
          </a:bodyPr>
          <a:lstStyle/>
          <a:p>
            <a:r>
              <a:rPr sz="2000" b="1" i="0">
                <a:solidFill>
                  <a:srgbClr val="222222"/>
                </a:solidFill>
                <a:latin typeface="Arial"/>
              </a:rPr>
              <a:t>Training memory buckets across the forward and backward pass</a:t>
            </a:r>
          </a:p>
        </p:txBody>
      </p:sp>
      <p:sp>
        <p:nvSpPr>
          <p:cNvPr id="3" name="BG title rule"/>
          <p:cNvSpPr/>
          <p:nvPr/>
        </p:nvSpPr>
        <p:spPr>
          <a:xfrm>
            <a:off x="310896" y="932688"/>
            <a:ext cx="548640" cy="27432"/>
          </a:xfrm>
          <a:prstGeom prst="rect">
            <a:avLst/>
          </a:prstGeom>
          <a:solidFill>
            <a:srgbClr val="428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B takeaway"/>
          <p:cNvSpPr txBox="1"/>
          <p:nvPr/>
        </p:nvSpPr>
        <p:spPr>
          <a:xfrm>
            <a:off x="310896" y="1005840"/>
            <a:ext cx="8522208" cy="292608"/>
          </a:xfrm>
          <a:prstGeom prst="rect">
            <a:avLst/>
          </a:prstGeom>
          <a:noFill/>
        </p:spPr>
        <p:txBody>
          <a:bodyPr wrap="square" lIns="0" tIns="0" rIns="0" bIns="0">
            <a:spAutoFit/>
          </a:bodyPr>
          <a:lstStyle/>
          <a:p>
            <a:r>
              <a:rPr sz="1300" b="0" i="1">
                <a:solidFill>
                  <a:srgbClr val="4285F4"/>
                </a:solidFill>
                <a:latin typeface="Arial"/>
              </a:rPr>
              <a:t>Each bucket has a role in the training loop; gradients and optimizer state exist only because we are training.</a:t>
            </a:r>
          </a:p>
        </p:txBody>
      </p:sp>
      <p:sp>
        <p:nvSpPr>
          <p:cNvPr id="7" name="PageNum 4"/>
          <p:cNvSpPr txBox="1"/>
          <p:nvPr/>
        </p:nvSpPr>
        <p:spPr>
          <a:xfrm>
            <a:off x="8595360" y="4892040"/>
            <a:ext cx="457200" cy="201168"/>
          </a:xfrm>
          <a:prstGeom prst="rect">
            <a:avLst/>
          </a:prstGeom>
          <a:noFill/>
        </p:spPr>
        <p:txBody>
          <a:bodyPr wrap="square" lIns="0" tIns="0" rIns="0" bIns="0">
            <a:spAutoFit/>
          </a:bodyPr>
          <a:lstStyle/>
          <a:p>
            <a:pPr algn="r"/>
            <a:r>
              <a:rPr sz="900">
                <a:solidFill>
                  <a:srgbClr val="595959"/>
                </a:solidFill>
                <a:latin typeface="Arial"/>
              </a:rPr>
              <a:t>4</a:t>
            </a:r>
          </a:p>
        </p:txBody>
      </p:sp>
      <p:pic>
        <p:nvPicPr>
          <p:cNvPr id="6" name="Picture 5" descr="TrainingMemoryGoes.png">
            <a:extLst>
              <a:ext uri="{FF2B5EF4-FFF2-40B4-BE49-F238E27FC236}">
                <a16:creationId xmlns:a16="http://schemas.microsoft.com/office/drawing/2014/main" id="{8EC1A3C1-9675-9125-F97D-AA8FEE8539BB}"/>
              </a:ext>
            </a:extLst>
          </p:cNvPr>
          <p:cNvPicPr>
            <a:picLocks noChangeAspect="1"/>
          </p:cNvPicPr>
          <p:nvPr/>
        </p:nvPicPr>
        <p:blipFill>
          <a:blip r:embed="rId3"/>
          <a:srcRect l="20904" r="1" b="45165"/>
          <a:stretch>
            <a:fillRect/>
          </a:stretch>
        </p:blipFill>
        <p:spPr>
          <a:xfrm>
            <a:off x="2011680" y="1654397"/>
            <a:ext cx="6821424" cy="2661519"/>
          </a:xfrm>
          <a:prstGeom prst="rect">
            <a:avLst/>
          </a:prstGeom>
        </p:spPr>
      </p:pic>
      <p:pic>
        <p:nvPicPr>
          <p:cNvPr id="8" name="Picture 7" descr="TrainingMemoryGoes.png">
            <a:extLst>
              <a:ext uri="{FF2B5EF4-FFF2-40B4-BE49-F238E27FC236}">
                <a16:creationId xmlns:a16="http://schemas.microsoft.com/office/drawing/2014/main" id="{E40616A5-5FAF-42D4-69F4-A502603BB272}"/>
              </a:ext>
            </a:extLst>
          </p:cNvPr>
          <p:cNvPicPr>
            <a:picLocks noChangeAspect="1"/>
          </p:cNvPicPr>
          <p:nvPr/>
        </p:nvPicPr>
        <p:blipFill>
          <a:blip r:embed="rId3"/>
          <a:srcRect l="-609" r="79567" b="52264"/>
          <a:stretch>
            <a:fillRect/>
          </a:stretch>
        </p:blipFill>
        <p:spPr>
          <a:xfrm>
            <a:off x="108876" y="1654397"/>
            <a:ext cx="1814750" cy="2316967"/>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B section title"/>
          <p:cNvSpPr txBox="1"/>
          <p:nvPr/>
        </p:nvSpPr>
        <p:spPr>
          <a:xfrm>
            <a:off x="457200" y="2194560"/>
            <a:ext cx="8229600" cy="1097280"/>
          </a:xfrm>
          <a:prstGeom prst="rect">
            <a:avLst/>
          </a:prstGeom>
          <a:noFill/>
        </p:spPr>
        <p:txBody>
          <a:bodyPr wrap="square" lIns="0" tIns="0" rIns="0" bIns="0" anchor="t">
            <a:spAutoFit/>
          </a:bodyPr>
          <a:lstStyle/>
          <a:p>
            <a:pPr algn="l"/>
            <a:r>
              <a:rPr sz="3200" b="1">
                <a:solidFill>
                  <a:srgbClr val="222222"/>
                </a:solidFill>
                <a:latin typeface="Arial"/>
              </a:rPr>
              <a:t>Background</a:t>
            </a:r>
          </a:p>
        </p:txBody>
      </p:sp>
      <p:sp>
        <p:nvSpPr>
          <p:cNvPr id="4" name="BG rule"/>
          <p:cNvSpPr/>
          <p:nvPr/>
        </p:nvSpPr>
        <p:spPr>
          <a:xfrm>
            <a:off x="457200" y="3383280"/>
            <a:ext cx="1097280" cy="36576"/>
          </a:xfrm>
          <a:prstGeom prst="rect">
            <a:avLst/>
          </a:prstGeom>
          <a:solidFill>
            <a:srgbClr val="428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PageNum 5"/>
          <p:cNvSpPr txBox="1"/>
          <p:nvPr/>
        </p:nvSpPr>
        <p:spPr>
          <a:xfrm>
            <a:off x="8595360" y="4892040"/>
            <a:ext cx="457200" cy="201168"/>
          </a:xfrm>
          <a:prstGeom prst="rect">
            <a:avLst/>
          </a:prstGeom>
          <a:noFill/>
        </p:spPr>
        <p:txBody>
          <a:bodyPr wrap="square" lIns="0" tIns="0" rIns="0" bIns="0">
            <a:spAutoFit/>
          </a:bodyPr>
          <a:lstStyle/>
          <a:p>
            <a:pPr algn="r"/>
            <a:r>
              <a:rPr sz="900">
                <a:solidFill>
                  <a:srgbClr val="595959"/>
                </a:solidFill>
                <a:latin typeface="Arial"/>
              </a:rPr>
              <a:t>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B title"/>
          <p:cNvSpPr txBox="1"/>
          <p:nvPr/>
        </p:nvSpPr>
        <p:spPr>
          <a:xfrm>
            <a:off x="310896" y="320040"/>
            <a:ext cx="8522208" cy="731520"/>
          </a:xfrm>
          <a:prstGeom prst="rect">
            <a:avLst/>
          </a:prstGeom>
          <a:noFill/>
        </p:spPr>
        <p:txBody>
          <a:bodyPr wrap="square" lIns="0" tIns="0" rIns="0" bIns="0">
            <a:spAutoFit/>
          </a:bodyPr>
          <a:lstStyle/>
          <a:p>
            <a:r>
              <a:rPr sz="2200" b="1" i="0">
                <a:solidFill>
                  <a:srgbClr val="222222"/>
                </a:solidFill>
                <a:latin typeface="Arial"/>
              </a:rPr>
              <a:t>Why fine-tune a base LLM</a:t>
            </a:r>
          </a:p>
        </p:txBody>
      </p:sp>
      <p:sp>
        <p:nvSpPr>
          <p:cNvPr id="3" name="BG title rule"/>
          <p:cNvSpPr/>
          <p:nvPr/>
        </p:nvSpPr>
        <p:spPr>
          <a:xfrm>
            <a:off x="310896" y="1060704"/>
            <a:ext cx="548640" cy="27432"/>
          </a:xfrm>
          <a:prstGeom prst="rect">
            <a:avLst/>
          </a:prstGeom>
          <a:solidFill>
            <a:srgbClr val="428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B takeaway"/>
          <p:cNvSpPr txBox="1"/>
          <p:nvPr/>
        </p:nvSpPr>
        <p:spPr>
          <a:xfrm>
            <a:off x="310896" y="1133856"/>
            <a:ext cx="8522208" cy="292608"/>
          </a:xfrm>
          <a:prstGeom prst="rect">
            <a:avLst/>
          </a:prstGeom>
          <a:noFill/>
        </p:spPr>
        <p:txBody>
          <a:bodyPr wrap="square" lIns="0" tIns="0" rIns="0" bIns="0">
            <a:spAutoFit/>
          </a:bodyPr>
          <a:lstStyle/>
          <a:p>
            <a:pPr>
              <a:buNone/>
            </a:pPr>
            <a:r>
              <a:rPr sz="1300" b="0" i="1">
                <a:solidFill>
                  <a:srgbClr val="4285F4"/>
                </a:solidFill>
                <a:latin typeface="Arial"/>
              </a:rPr>
              <a:t>Adapt one base to a task, domain, or tenant.</a:t>
            </a:r>
          </a:p>
        </p:txBody>
      </p:sp>
      <p:sp>
        <p:nvSpPr>
          <p:cNvPr id="5" name="TB left"/>
          <p:cNvSpPr txBox="1"/>
          <p:nvPr/>
        </p:nvSpPr>
        <p:spPr>
          <a:xfrm>
            <a:off x="310896" y="1737360"/>
            <a:ext cx="3931920" cy="3017520"/>
          </a:xfrm>
          <a:prstGeom prst="rect">
            <a:avLst/>
          </a:prstGeom>
          <a:noFill/>
        </p:spPr>
        <p:txBody>
          <a:bodyPr wrap="square">
            <a:spAutoFit/>
          </a:bodyPr>
          <a:lstStyle/>
          <a:p>
            <a:pPr>
              <a:spcAft>
                <a:spcPts val="600"/>
              </a:spcAft>
              <a:buNone/>
            </a:pPr>
            <a:r>
              <a:rPr sz="1300" b="1" i="0">
                <a:solidFill>
                  <a:srgbClr val="222222"/>
                </a:solidFill>
                <a:latin typeface="Arial"/>
              </a:rPr>
              <a:t>Purpose. </a:t>
            </a:r>
            <a:r>
              <a:rPr sz="1300" b="0" i="0">
                <a:solidFill>
                  <a:srgbClr val="222222"/>
                </a:solidFill>
                <a:latin typeface="Arial"/>
              </a:rPr>
              <a:t>Base LLMs are general-purpose.</a:t>
            </a:r>
          </a:p>
          <a:p>
            <a:pPr>
              <a:spcAft>
                <a:spcPts val="600"/>
              </a:spcAft>
              <a:buNone/>
            </a:pPr>
            <a:r>
              <a:rPr sz="1300" b="1" i="0">
                <a:solidFill>
                  <a:srgbClr val="222222"/>
                </a:solidFill>
                <a:latin typeface="Arial"/>
              </a:rPr>
              <a:t>Adaptation. </a:t>
            </a:r>
            <a:r>
              <a:rPr sz="1300" b="0" i="0">
                <a:solidFill>
                  <a:srgbClr val="222222"/>
                </a:solidFill>
                <a:latin typeface="Arial"/>
              </a:rPr>
              <a:t>Fine-tuning adapts vocabulary, style, judgment.</a:t>
            </a:r>
          </a:p>
          <a:p>
            <a:pPr>
              <a:spcBef>
                <a:spcPts val="1000"/>
              </a:spcBef>
              <a:spcAft>
                <a:spcPts val="400"/>
              </a:spcAft>
              <a:buNone/>
            </a:pPr>
            <a:r>
              <a:rPr sz="1300" b="1" i="0">
                <a:solidFill>
                  <a:srgbClr val="222222"/>
                </a:solidFill>
                <a:latin typeface="Arial"/>
              </a:rPr>
              <a:t>Concrete example (finance)</a:t>
            </a:r>
          </a:p>
          <a:p>
            <a:pPr>
              <a:spcAft>
                <a:spcPts val="400"/>
              </a:spcAft>
              <a:buNone/>
            </a:pPr>
            <a:r>
              <a:rPr sz="1300" b="0" i="0">
                <a:solidFill>
                  <a:srgbClr val="222222"/>
                </a:solidFill>
                <a:latin typeface="Arial"/>
              </a:rPr>
              <a:t>Fine-tune RoBERTa and Nemotron 3 Nano 4B on FOMC sentences to classify tone as </a:t>
            </a:r>
            <a:r>
              <a:rPr sz="1300" b="1" i="0">
                <a:solidFill>
                  <a:srgbClr val="222222"/>
                </a:solidFill>
                <a:latin typeface="Arial"/>
              </a:rPr>
              <a:t>hawkish, dovish, or neutral</a:t>
            </a:r>
            <a:r>
              <a:rPr sz="1300" b="0" i="0">
                <a:solidFill>
                  <a:srgbClr val="222222"/>
                </a:solidFill>
                <a:latin typeface="Arial"/>
              </a:rPr>
              <a:t>.</a:t>
            </a:r>
          </a:p>
        </p:txBody>
      </p:sp>
      <p:pic>
        <p:nvPicPr>
          <p:cNvPr id="6" name="Picture 5" descr="finetune_pretrained_arrow.png"/>
          <p:cNvPicPr>
            <a:picLocks noChangeAspect="1"/>
          </p:cNvPicPr>
          <p:nvPr/>
        </p:nvPicPr>
        <p:blipFill>
          <a:blip r:embed="rId4"/>
          <a:stretch>
            <a:fillRect/>
          </a:stretch>
        </p:blipFill>
        <p:spPr>
          <a:xfrm>
            <a:off x="4572000" y="1737360"/>
            <a:ext cx="4206240" cy="1331006"/>
          </a:xfrm>
          <a:prstGeom prst="rect">
            <a:avLst/>
          </a:prstGeom>
        </p:spPr>
      </p:pic>
      <p:sp>
        <p:nvSpPr>
          <p:cNvPr id="7" name="TB caption"/>
          <p:cNvSpPr txBox="1"/>
          <p:nvPr/>
        </p:nvSpPr>
        <p:spPr>
          <a:xfrm>
            <a:off x="4572000" y="3163824"/>
            <a:ext cx="4206240" cy="274320"/>
          </a:xfrm>
          <a:prstGeom prst="rect">
            <a:avLst/>
          </a:prstGeom>
          <a:noFill/>
        </p:spPr>
        <p:txBody>
          <a:bodyPr wrap="square" lIns="0" tIns="0" rIns="0" bIns="0">
            <a:spAutoFit/>
          </a:bodyPr>
          <a:lstStyle/>
          <a:p>
            <a:pPr algn="ctr"/>
            <a:r>
              <a:rPr sz="1100" b="0" i="1">
                <a:solidFill>
                  <a:srgbClr val="595959"/>
                </a:solidFill>
                <a:latin typeface="Arial"/>
              </a:rPr>
              <a:t>Fine-tuning = base model + custom dataset -&gt; specialized model</a:t>
            </a:r>
          </a:p>
        </p:txBody>
      </p:sp>
      <p:sp>
        <p:nvSpPr>
          <p:cNvPr id="8" name="TB source"/>
          <p:cNvSpPr txBox="1"/>
          <p:nvPr/>
        </p:nvSpPr>
        <p:spPr>
          <a:xfrm>
            <a:off x="73152" y="4892040"/>
            <a:ext cx="7772400" cy="201168"/>
          </a:xfrm>
          <a:prstGeom prst="rect">
            <a:avLst/>
          </a:prstGeom>
          <a:noFill/>
        </p:spPr>
        <p:txBody>
          <a:bodyPr wrap="square" lIns="0">
            <a:spAutoFit/>
          </a:bodyPr>
          <a:lstStyle/>
          <a:p>
            <a:r>
              <a:rPr sz="900">
                <a:solidFill>
                  <a:srgbClr val="595959"/>
                </a:solidFill>
                <a:latin typeface="Arial"/>
              </a:rPr>
              <a:t>Figure: </a:t>
            </a:r>
            <a:r>
              <a:rPr sz="900" u="sng">
                <a:solidFill>
                  <a:srgbClr val="595959"/>
                </a:solidFill>
                <a:latin typeface="Arial"/>
                <a:hlinkClick r:id="rId5"/>
              </a:rPr>
              <a:t>AI Bites, YouTube</a:t>
            </a:r>
            <a:r>
              <a:rPr sz="900">
                <a:solidFill>
                  <a:srgbClr val="595959"/>
                </a:solidFill>
                <a:latin typeface="Arial"/>
              </a:rPr>
              <a:t>.</a:t>
            </a:r>
          </a:p>
        </p:txBody>
      </p:sp>
      <p:sp>
        <p:nvSpPr>
          <p:cNvPr id="9" name="PageNum 6"/>
          <p:cNvSpPr txBox="1"/>
          <p:nvPr/>
        </p:nvSpPr>
        <p:spPr>
          <a:xfrm>
            <a:off x="8595360" y="4892040"/>
            <a:ext cx="457200" cy="201168"/>
          </a:xfrm>
          <a:prstGeom prst="rect">
            <a:avLst/>
          </a:prstGeom>
          <a:noFill/>
        </p:spPr>
        <p:txBody>
          <a:bodyPr wrap="square" lIns="0" tIns="0" rIns="0" bIns="0">
            <a:spAutoFit/>
          </a:bodyPr>
          <a:lstStyle/>
          <a:p>
            <a:pPr algn="r"/>
            <a:r>
              <a:rPr sz="900">
                <a:solidFill>
                  <a:srgbClr val="595959"/>
                </a:solidFill>
                <a:latin typeface="Arial"/>
              </a:rPr>
              <a:t>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3" name="TB title"/>
          <p:cNvSpPr txBox="1"/>
          <p:nvPr/>
        </p:nvSpPr>
        <p:spPr>
          <a:xfrm>
            <a:off x="310896" y="320040"/>
            <a:ext cx="8522208" cy="731520"/>
          </a:xfrm>
          <a:prstGeom prst="rect">
            <a:avLst/>
          </a:prstGeom>
          <a:noFill/>
        </p:spPr>
        <p:txBody>
          <a:bodyPr wrap="square" lIns="0" tIns="0" rIns="0" bIns="0">
            <a:spAutoFit/>
          </a:bodyPr>
          <a:lstStyle/>
          <a:p>
            <a:r>
              <a:rPr sz="2200" b="1">
                <a:solidFill>
                  <a:srgbClr val="222222"/>
                </a:solidFill>
                <a:latin typeface="Arial"/>
              </a:rPr>
              <a:t>Pretrained models already know most of what you need</a:t>
            </a:r>
          </a:p>
        </p:txBody>
      </p:sp>
      <p:sp>
        <p:nvSpPr>
          <p:cNvPr id="264" name="BG title rule"/>
          <p:cNvSpPr/>
          <p:nvPr/>
        </p:nvSpPr>
        <p:spPr>
          <a:xfrm>
            <a:off x="310896" y="1060704"/>
            <a:ext cx="548640" cy="27432"/>
          </a:xfrm>
          <a:prstGeom prst="rect">
            <a:avLst/>
          </a:prstGeom>
          <a:solidFill>
            <a:srgbClr val="428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5" name="TB takeaway"/>
          <p:cNvSpPr txBox="1"/>
          <p:nvPr/>
        </p:nvSpPr>
        <p:spPr>
          <a:xfrm>
            <a:off x="310896" y="1133856"/>
            <a:ext cx="8522208" cy="502920"/>
          </a:xfrm>
          <a:prstGeom prst="rect">
            <a:avLst/>
          </a:prstGeom>
          <a:noFill/>
        </p:spPr>
        <p:txBody>
          <a:bodyPr wrap="square" lIns="0" tIns="0" rIns="0" bIns="0">
            <a:spAutoFit/>
          </a:bodyPr>
          <a:lstStyle/>
          <a:p>
            <a:r>
              <a:rPr sz="1300" i="1">
                <a:solidFill>
                  <a:srgbClr val="4285F4"/>
                </a:solidFill>
                <a:latin typeface="Arial"/>
              </a:rPr>
              <a:t>Pretrained language models live in a much lower-dimensional subspace than their parameter count suggests.</a:t>
            </a:r>
          </a:p>
        </p:txBody>
      </p:sp>
      <p:sp>
        <p:nvSpPr>
          <p:cNvPr id="267" name="PageNum 7"/>
          <p:cNvSpPr txBox="1"/>
          <p:nvPr/>
        </p:nvSpPr>
        <p:spPr>
          <a:xfrm>
            <a:off x="8595360" y="4892040"/>
            <a:ext cx="457200" cy="201168"/>
          </a:xfrm>
          <a:prstGeom prst="rect">
            <a:avLst/>
          </a:prstGeom>
          <a:noFill/>
        </p:spPr>
        <p:txBody>
          <a:bodyPr wrap="square" lIns="0" tIns="0" rIns="0" bIns="0">
            <a:spAutoFit/>
          </a:bodyPr>
          <a:lstStyle/>
          <a:p>
            <a:pPr algn="r"/>
            <a:r>
              <a:rPr sz="900">
                <a:solidFill>
                  <a:srgbClr val="595959"/>
                </a:solidFill>
                <a:latin typeface="Arial"/>
              </a:rPr>
              <a:t>7</a:t>
            </a:r>
          </a:p>
        </p:txBody>
      </p:sp>
      <p:sp>
        <p:nvSpPr>
          <p:cNvPr id="436" name="TB chart caption"/>
          <p:cNvSpPr txBox="1"/>
          <p:nvPr/>
        </p:nvSpPr>
        <p:spPr>
          <a:xfrm>
            <a:off x="310896" y="4078720"/>
            <a:ext cx="8522208" cy="365760"/>
          </a:xfrm>
          <a:prstGeom prst="rect">
            <a:avLst/>
          </a:prstGeom>
          <a:noFill/>
        </p:spPr>
        <p:txBody>
          <a:bodyPr wrap="square" lIns="0">
            <a:spAutoFit/>
          </a:bodyPr>
          <a:lstStyle/>
          <a:p>
            <a:pPr algn="ctr"/>
            <a:r>
              <a:rPr sz="1000" i="1" dirty="0">
                <a:solidFill>
                  <a:srgbClr val="595959"/>
                </a:solidFill>
                <a:latin typeface="Arial"/>
              </a:rPr>
              <a:t>MRPC accuracy for BERT / </a:t>
            </a:r>
            <a:r>
              <a:rPr sz="1000" i="1" dirty="0" err="1">
                <a:solidFill>
                  <a:srgbClr val="595959"/>
                </a:solidFill>
                <a:latin typeface="Arial"/>
              </a:rPr>
              <a:t>RoBERTa</a:t>
            </a:r>
            <a:r>
              <a:rPr sz="1000" i="1" dirty="0">
                <a:solidFill>
                  <a:srgbClr val="595959"/>
                </a:solidFill>
                <a:latin typeface="Arial"/>
              </a:rPr>
              <a:t> vs. intrinsic dimension d. Near-full accuracy at d far below the parameter count.</a:t>
            </a:r>
          </a:p>
        </p:txBody>
      </p:sp>
      <p:sp>
        <p:nvSpPr>
          <p:cNvPr id="437" name="TB source"/>
          <p:cNvSpPr txBox="1"/>
          <p:nvPr/>
        </p:nvSpPr>
        <p:spPr>
          <a:xfrm>
            <a:off x="73152" y="4892040"/>
            <a:ext cx="7772400" cy="201168"/>
          </a:xfrm>
          <a:prstGeom prst="rect">
            <a:avLst/>
          </a:prstGeom>
          <a:noFill/>
        </p:spPr>
        <p:txBody>
          <a:bodyPr wrap="square" lIns="0">
            <a:spAutoFit/>
          </a:bodyPr>
          <a:lstStyle/>
          <a:p>
            <a:r>
              <a:rPr sz="900" u="sng" dirty="0">
                <a:solidFill>
                  <a:srgbClr val="595959"/>
                </a:solidFill>
                <a:latin typeface="Arial"/>
                <a:hlinkClick r:id="rId3"/>
              </a:rPr>
              <a:t>Aghajanyan, Gupta, Zettlemoyer 2020</a:t>
            </a:r>
          </a:p>
        </p:txBody>
      </p:sp>
      <p:pic>
        <p:nvPicPr>
          <p:cNvPr id="3" name="Picture 2">
            <a:extLst>
              <a:ext uri="{FF2B5EF4-FFF2-40B4-BE49-F238E27FC236}">
                <a16:creationId xmlns:a16="http://schemas.microsoft.com/office/drawing/2014/main" id="{15475CAD-758A-E778-871E-7789CF9F1F4A}"/>
              </a:ext>
            </a:extLst>
          </p:cNvPr>
          <p:cNvPicPr>
            <a:picLocks noChangeAspect="1"/>
          </p:cNvPicPr>
          <p:nvPr/>
        </p:nvPicPr>
        <p:blipFill>
          <a:blip r:embed="rId4"/>
          <a:stretch>
            <a:fillRect/>
          </a:stretch>
        </p:blipFill>
        <p:spPr>
          <a:xfrm>
            <a:off x="518735" y="1787209"/>
            <a:ext cx="8106530" cy="2295587"/>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B title"/>
          <p:cNvSpPr txBox="1"/>
          <p:nvPr/>
        </p:nvSpPr>
        <p:spPr>
          <a:xfrm>
            <a:off x="310896" y="320040"/>
            <a:ext cx="8522208" cy="731520"/>
          </a:xfrm>
          <a:prstGeom prst="rect">
            <a:avLst/>
          </a:prstGeom>
          <a:noFill/>
        </p:spPr>
        <p:txBody>
          <a:bodyPr wrap="square" lIns="0" tIns="0" rIns="0" bIns="0">
            <a:spAutoFit/>
          </a:bodyPr>
          <a:lstStyle/>
          <a:p>
            <a:r>
              <a:rPr sz="2200" b="1">
                <a:solidFill>
                  <a:srgbClr val="222222"/>
                </a:solidFill>
                <a:latin typeface="Arial"/>
              </a:rPr>
              <a:t>What matrix rank means</a:t>
            </a:r>
          </a:p>
        </p:txBody>
      </p:sp>
      <p:sp>
        <p:nvSpPr>
          <p:cNvPr id="3" name="BG title rule"/>
          <p:cNvSpPr/>
          <p:nvPr/>
        </p:nvSpPr>
        <p:spPr>
          <a:xfrm>
            <a:off x="310896" y="1060704"/>
            <a:ext cx="548640" cy="27432"/>
          </a:xfrm>
          <a:prstGeom prst="rect">
            <a:avLst/>
          </a:prstGeom>
          <a:solidFill>
            <a:srgbClr val="428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B takeaway"/>
          <p:cNvSpPr txBox="1"/>
          <p:nvPr/>
        </p:nvSpPr>
        <p:spPr>
          <a:xfrm>
            <a:off x="310896" y="1133856"/>
            <a:ext cx="8522208" cy="365760"/>
          </a:xfrm>
          <a:prstGeom prst="rect">
            <a:avLst/>
          </a:prstGeom>
          <a:noFill/>
        </p:spPr>
        <p:txBody>
          <a:bodyPr wrap="square" lIns="0" tIns="0" rIns="0" bIns="0">
            <a:spAutoFit/>
          </a:bodyPr>
          <a:lstStyle/>
          <a:p>
            <a:r>
              <a:rPr sz="1300" b="0" i="1">
                <a:solidFill>
                  <a:srgbClr val="4285F4"/>
                </a:solidFill>
                <a:latin typeface="Arial"/>
              </a:rPr>
              <a:t>Rank = number of independent directions in a matrix. Low-rank ⇒ redundancy ⇒ can be stored smaller.</a:t>
            </a:r>
          </a:p>
        </p:txBody>
      </p:sp>
      <p:sp>
        <p:nvSpPr>
          <p:cNvPr id="5" name="TB ex hdr"/>
          <p:cNvSpPr txBox="1"/>
          <p:nvPr/>
        </p:nvSpPr>
        <p:spPr>
          <a:xfrm>
            <a:off x="310896" y="1691640"/>
            <a:ext cx="3931920" cy="320040"/>
          </a:xfrm>
          <a:prstGeom prst="rect">
            <a:avLst/>
          </a:prstGeom>
          <a:noFill/>
        </p:spPr>
        <p:txBody>
          <a:bodyPr wrap="square" lIns="0" tIns="0" rIns="0" bIns="0">
            <a:spAutoFit/>
          </a:bodyPr>
          <a:lstStyle/>
          <a:p>
            <a:r>
              <a:rPr sz="1400" b="1" i="0">
                <a:solidFill>
                  <a:srgbClr val="222222"/>
                </a:solidFill>
                <a:latin typeface="Arial"/>
              </a:rPr>
              <a:t>Concrete example: 3 × 3 matrix</a:t>
            </a:r>
          </a:p>
        </p:txBody>
      </p:sp>
      <p:sp>
        <p:nvSpPr>
          <p:cNvPr id="6" name="col bg 0"/>
          <p:cNvSpPr/>
          <p:nvPr/>
        </p:nvSpPr>
        <p:spPr>
          <a:xfrm>
            <a:off x="548640" y="2084831"/>
            <a:ext cx="502920" cy="1234440"/>
          </a:xfrm>
          <a:prstGeom prst="rect">
            <a:avLst/>
          </a:prstGeom>
          <a:solidFill>
            <a:srgbClr val="E8F0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col bg 1"/>
          <p:cNvSpPr/>
          <p:nvPr/>
        </p:nvSpPr>
        <p:spPr>
          <a:xfrm>
            <a:off x="1051560" y="2084831"/>
            <a:ext cx="502920" cy="1234440"/>
          </a:xfrm>
          <a:prstGeom prst="rect">
            <a:avLst/>
          </a:prstGeom>
          <a:solidFill>
            <a:srgbClr val="FE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col bg 2"/>
          <p:cNvSpPr/>
          <p:nvPr/>
        </p:nvSpPr>
        <p:spPr>
          <a:xfrm>
            <a:off x="1554480" y="2084831"/>
            <a:ext cx="502920" cy="1234440"/>
          </a:xfrm>
          <a:prstGeom prst="rect">
            <a:avLst/>
          </a:prstGeom>
          <a:solidFill>
            <a:srgbClr val="E6F4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cell 00"/>
          <p:cNvSpPr txBox="1"/>
          <p:nvPr/>
        </p:nvSpPr>
        <p:spPr>
          <a:xfrm>
            <a:off x="548640" y="2084831"/>
            <a:ext cx="502920" cy="411480"/>
          </a:xfrm>
          <a:prstGeom prst="rect">
            <a:avLst/>
          </a:prstGeom>
          <a:noFill/>
        </p:spPr>
        <p:txBody>
          <a:bodyPr wrap="square" lIns="0" tIns="0" rIns="0" bIns="0">
            <a:spAutoFit/>
          </a:bodyPr>
          <a:lstStyle/>
          <a:p>
            <a:pPr algn="ctr"/>
            <a:r>
              <a:rPr sz="1600" b="0" i="0">
                <a:solidFill>
                  <a:srgbClr val="222222"/>
                </a:solidFill>
                <a:latin typeface="Arial"/>
              </a:rPr>
              <a:t>1</a:t>
            </a:r>
          </a:p>
        </p:txBody>
      </p:sp>
      <p:sp>
        <p:nvSpPr>
          <p:cNvPr id="10" name="cell 01"/>
          <p:cNvSpPr txBox="1"/>
          <p:nvPr/>
        </p:nvSpPr>
        <p:spPr>
          <a:xfrm>
            <a:off x="1051560" y="2084831"/>
            <a:ext cx="502920" cy="411480"/>
          </a:xfrm>
          <a:prstGeom prst="rect">
            <a:avLst/>
          </a:prstGeom>
          <a:noFill/>
        </p:spPr>
        <p:txBody>
          <a:bodyPr wrap="square" lIns="0" tIns="0" rIns="0" bIns="0">
            <a:spAutoFit/>
          </a:bodyPr>
          <a:lstStyle/>
          <a:p>
            <a:pPr algn="ctr"/>
            <a:r>
              <a:rPr sz="1600" b="0" i="0">
                <a:solidFill>
                  <a:srgbClr val="222222"/>
                </a:solidFill>
                <a:latin typeface="Arial"/>
              </a:rPr>
              <a:t>2</a:t>
            </a:r>
          </a:p>
        </p:txBody>
      </p:sp>
      <p:sp>
        <p:nvSpPr>
          <p:cNvPr id="11" name="cell 02"/>
          <p:cNvSpPr txBox="1"/>
          <p:nvPr/>
        </p:nvSpPr>
        <p:spPr>
          <a:xfrm>
            <a:off x="1554480" y="2084831"/>
            <a:ext cx="502920" cy="411480"/>
          </a:xfrm>
          <a:prstGeom prst="rect">
            <a:avLst/>
          </a:prstGeom>
          <a:noFill/>
        </p:spPr>
        <p:txBody>
          <a:bodyPr wrap="square" lIns="0" tIns="0" rIns="0" bIns="0">
            <a:spAutoFit/>
          </a:bodyPr>
          <a:lstStyle/>
          <a:p>
            <a:pPr algn="ctr"/>
            <a:r>
              <a:rPr sz="1600" b="0" i="0">
                <a:solidFill>
                  <a:srgbClr val="222222"/>
                </a:solidFill>
                <a:latin typeface="Arial"/>
              </a:rPr>
              <a:t>3</a:t>
            </a:r>
          </a:p>
        </p:txBody>
      </p:sp>
      <p:sp>
        <p:nvSpPr>
          <p:cNvPr id="12" name="cell 10"/>
          <p:cNvSpPr txBox="1"/>
          <p:nvPr/>
        </p:nvSpPr>
        <p:spPr>
          <a:xfrm>
            <a:off x="548640" y="2496312"/>
            <a:ext cx="502920" cy="411480"/>
          </a:xfrm>
          <a:prstGeom prst="rect">
            <a:avLst/>
          </a:prstGeom>
          <a:noFill/>
        </p:spPr>
        <p:txBody>
          <a:bodyPr wrap="square" lIns="0" tIns="0" rIns="0" bIns="0">
            <a:spAutoFit/>
          </a:bodyPr>
          <a:lstStyle/>
          <a:p>
            <a:pPr algn="ctr"/>
            <a:r>
              <a:rPr sz="1600" b="0" i="0">
                <a:solidFill>
                  <a:srgbClr val="222222"/>
                </a:solidFill>
                <a:latin typeface="Arial"/>
              </a:rPr>
              <a:t>2</a:t>
            </a:r>
          </a:p>
        </p:txBody>
      </p:sp>
      <p:sp>
        <p:nvSpPr>
          <p:cNvPr id="13" name="cell 11"/>
          <p:cNvSpPr txBox="1"/>
          <p:nvPr/>
        </p:nvSpPr>
        <p:spPr>
          <a:xfrm>
            <a:off x="1051560" y="2496312"/>
            <a:ext cx="502920" cy="411480"/>
          </a:xfrm>
          <a:prstGeom prst="rect">
            <a:avLst/>
          </a:prstGeom>
          <a:noFill/>
        </p:spPr>
        <p:txBody>
          <a:bodyPr wrap="square" lIns="0" tIns="0" rIns="0" bIns="0">
            <a:spAutoFit/>
          </a:bodyPr>
          <a:lstStyle/>
          <a:p>
            <a:pPr algn="ctr"/>
            <a:r>
              <a:rPr sz="1600" b="0" i="0">
                <a:solidFill>
                  <a:srgbClr val="222222"/>
                </a:solidFill>
                <a:latin typeface="Arial"/>
              </a:rPr>
              <a:t>4</a:t>
            </a:r>
          </a:p>
        </p:txBody>
      </p:sp>
      <p:sp>
        <p:nvSpPr>
          <p:cNvPr id="14" name="cell 12"/>
          <p:cNvSpPr txBox="1"/>
          <p:nvPr/>
        </p:nvSpPr>
        <p:spPr>
          <a:xfrm>
            <a:off x="1554480" y="2496312"/>
            <a:ext cx="502920" cy="411480"/>
          </a:xfrm>
          <a:prstGeom prst="rect">
            <a:avLst/>
          </a:prstGeom>
          <a:noFill/>
        </p:spPr>
        <p:txBody>
          <a:bodyPr wrap="square" lIns="0" tIns="0" rIns="0" bIns="0">
            <a:spAutoFit/>
          </a:bodyPr>
          <a:lstStyle/>
          <a:p>
            <a:pPr algn="ctr"/>
            <a:r>
              <a:rPr sz="1600" b="0" i="0">
                <a:solidFill>
                  <a:srgbClr val="222222"/>
                </a:solidFill>
                <a:latin typeface="Arial"/>
              </a:rPr>
              <a:t>6</a:t>
            </a:r>
          </a:p>
        </p:txBody>
      </p:sp>
      <p:sp>
        <p:nvSpPr>
          <p:cNvPr id="15" name="cell 20"/>
          <p:cNvSpPr txBox="1"/>
          <p:nvPr/>
        </p:nvSpPr>
        <p:spPr>
          <a:xfrm>
            <a:off x="548640" y="2907791"/>
            <a:ext cx="502920" cy="411480"/>
          </a:xfrm>
          <a:prstGeom prst="rect">
            <a:avLst/>
          </a:prstGeom>
          <a:noFill/>
        </p:spPr>
        <p:txBody>
          <a:bodyPr wrap="square" lIns="0" tIns="0" rIns="0" bIns="0">
            <a:spAutoFit/>
          </a:bodyPr>
          <a:lstStyle/>
          <a:p>
            <a:pPr algn="ctr"/>
            <a:r>
              <a:rPr sz="1600" b="0" i="0">
                <a:solidFill>
                  <a:srgbClr val="222222"/>
                </a:solidFill>
                <a:latin typeface="Arial"/>
              </a:rPr>
              <a:t>1</a:t>
            </a:r>
          </a:p>
        </p:txBody>
      </p:sp>
      <p:sp>
        <p:nvSpPr>
          <p:cNvPr id="16" name="cell 21"/>
          <p:cNvSpPr txBox="1"/>
          <p:nvPr/>
        </p:nvSpPr>
        <p:spPr>
          <a:xfrm>
            <a:off x="1051560" y="2907791"/>
            <a:ext cx="502920" cy="411480"/>
          </a:xfrm>
          <a:prstGeom prst="rect">
            <a:avLst/>
          </a:prstGeom>
          <a:noFill/>
        </p:spPr>
        <p:txBody>
          <a:bodyPr wrap="square" lIns="0" tIns="0" rIns="0" bIns="0">
            <a:spAutoFit/>
          </a:bodyPr>
          <a:lstStyle/>
          <a:p>
            <a:pPr algn="ctr"/>
            <a:r>
              <a:rPr sz="1600" b="0" i="0">
                <a:solidFill>
                  <a:srgbClr val="222222"/>
                </a:solidFill>
                <a:latin typeface="Arial"/>
              </a:rPr>
              <a:t>1</a:t>
            </a:r>
          </a:p>
        </p:txBody>
      </p:sp>
      <p:sp>
        <p:nvSpPr>
          <p:cNvPr id="17" name="cell 22"/>
          <p:cNvSpPr txBox="1"/>
          <p:nvPr/>
        </p:nvSpPr>
        <p:spPr>
          <a:xfrm>
            <a:off x="1554480" y="2907791"/>
            <a:ext cx="502920" cy="411480"/>
          </a:xfrm>
          <a:prstGeom prst="rect">
            <a:avLst/>
          </a:prstGeom>
          <a:noFill/>
        </p:spPr>
        <p:txBody>
          <a:bodyPr wrap="square" lIns="0" tIns="0" rIns="0" bIns="0">
            <a:spAutoFit/>
          </a:bodyPr>
          <a:lstStyle/>
          <a:p>
            <a:pPr algn="ctr"/>
            <a:r>
              <a:rPr sz="1600" b="0" i="0">
                <a:solidFill>
                  <a:srgbClr val="222222"/>
                </a:solidFill>
                <a:latin typeface="Arial"/>
              </a:rPr>
              <a:t>2</a:t>
            </a:r>
          </a:p>
        </p:txBody>
      </p:sp>
      <p:sp>
        <p:nvSpPr>
          <p:cNvPr id="18" name="lbracket vert"/>
          <p:cNvSpPr/>
          <p:nvPr/>
        </p:nvSpPr>
        <p:spPr>
          <a:xfrm>
            <a:off x="493776" y="2084831"/>
            <a:ext cx="18288" cy="1234440"/>
          </a:xfrm>
          <a:prstGeom prst="rect">
            <a:avLst/>
          </a:prstGeom>
          <a:solidFill>
            <a:srgbClr val="2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lbracket top"/>
          <p:cNvSpPr/>
          <p:nvPr/>
        </p:nvSpPr>
        <p:spPr>
          <a:xfrm>
            <a:off x="493776" y="2084831"/>
            <a:ext cx="73152" cy="18288"/>
          </a:xfrm>
          <a:prstGeom prst="rect">
            <a:avLst/>
          </a:prstGeom>
          <a:solidFill>
            <a:srgbClr val="2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lbracket bot"/>
          <p:cNvSpPr/>
          <p:nvPr/>
        </p:nvSpPr>
        <p:spPr>
          <a:xfrm>
            <a:off x="493776" y="3300984"/>
            <a:ext cx="73152" cy="18288"/>
          </a:xfrm>
          <a:prstGeom prst="rect">
            <a:avLst/>
          </a:prstGeom>
          <a:solidFill>
            <a:srgbClr val="2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bracket vert"/>
          <p:cNvSpPr/>
          <p:nvPr/>
        </p:nvSpPr>
        <p:spPr>
          <a:xfrm>
            <a:off x="2093976" y="2084831"/>
            <a:ext cx="18288" cy="1234440"/>
          </a:xfrm>
          <a:prstGeom prst="rect">
            <a:avLst/>
          </a:prstGeom>
          <a:solidFill>
            <a:srgbClr val="2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bracket top"/>
          <p:cNvSpPr/>
          <p:nvPr/>
        </p:nvSpPr>
        <p:spPr>
          <a:xfrm>
            <a:off x="2039112" y="2084831"/>
            <a:ext cx="73152" cy="18288"/>
          </a:xfrm>
          <a:prstGeom prst="rect">
            <a:avLst/>
          </a:prstGeom>
          <a:solidFill>
            <a:srgbClr val="2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bracket bot"/>
          <p:cNvSpPr/>
          <p:nvPr/>
        </p:nvSpPr>
        <p:spPr>
          <a:xfrm>
            <a:off x="2039112" y="3300984"/>
            <a:ext cx="73152" cy="18288"/>
          </a:xfrm>
          <a:prstGeom prst="rect">
            <a:avLst/>
          </a:prstGeom>
          <a:solidFill>
            <a:srgbClr val="2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M label"/>
          <p:cNvSpPr txBox="1"/>
          <p:nvPr/>
        </p:nvSpPr>
        <p:spPr>
          <a:xfrm>
            <a:off x="91440" y="2578608"/>
            <a:ext cx="411480" cy="457200"/>
          </a:xfrm>
          <a:prstGeom prst="rect">
            <a:avLst/>
          </a:prstGeom>
          <a:noFill/>
        </p:spPr>
        <p:txBody>
          <a:bodyPr wrap="square" lIns="0" tIns="0" rIns="0" bIns="0">
            <a:spAutoFit/>
          </a:bodyPr>
          <a:lstStyle/>
          <a:p>
            <a:pPr algn="ctr"/>
            <a:r>
              <a:rPr sz="1800" b="1" i="1">
                <a:solidFill>
                  <a:srgbClr val="222222"/>
                </a:solidFill>
                <a:latin typeface="Arial"/>
              </a:rPr>
              <a:t>M =</a:t>
            </a:r>
          </a:p>
        </p:txBody>
      </p:sp>
      <p:sp>
        <p:nvSpPr>
          <p:cNvPr id="25" name="col label 0"/>
          <p:cNvSpPr txBox="1"/>
          <p:nvPr/>
        </p:nvSpPr>
        <p:spPr>
          <a:xfrm>
            <a:off x="502919" y="3337560"/>
            <a:ext cx="594360" cy="219456"/>
          </a:xfrm>
          <a:prstGeom prst="rect">
            <a:avLst/>
          </a:prstGeom>
          <a:noFill/>
        </p:spPr>
        <p:txBody>
          <a:bodyPr wrap="square" lIns="0" tIns="0" rIns="0" bIns="0">
            <a:spAutoFit/>
          </a:bodyPr>
          <a:lstStyle/>
          <a:p>
            <a:pPr algn="ctr"/>
            <a:r>
              <a:rPr sz="1000" b="0" i="1">
                <a:solidFill>
                  <a:srgbClr val="595959"/>
                </a:solidFill>
                <a:latin typeface="Arial"/>
              </a:rPr>
              <a:t>col 1</a:t>
            </a:r>
          </a:p>
        </p:txBody>
      </p:sp>
      <p:sp>
        <p:nvSpPr>
          <p:cNvPr id="26" name="col label 1"/>
          <p:cNvSpPr txBox="1"/>
          <p:nvPr/>
        </p:nvSpPr>
        <p:spPr>
          <a:xfrm>
            <a:off x="1005839" y="3337560"/>
            <a:ext cx="594360" cy="219456"/>
          </a:xfrm>
          <a:prstGeom prst="rect">
            <a:avLst/>
          </a:prstGeom>
          <a:noFill/>
        </p:spPr>
        <p:txBody>
          <a:bodyPr wrap="square" lIns="0" tIns="0" rIns="0" bIns="0">
            <a:spAutoFit/>
          </a:bodyPr>
          <a:lstStyle/>
          <a:p>
            <a:pPr algn="ctr"/>
            <a:r>
              <a:rPr sz="1000" b="0" i="1">
                <a:solidFill>
                  <a:srgbClr val="595959"/>
                </a:solidFill>
                <a:latin typeface="Arial"/>
              </a:rPr>
              <a:t>col 2</a:t>
            </a:r>
          </a:p>
        </p:txBody>
      </p:sp>
      <p:sp>
        <p:nvSpPr>
          <p:cNvPr id="27" name="col label 2"/>
          <p:cNvSpPr txBox="1"/>
          <p:nvPr/>
        </p:nvSpPr>
        <p:spPr>
          <a:xfrm>
            <a:off x="1508760" y="3337560"/>
            <a:ext cx="594360" cy="219456"/>
          </a:xfrm>
          <a:prstGeom prst="rect">
            <a:avLst/>
          </a:prstGeom>
          <a:noFill/>
        </p:spPr>
        <p:txBody>
          <a:bodyPr wrap="square" lIns="0" tIns="0" rIns="0" bIns="0">
            <a:spAutoFit/>
          </a:bodyPr>
          <a:lstStyle/>
          <a:p>
            <a:pPr algn="ctr"/>
            <a:r>
              <a:rPr sz="1000" b="0" i="1">
                <a:solidFill>
                  <a:srgbClr val="595959"/>
                </a:solidFill>
                <a:latin typeface="Arial"/>
              </a:rPr>
              <a:t>col 3</a:t>
            </a:r>
          </a:p>
        </p:txBody>
      </p:sp>
      <p:sp>
        <p:nvSpPr>
          <p:cNvPr id="28" name="TB observation"/>
          <p:cNvSpPr txBox="1"/>
          <p:nvPr/>
        </p:nvSpPr>
        <p:spPr>
          <a:xfrm>
            <a:off x="310896" y="3611879"/>
            <a:ext cx="3931920" cy="1005840"/>
          </a:xfrm>
          <a:prstGeom prst="rect">
            <a:avLst/>
          </a:prstGeom>
          <a:noFill/>
        </p:spPr>
        <p:txBody>
          <a:bodyPr wrap="square" lIns="0" tIns="0" rIns="0" bIns="0">
            <a:spAutoFit/>
          </a:bodyPr>
          <a:lstStyle/>
          <a:p>
            <a:r>
              <a:rPr sz="1200">
                <a:solidFill>
                  <a:srgbClr val="222222"/>
                </a:solidFill>
                <a:latin typeface="Arial"/>
              </a:rPr>
              <a:t>Observation: col 3 = col 1 + col 2.</a:t>
            </a:r>
          </a:p>
          <a:p>
            <a:r>
              <a:rPr sz="1200">
                <a:solidFill>
                  <a:srgbClr val="222222"/>
                </a:solidFill>
                <a:latin typeface="Arial"/>
              </a:rPr>
              <a:t>Only 2 independent columns.</a:t>
            </a:r>
          </a:p>
          <a:p>
            <a:r>
              <a:rPr sz="1500" b="1">
                <a:solidFill>
                  <a:srgbClr val="4285F4"/>
                </a:solidFill>
                <a:latin typeface="Arial"/>
              </a:rPr>
              <a:t>rank(M) = 2</a:t>
            </a:r>
          </a:p>
        </p:txBody>
      </p:sp>
      <p:sp>
        <p:nvSpPr>
          <p:cNvPr id="29" name="TB fact hdr"/>
          <p:cNvSpPr txBox="1"/>
          <p:nvPr/>
        </p:nvSpPr>
        <p:spPr>
          <a:xfrm>
            <a:off x="4754880" y="1691640"/>
            <a:ext cx="4023360" cy="320040"/>
          </a:xfrm>
          <a:prstGeom prst="rect">
            <a:avLst/>
          </a:prstGeom>
          <a:noFill/>
        </p:spPr>
        <p:txBody>
          <a:bodyPr wrap="square" lIns="0" tIns="0" rIns="0" bIns="0">
            <a:spAutoFit/>
          </a:bodyPr>
          <a:lstStyle/>
          <a:p>
            <a:r>
              <a:rPr sz="1400" b="1" i="0">
                <a:solidFill>
                  <a:srgbClr val="222222"/>
                </a:solidFill>
                <a:latin typeface="Arial"/>
              </a:rPr>
              <a:t>Low-rank factorization</a:t>
            </a:r>
          </a:p>
        </p:txBody>
      </p:sp>
      <p:sp>
        <p:nvSpPr>
          <p:cNvPr id="30" name="M square"/>
          <p:cNvSpPr/>
          <p:nvPr/>
        </p:nvSpPr>
        <p:spPr>
          <a:xfrm>
            <a:off x="4846320" y="2148840"/>
            <a:ext cx="1188720" cy="1188720"/>
          </a:xfrm>
          <a:prstGeom prst="rect">
            <a:avLst/>
          </a:prstGeom>
          <a:solidFill>
            <a:srgbClr val="F3F6FD"/>
          </a:solidFill>
          <a:ln w="9525">
            <a:solidFill>
              <a:srgbClr val="4C78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M big label"/>
          <p:cNvSpPr txBox="1"/>
          <p:nvPr/>
        </p:nvSpPr>
        <p:spPr>
          <a:xfrm>
            <a:off x="4846320" y="2560320"/>
            <a:ext cx="1188720" cy="365760"/>
          </a:xfrm>
          <a:prstGeom prst="rect">
            <a:avLst/>
          </a:prstGeom>
          <a:noFill/>
        </p:spPr>
        <p:txBody>
          <a:bodyPr wrap="square" lIns="0" tIns="0" rIns="0" bIns="0">
            <a:spAutoFit/>
          </a:bodyPr>
          <a:lstStyle/>
          <a:p>
            <a:pPr algn="ctr"/>
            <a:r>
              <a:rPr sz="2200" b="1" i="1">
                <a:solidFill>
                  <a:srgbClr val="222222"/>
                </a:solidFill>
                <a:latin typeface="Arial"/>
              </a:rPr>
              <a:t>M</a:t>
            </a:r>
          </a:p>
        </p:txBody>
      </p:sp>
      <p:sp>
        <p:nvSpPr>
          <p:cNvPr id="32" name="M dims"/>
          <p:cNvSpPr txBox="1"/>
          <p:nvPr/>
        </p:nvSpPr>
        <p:spPr>
          <a:xfrm>
            <a:off x="4846320" y="3383280"/>
            <a:ext cx="1188720" cy="219456"/>
          </a:xfrm>
          <a:prstGeom prst="rect">
            <a:avLst/>
          </a:prstGeom>
          <a:noFill/>
        </p:spPr>
        <p:txBody>
          <a:bodyPr wrap="square" lIns="0" tIns="0" rIns="0" bIns="0">
            <a:spAutoFit/>
          </a:bodyPr>
          <a:lstStyle/>
          <a:p>
            <a:pPr algn="ctr"/>
            <a:r>
              <a:rPr sz="1000" b="0" i="1">
                <a:solidFill>
                  <a:srgbClr val="595959"/>
                </a:solidFill>
                <a:latin typeface="Arial"/>
              </a:rPr>
              <a:t>d × d</a:t>
            </a:r>
          </a:p>
        </p:txBody>
      </p:sp>
      <p:sp>
        <p:nvSpPr>
          <p:cNvPr id="33" name="approx"/>
          <p:cNvSpPr txBox="1"/>
          <p:nvPr/>
        </p:nvSpPr>
        <p:spPr>
          <a:xfrm>
            <a:off x="6126480" y="2514600"/>
            <a:ext cx="365760" cy="457200"/>
          </a:xfrm>
          <a:prstGeom prst="rect">
            <a:avLst/>
          </a:prstGeom>
          <a:noFill/>
        </p:spPr>
        <p:txBody>
          <a:bodyPr wrap="square" lIns="0" tIns="0" rIns="0" bIns="0">
            <a:spAutoFit/>
          </a:bodyPr>
          <a:lstStyle/>
          <a:p>
            <a:pPr algn="ctr"/>
            <a:r>
              <a:rPr sz="2600" b="1" i="0">
                <a:solidFill>
                  <a:srgbClr val="222222"/>
                </a:solidFill>
                <a:latin typeface="Arial"/>
              </a:rPr>
              <a:t>≈</a:t>
            </a:r>
          </a:p>
        </p:txBody>
      </p:sp>
      <p:sp>
        <p:nvSpPr>
          <p:cNvPr id="34" name="U rect"/>
          <p:cNvSpPr/>
          <p:nvPr/>
        </p:nvSpPr>
        <p:spPr>
          <a:xfrm>
            <a:off x="6583680" y="2148840"/>
            <a:ext cx="256032" cy="1188720"/>
          </a:xfrm>
          <a:prstGeom prst="rect">
            <a:avLst/>
          </a:prstGeom>
          <a:solidFill>
            <a:srgbClr val="F3F6FD"/>
          </a:solidFill>
          <a:ln w="9525">
            <a:solidFill>
              <a:srgbClr val="4C78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U label"/>
          <p:cNvSpPr txBox="1"/>
          <p:nvPr/>
        </p:nvSpPr>
        <p:spPr>
          <a:xfrm>
            <a:off x="6537960" y="2560320"/>
            <a:ext cx="347472" cy="365760"/>
          </a:xfrm>
          <a:prstGeom prst="rect">
            <a:avLst/>
          </a:prstGeom>
          <a:noFill/>
        </p:spPr>
        <p:txBody>
          <a:bodyPr wrap="square" lIns="0" tIns="0" rIns="0" bIns="0">
            <a:spAutoFit/>
          </a:bodyPr>
          <a:lstStyle/>
          <a:p>
            <a:pPr algn="ctr"/>
            <a:r>
              <a:rPr sz="1800" b="1" i="1">
                <a:solidFill>
                  <a:srgbClr val="222222"/>
                </a:solidFill>
                <a:latin typeface="Arial"/>
              </a:rPr>
              <a:t>U</a:t>
            </a:r>
          </a:p>
        </p:txBody>
      </p:sp>
      <p:sp>
        <p:nvSpPr>
          <p:cNvPr id="36" name="U dims"/>
          <p:cNvSpPr txBox="1"/>
          <p:nvPr/>
        </p:nvSpPr>
        <p:spPr>
          <a:xfrm>
            <a:off x="6446520" y="3383280"/>
            <a:ext cx="530352" cy="219456"/>
          </a:xfrm>
          <a:prstGeom prst="rect">
            <a:avLst/>
          </a:prstGeom>
          <a:noFill/>
        </p:spPr>
        <p:txBody>
          <a:bodyPr wrap="square" lIns="0" tIns="0" rIns="0" bIns="0">
            <a:spAutoFit/>
          </a:bodyPr>
          <a:lstStyle/>
          <a:p>
            <a:pPr algn="ctr"/>
            <a:r>
              <a:rPr sz="1000" b="0" i="1">
                <a:solidFill>
                  <a:srgbClr val="595959"/>
                </a:solidFill>
                <a:latin typeface="Arial"/>
              </a:rPr>
              <a:t>d × r</a:t>
            </a:r>
          </a:p>
        </p:txBody>
      </p:sp>
      <p:sp>
        <p:nvSpPr>
          <p:cNvPr id="37" name="mult"/>
          <p:cNvSpPr txBox="1"/>
          <p:nvPr/>
        </p:nvSpPr>
        <p:spPr>
          <a:xfrm>
            <a:off x="6949440" y="2560320"/>
            <a:ext cx="182880" cy="365760"/>
          </a:xfrm>
          <a:prstGeom prst="rect">
            <a:avLst/>
          </a:prstGeom>
          <a:noFill/>
        </p:spPr>
        <p:txBody>
          <a:bodyPr wrap="square" lIns="0" tIns="0" rIns="0" bIns="0">
            <a:spAutoFit/>
          </a:bodyPr>
          <a:lstStyle/>
          <a:p>
            <a:pPr algn="ctr"/>
            <a:r>
              <a:rPr sz="2600" b="1" i="0">
                <a:solidFill>
                  <a:srgbClr val="222222"/>
                </a:solidFill>
                <a:latin typeface="Arial"/>
              </a:rPr>
              <a:t>·</a:t>
            </a:r>
          </a:p>
        </p:txBody>
      </p:sp>
      <p:sp>
        <p:nvSpPr>
          <p:cNvPr id="38" name="V rect"/>
          <p:cNvSpPr/>
          <p:nvPr/>
        </p:nvSpPr>
        <p:spPr>
          <a:xfrm>
            <a:off x="7178040" y="2615184"/>
            <a:ext cx="1188720" cy="256032"/>
          </a:xfrm>
          <a:prstGeom prst="rect">
            <a:avLst/>
          </a:prstGeom>
          <a:solidFill>
            <a:srgbClr val="F3F6FD"/>
          </a:solidFill>
          <a:ln w="9525">
            <a:solidFill>
              <a:srgbClr val="4C78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V label"/>
          <p:cNvSpPr txBox="1"/>
          <p:nvPr/>
        </p:nvSpPr>
        <p:spPr>
          <a:xfrm>
            <a:off x="7178040" y="2560320"/>
            <a:ext cx="1188720" cy="365760"/>
          </a:xfrm>
          <a:prstGeom prst="rect">
            <a:avLst/>
          </a:prstGeom>
          <a:noFill/>
        </p:spPr>
        <p:txBody>
          <a:bodyPr wrap="square" lIns="0" tIns="0" rIns="0" bIns="0">
            <a:spAutoFit/>
          </a:bodyPr>
          <a:lstStyle/>
          <a:p>
            <a:pPr algn="ctr"/>
            <a:r>
              <a:rPr sz="1800" b="1" i="1">
                <a:solidFill>
                  <a:srgbClr val="222222"/>
                </a:solidFill>
                <a:latin typeface="Arial"/>
              </a:rPr>
              <a:t>V</a:t>
            </a:r>
          </a:p>
        </p:txBody>
      </p:sp>
      <p:sp>
        <p:nvSpPr>
          <p:cNvPr id="40" name="V dims"/>
          <p:cNvSpPr txBox="1"/>
          <p:nvPr/>
        </p:nvSpPr>
        <p:spPr>
          <a:xfrm>
            <a:off x="7178040" y="2916935"/>
            <a:ext cx="1188720" cy="219456"/>
          </a:xfrm>
          <a:prstGeom prst="rect">
            <a:avLst/>
          </a:prstGeom>
          <a:noFill/>
        </p:spPr>
        <p:txBody>
          <a:bodyPr wrap="square" lIns="0" tIns="0" rIns="0" bIns="0">
            <a:spAutoFit/>
          </a:bodyPr>
          <a:lstStyle/>
          <a:p>
            <a:pPr algn="ctr"/>
            <a:r>
              <a:rPr sz="1000" b="0" i="1">
                <a:solidFill>
                  <a:srgbClr val="595959"/>
                </a:solidFill>
                <a:latin typeface="Arial"/>
              </a:rPr>
              <a:t>r × d</a:t>
            </a:r>
          </a:p>
        </p:txBody>
      </p:sp>
      <p:sp>
        <p:nvSpPr>
          <p:cNvPr id="44" name="PageNum 8"/>
          <p:cNvSpPr txBox="1"/>
          <p:nvPr/>
        </p:nvSpPr>
        <p:spPr>
          <a:xfrm>
            <a:off x="8595360" y="4892040"/>
            <a:ext cx="457200" cy="201168"/>
          </a:xfrm>
          <a:prstGeom prst="rect">
            <a:avLst/>
          </a:prstGeom>
          <a:noFill/>
        </p:spPr>
        <p:txBody>
          <a:bodyPr wrap="square" lIns="0" tIns="0" rIns="0" bIns="0">
            <a:spAutoFit/>
          </a:bodyPr>
          <a:lstStyle/>
          <a:p>
            <a:pPr algn="r"/>
            <a:r>
              <a:rPr sz="900">
                <a:solidFill>
                  <a:srgbClr val="595959"/>
                </a:solidFill>
                <a:latin typeface="Arial"/>
              </a:rPr>
              <a:t>8</a:t>
            </a:r>
          </a:p>
        </p:txBody>
      </p:sp>
      <p:sp>
        <p:nvSpPr>
          <p:cNvPr id="45" name="TB concrete"/>
          <p:cNvSpPr txBox="1"/>
          <p:nvPr/>
        </p:nvSpPr>
        <p:spPr>
          <a:xfrm>
            <a:off x="4754880" y="3611880"/>
            <a:ext cx="4023360" cy="822960"/>
          </a:xfrm>
          <a:prstGeom prst="rect">
            <a:avLst/>
          </a:prstGeom>
          <a:noFill/>
        </p:spPr>
        <p:txBody>
          <a:bodyPr wrap="square" lIns="0" tIns="0" rIns="0" bIns="0">
            <a:spAutoFit/>
          </a:bodyPr>
          <a:lstStyle/>
          <a:p>
            <a:pPr algn="ctr">
              <a:spcAft>
                <a:spcPts val="200"/>
              </a:spcAft>
              <a:buNone/>
            </a:pPr>
            <a:r>
              <a:rPr sz="1200" b="0" i="1">
                <a:solidFill>
                  <a:srgbClr val="595959"/>
                </a:solidFill>
                <a:latin typeface="Arial"/>
              </a:rPr>
              <a:t>d = 4096, r = 8</a:t>
            </a:r>
          </a:p>
          <a:p>
            <a:pPr algn="ctr">
              <a:spcAft>
                <a:spcPts val="200"/>
              </a:spcAft>
              <a:buNone/>
            </a:pPr>
            <a:r>
              <a:rPr sz="1200" b="0" i="0">
                <a:solidFill>
                  <a:srgbClr val="222222"/>
                </a:solidFill>
                <a:latin typeface="Arial"/>
              </a:rPr>
              <a:t>(4096 × 4096)  →  (4096 × 8) + (8 × 4096)</a:t>
            </a:r>
          </a:p>
          <a:p>
            <a:pPr algn="ctr">
              <a:spcAft>
                <a:spcPts val="200"/>
              </a:spcAft>
              <a:buNone/>
            </a:pPr>
            <a:r>
              <a:rPr sz="1500" b="1" i="0">
                <a:solidFill>
                  <a:srgbClr val="4285F4"/>
                </a:solidFill>
                <a:latin typeface="Arial"/>
              </a:rPr>
              <a:t>16.7M → 65K, 256× smaller</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B section title"/>
          <p:cNvSpPr txBox="1"/>
          <p:nvPr/>
        </p:nvSpPr>
        <p:spPr>
          <a:xfrm>
            <a:off x="457200" y="2194560"/>
            <a:ext cx="8229600" cy="1097280"/>
          </a:xfrm>
          <a:prstGeom prst="rect">
            <a:avLst/>
          </a:prstGeom>
          <a:noFill/>
        </p:spPr>
        <p:txBody>
          <a:bodyPr wrap="square" lIns="0" tIns="0" rIns="0" bIns="0" anchor="t">
            <a:spAutoFit/>
          </a:bodyPr>
          <a:lstStyle/>
          <a:p>
            <a:pPr algn="l"/>
            <a:r>
              <a:rPr sz="3200" b="1">
                <a:solidFill>
                  <a:srgbClr val="222222"/>
                </a:solidFill>
                <a:latin typeface="Arial"/>
              </a:rPr>
              <a:t>Lo</a:t>
            </a:r>
            <a:r>
              <a:rPr sz="3200" b="0">
                <a:solidFill>
                  <a:srgbClr val="222222"/>
                </a:solidFill>
                <a:latin typeface="Arial"/>
              </a:rPr>
              <a:t>w-</a:t>
            </a:r>
            <a:r>
              <a:rPr sz="3200" b="1">
                <a:solidFill>
                  <a:srgbClr val="222222"/>
                </a:solidFill>
                <a:latin typeface="Arial"/>
              </a:rPr>
              <a:t>R</a:t>
            </a:r>
            <a:r>
              <a:rPr sz="3200" b="0">
                <a:solidFill>
                  <a:srgbClr val="222222"/>
                </a:solidFill>
                <a:latin typeface="Arial"/>
              </a:rPr>
              <a:t>ank </a:t>
            </a:r>
            <a:r>
              <a:rPr sz="3200" b="1">
                <a:solidFill>
                  <a:srgbClr val="222222"/>
                </a:solidFill>
                <a:latin typeface="Arial"/>
              </a:rPr>
              <a:t>A</a:t>
            </a:r>
            <a:r>
              <a:rPr sz="3200" b="0">
                <a:solidFill>
                  <a:srgbClr val="222222"/>
                </a:solidFill>
                <a:latin typeface="Arial"/>
              </a:rPr>
              <a:t>daptation (LoRA)</a:t>
            </a:r>
          </a:p>
        </p:txBody>
      </p:sp>
      <p:sp>
        <p:nvSpPr>
          <p:cNvPr id="4" name="BG rule"/>
          <p:cNvSpPr/>
          <p:nvPr/>
        </p:nvSpPr>
        <p:spPr>
          <a:xfrm>
            <a:off x="457200" y="3383280"/>
            <a:ext cx="1097280" cy="36576"/>
          </a:xfrm>
          <a:prstGeom prst="rect">
            <a:avLst/>
          </a:prstGeom>
          <a:solidFill>
            <a:srgbClr val="428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PageNum 9"/>
          <p:cNvSpPr txBox="1"/>
          <p:nvPr/>
        </p:nvSpPr>
        <p:spPr>
          <a:xfrm>
            <a:off x="8595360" y="4892040"/>
            <a:ext cx="457200" cy="201168"/>
          </a:xfrm>
          <a:prstGeom prst="rect">
            <a:avLst/>
          </a:prstGeom>
          <a:noFill/>
        </p:spPr>
        <p:txBody>
          <a:bodyPr wrap="square" lIns="0" tIns="0" rIns="0" bIns="0">
            <a:spAutoFit/>
          </a:bodyPr>
          <a:lstStyle/>
          <a:p>
            <a:pPr algn="r"/>
            <a:r>
              <a:rPr sz="900">
                <a:solidFill>
                  <a:srgbClr val="595959"/>
                </a:solidFill>
                <a:latin typeface="Arial"/>
              </a:rPr>
              <a:t>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6">
            <a:extLst>
              <a:ext uri="{FF2B5EF4-FFF2-40B4-BE49-F238E27FC236}">
                <a16:creationId xmlns:a16="http://schemas.microsoft.com/office/drawing/2014/main" id="{88F463DE-0D42-B3F7-60E4-3EC9488428AC}"/>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50739"/>
          <a:stretch/>
        </p:blipFill>
        <p:spPr bwMode="auto">
          <a:xfrm>
            <a:off x="2249424" y="777240"/>
            <a:ext cx="1252728" cy="3584448"/>
          </a:xfrm>
          <a:prstGeom prst="rect">
            <a:avLst/>
          </a:prstGeom>
          <a:noFill/>
          <a:extLst>
            <a:ext uri="{909E8E84-426E-40DD-AFC4-6F175D3DCCD1}">
              <a14:hiddenFill xmlns:a14="http://schemas.microsoft.com/office/drawing/2010/main">
                <a:solidFill>
                  <a:srgbClr val="FFFFFF"/>
                </a:solidFill>
              </a14:hiddenFill>
            </a:ext>
          </a:extLst>
        </p:spPr>
      </p:pic>
      <p:grpSp>
        <p:nvGrpSpPr>
          <p:cNvPr id="17" name="Group 16">
            <a:extLst>
              <a:ext uri="{FF2B5EF4-FFF2-40B4-BE49-F238E27FC236}">
                <a16:creationId xmlns:a16="http://schemas.microsoft.com/office/drawing/2014/main" id="{D7256235-98B8-C564-C51D-EF5E1CFF6AB0}"/>
              </a:ext>
            </a:extLst>
          </p:cNvPr>
          <p:cNvGrpSpPr/>
          <p:nvPr/>
        </p:nvGrpSpPr>
        <p:grpSpPr>
          <a:xfrm>
            <a:off x="2936992" y="1262669"/>
            <a:ext cx="5553716" cy="2983921"/>
            <a:chOff x="3616662" y="1079789"/>
            <a:chExt cx="5553716" cy="2983921"/>
          </a:xfrm>
        </p:grpSpPr>
        <p:pic>
          <p:nvPicPr>
            <p:cNvPr id="19458" name="Picture 2" descr="lora blog 2">
              <a:extLst>
                <a:ext uri="{FF2B5EF4-FFF2-40B4-BE49-F238E27FC236}">
                  <a16:creationId xmlns:a16="http://schemas.microsoft.com/office/drawing/2014/main" id="{223CCFEE-4888-953A-6036-DF0E6925C9D7}"/>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4316" t="-4135" r="-3989" b="-6100"/>
            <a:stretch/>
          </p:blipFill>
          <p:spPr bwMode="auto">
            <a:xfrm>
              <a:off x="5826057" y="1262669"/>
              <a:ext cx="3344321" cy="2983921"/>
            </a:xfrm>
            <a:prstGeom prst="rect">
              <a:avLst/>
            </a:prstGeom>
            <a:noFill/>
            <a:ln w="28575">
              <a:solidFill>
                <a:srgbClr val="C00000"/>
              </a:solidFill>
            </a:ln>
            <a:extLst>
              <a:ext uri="{909E8E84-426E-40DD-AFC4-6F175D3DCCD1}">
                <a14:hiddenFill xmlns:a14="http://schemas.microsoft.com/office/drawing/2010/main">
                  <a:solidFill>
                    <a:srgbClr val="FFFFFF"/>
                  </a:solidFill>
                </a14:hiddenFill>
              </a:ext>
            </a:extLst>
          </p:spPr>
        </p:pic>
        <p:cxnSp>
          <p:nvCxnSpPr>
            <p:cNvPr id="5" name="Straight Arrow Connector 4">
              <a:extLst>
                <a:ext uri="{FF2B5EF4-FFF2-40B4-BE49-F238E27FC236}">
                  <a16:creationId xmlns:a16="http://schemas.microsoft.com/office/drawing/2014/main" id="{21A877A7-8628-74A3-5BBD-BED1461FDE8D}"/>
                </a:ext>
              </a:extLst>
            </p:cNvPr>
            <p:cNvCxnSpPr>
              <a:cxnSpLocks/>
            </p:cNvCxnSpPr>
            <p:nvPr/>
          </p:nvCxnSpPr>
          <p:spPr>
            <a:xfrm flipH="1">
              <a:off x="3616662" y="2071838"/>
              <a:ext cx="2209395" cy="0"/>
            </a:xfrm>
            <a:prstGeom prst="straightConnector1">
              <a:avLst/>
            </a:prstGeom>
            <a:ln w="76200">
              <a:solidFill>
                <a:srgbClr val="C00000"/>
              </a:solidFill>
              <a:tailEnd type="triangle"/>
            </a:ln>
          </p:spPr>
          <p:style>
            <a:lnRef idx="3">
              <a:srgbClr val="ED7D31"/>
            </a:lnRef>
            <a:fillRef idx="0">
              <a:srgbClr val="ED7D31"/>
            </a:fillRef>
            <a:effectRef idx="2">
              <a:srgbClr val="ED7D31"/>
            </a:effectRef>
            <a:fontRef idx="minor">
              <a:srgbClr val="44546A"/>
            </a:fontRef>
          </p:style>
        </p:cxnSp>
      </p:grpSp>
      <p:grpSp>
        <p:nvGrpSpPr>
          <p:cNvPr id="15" name="Group 14">
            <a:extLst>
              <a:ext uri="{FF2B5EF4-FFF2-40B4-BE49-F238E27FC236}">
                <a16:creationId xmlns:a16="http://schemas.microsoft.com/office/drawing/2014/main" id="{B07BDD57-55A6-83B8-C4FF-DC904BA4D2B0}"/>
              </a:ext>
            </a:extLst>
          </p:cNvPr>
          <p:cNvGrpSpPr/>
          <p:nvPr/>
        </p:nvGrpSpPr>
        <p:grpSpPr>
          <a:xfrm>
            <a:off x="0" y="1357998"/>
            <a:ext cx="2250765" cy="2355579"/>
            <a:chOff x="679670" y="1175118"/>
            <a:chExt cx="2250765" cy="2355579"/>
          </a:xfrm>
        </p:grpSpPr>
        <p:pic>
          <p:nvPicPr>
            <p:cNvPr id="10" name="Graphic 9" descr="Snowman with solid fill">
              <a:extLst>
                <a:ext uri="{FF2B5EF4-FFF2-40B4-BE49-F238E27FC236}">
                  <a16:creationId xmlns:a16="http://schemas.microsoft.com/office/drawing/2014/main" id="{E3632D1B-841A-DB54-C748-A7E72F1104F9}"/>
                </a:ext>
              </a:extLst>
            </p:cNvPr>
            <p:cNvPicPr>
              <a:picLocks noChangeAspect="1"/>
            </p:cNvPicPr>
            <p:nvPr/>
          </p:nvPicPr>
          <p:blipFill>
            <a:blip r:embed="rId5"/>
            <a:stretch>
              <a:fillRect/>
            </a:stretch>
          </p:blipFill>
          <p:spPr>
            <a:xfrm>
              <a:off x="679670" y="2071838"/>
              <a:ext cx="790004" cy="790004"/>
            </a:xfrm>
            <a:prstGeom prst="rect">
              <a:avLst/>
            </a:prstGeom>
          </p:spPr>
        </p:pic>
        <p:grpSp>
          <p:nvGrpSpPr>
            <p:cNvPr id="14" name="Group 13">
              <a:extLst>
                <a:ext uri="{FF2B5EF4-FFF2-40B4-BE49-F238E27FC236}">
                  <a16:creationId xmlns:a16="http://schemas.microsoft.com/office/drawing/2014/main" id="{4A07ACE7-55D0-0952-8B4D-A868D0460ACC}"/>
                </a:ext>
              </a:extLst>
            </p:cNvPr>
            <p:cNvGrpSpPr/>
            <p:nvPr/>
          </p:nvGrpSpPr>
          <p:grpSpPr>
            <a:xfrm>
              <a:off x="963660" y="1357998"/>
              <a:ext cx="1966775" cy="2355579"/>
              <a:chOff x="963660" y="1175118"/>
              <a:chExt cx="1966775" cy="2355579"/>
            </a:xfrm>
          </p:grpSpPr>
          <p:sp>
            <p:nvSpPr>
              <p:cNvPr id="11" name="Left Brace 10">
                <a:extLst>
                  <a:ext uri="{FF2B5EF4-FFF2-40B4-BE49-F238E27FC236}">
                    <a16:creationId xmlns:a16="http://schemas.microsoft.com/office/drawing/2014/main" id="{09D06EB3-8E1C-D50C-B84C-DF41EE7BD081}"/>
                  </a:ext>
                </a:extLst>
              </p:cNvPr>
              <p:cNvSpPr/>
              <p:nvPr/>
            </p:nvSpPr>
            <p:spPr>
              <a:xfrm>
                <a:off x="2445745" y="1714225"/>
                <a:ext cx="484690" cy="1850834"/>
              </a:xfrm>
              <a:prstGeom prst="leftBrace">
                <a:avLst/>
              </a:prstGeom>
              <a:ln w="57150"/>
            </p:spPr>
            <p:style>
              <a:lnRef idx="1">
                <a:srgbClr val="4472C4"/>
              </a:lnRef>
              <a:fillRef idx="0">
                <a:srgbClr val="4472C4"/>
              </a:fillRef>
              <a:effectRef idx="0">
                <a:srgbClr val="4472C4"/>
              </a:effectRef>
              <a:fontRef idx="minor">
                <a:srgbClr val="44546A"/>
              </a:fontRef>
            </p:style>
            <p:txBody>
              <a:bodyPr rtlCol="0" anchor="ctr"/>
              <a:lstStyle/>
              <a:p>
                <a:pPr algn="ctr"/>
                <a:endParaRPr lang="en-US">
                  <a:latin typeface="Roboto" panose="02000000000000000000" pitchFamily="2" charset="0"/>
                </a:endParaRPr>
              </a:p>
            </p:txBody>
          </p:sp>
          <p:grpSp>
            <p:nvGrpSpPr>
              <p:cNvPr id="13" name="Group 12">
                <a:extLst>
                  <a:ext uri="{FF2B5EF4-FFF2-40B4-BE49-F238E27FC236}">
                    <a16:creationId xmlns:a16="http://schemas.microsoft.com/office/drawing/2014/main" id="{77FD84F0-6CDE-1E16-8532-CDFFDDADC4DF}"/>
                  </a:ext>
                </a:extLst>
              </p:cNvPr>
              <p:cNvGrpSpPr/>
              <p:nvPr/>
            </p:nvGrpSpPr>
            <p:grpSpPr>
              <a:xfrm>
                <a:off x="963660" y="1357998"/>
                <a:ext cx="1726908" cy="2355579"/>
                <a:chOff x="726610" y="1616076"/>
                <a:chExt cx="1726908" cy="2355579"/>
              </a:xfrm>
            </p:grpSpPr>
            <p:pic>
              <p:nvPicPr>
                <p:cNvPr id="7" name="Graphic 6" descr="Snowflake with solid fill">
                  <a:extLst>
                    <a:ext uri="{FF2B5EF4-FFF2-40B4-BE49-F238E27FC236}">
                      <a16:creationId xmlns:a16="http://schemas.microsoft.com/office/drawing/2014/main" id="{2A4553EB-18F7-9F52-AA01-B7EED22F39F8}"/>
                    </a:ext>
                  </a:extLst>
                </p:cNvPr>
                <p:cNvPicPr>
                  <a:picLocks noChangeAspect="1"/>
                </p:cNvPicPr>
                <p:nvPr/>
              </p:nvPicPr>
              <p:blipFill>
                <a:blip r:embed="rId6"/>
                <a:stretch>
                  <a:fillRect/>
                </a:stretch>
              </p:blipFill>
              <p:spPr>
                <a:xfrm>
                  <a:off x="813456" y="1798956"/>
                  <a:ext cx="1640062" cy="1640062"/>
                </a:xfrm>
                <a:prstGeom prst="rect">
                  <a:avLst/>
                </a:prstGeom>
              </p:spPr>
            </p:pic>
            <p:sp>
              <p:nvSpPr>
                <p:cNvPr id="12" name="TextBox 11">
                  <a:extLst>
                    <a:ext uri="{FF2B5EF4-FFF2-40B4-BE49-F238E27FC236}">
                      <a16:creationId xmlns:a16="http://schemas.microsoft.com/office/drawing/2014/main" id="{6407F094-2D26-26A7-3029-F5D16CBF83E8}"/>
                    </a:ext>
                  </a:extLst>
                </p:cNvPr>
                <p:cNvSpPr txBox="1"/>
                <p:nvPr/>
              </p:nvSpPr>
              <p:spPr>
                <a:xfrm>
                  <a:off x="726610" y="3231205"/>
                  <a:ext cx="1726908" cy="923330"/>
                </a:xfrm>
                <a:prstGeom prst="rect">
                  <a:avLst/>
                </a:prstGeom>
                <a:noFill/>
              </p:spPr>
              <p:txBody>
                <a:bodyPr wrap="square" rtlCol="0">
                  <a:spAutoFit/>
                </a:bodyPr>
                <a:lstStyle/>
                <a:p>
                  <a:pPr algn="ctr"/>
                  <a:r>
                    <a:rPr lang="en-US">
                      <a:solidFill>
                        <a:srgbClr val="5B9BD5">
                          <a:lumMod val="50000"/>
                        </a:srgbClr>
                      </a:solidFill>
                      <a:latin typeface="Roboto" panose="02000000000000000000" pitchFamily="2" charset="0"/>
                    </a:rPr>
                    <a:t>Freeze Model No Weight Updates</a:t>
                  </a:r>
                </a:p>
              </p:txBody>
            </p:sp>
          </p:grpSp>
        </p:grpSp>
      </p:grpSp>
      <p:sp>
        <p:nvSpPr>
          <p:cNvPr id="20" name="TextBox 19">
            <a:extLst>
              <a:ext uri="{FF2B5EF4-FFF2-40B4-BE49-F238E27FC236}">
                <a16:creationId xmlns:a16="http://schemas.microsoft.com/office/drawing/2014/main" id="{24E66ACB-4DFF-42F6-2C7C-78985410DD10}"/>
              </a:ext>
            </a:extLst>
          </p:cNvPr>
          <p:cNvSpPr txBox="1"/>
          <p:nvPr/>
        </p:nvSpPr>
        <p:spPr>
          <a:xfrm>
            <a:off x="3226836" y="2342738"/>
            <a:ext cx="1827049" cy="937056"/>
          </a:xfrm>
          <a:prstGeom prst="rect">
            <a:avLst/>
          </a:prstGeom>
          <a:noFill/>
        </p:spPr>
        <p:txBody>
          <a:bodyPr wrap="square" rtlCol="0">
            <a:spAutoFit/>
          </a:bodyPr>
          <a:lstStyle/>
          <a:p>
            <a:pPr algn="ctr"/>
            <a:r>
              <a:rPr>
                <a:solidFill>
                  <a:srgbClr val="222222"/>
                </a:solidFill>
                <a:latin typeface="Roboto"/>
              </a:rPr>
              <a:t>Only Update Weights of LoRA Matrices</a:t>
            </a:r>
          </a:p>
        </p:txBody>
      </p:sp>
      <p:sp>
        <p:nvSpPr>
          <p:cNvPr id="19459" name="TB title"/>
          <p:cNvSpPr txBox="1"/>
          <p:nvPr/>
        </p:nvSpPr>
        <p:spPr>
          <a:xfrm>
            <a:off x="310896" y="320040"/>
            <a:ext cx="8522208" cy="731520"/>
          </a:xfrm>
          <a:prstGeom prst="rect">
            <a:avLst/>
          </a:prstGeom>
          <a:noFill/>
        </p:spPr>
        <p:txBody>
          <a:bodyPr wrap="square" lIns="0" tIns="0" rIns="0" bIns="0">
            <a:spAutoFit/>
          </a:bodyPr>
          <a:lstStyle/>
          <a:p>
            <a:r>
              <a:rPr sz="2200" b="1" i="0">
                <a:solidFill>
                  <a:srgbClr val="222222"/>
                </a:solidFill>
                <a:latin typeface="Arial"/>
              </a:rPr>
              <a:t>LoRA: freeze the model, train two small matrices</a:t>
            </a:r>
          </a:p>
        </p:txBody>
      </p:sp>
      <p:sp>
        <p:nvSpPr>
          <p:cNvPr id="19460" name="BG title rule"/>
          <p:cNvSpPr/>
          <p:nvPr/>
        </p:nvSpPr>
        <p:spPr>
          <a:xfrm>
            <a:off x="310896" y="1060704"/>
            <a:ext cx="548640" cy="27432"/>
          </a:xfrm>
          <a:prstGeom prst="rect">
            <a:avLst/>
          </a:prstGeom>
          <a:solidFill>
            <a:srgbClr val="428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461" name="PageNum 10"/>
          <p:cNvSpPr txBox="1"/>
          <p:nvPr/>
        </p:nvSpPr>
        <p:spPr>
          <a:xfrm>
            <a:off x="8595360" y="4892040"/>
            <a:ext cx="457200" cy="201168"/>
          </a:xfrm>
          <a:prstGeom prst="rect">
            <a:avLst/>
          </a:prstGeom>
          <a:noFill/>
        </p:spPr>
        <p:txBody>
          <a:bodyPr wrap="square" lIns="0" tIns="0" rIns="0" bIns="0">
            <a:spAutoFit/>
          </a:bodyPr>
          <a:lstStyle/>
          <a:p>
            <a:pPr algn="r"/>
            <a:r>
              <a:rPr sz="900">
                <a:solidFill>
                  <a:srgbClr val="595959"/>
                </a:solidFill>
                <a:latin typeface="Arial"/>
              </a:rPr>
              <a:t>36</a:t>
            </a:r>
          </a:p>
        </p:txBody>
      </p:sp>
      <p:sp>
        <p:nvSpPr>
          <p:cNvPr id="19462" name="TB source"/>
          <p:cNvSpPr txBox="1"/>
          <p:nvPr/>
        </p:nvSpPr>
        <p:spPr>
          <a:xfrm>
            <a:off x="73152" y="4892040"/>
            <a:ext cx="7772400" cy="201168"/>
          </a:xfrm>
          <a:prstGeom prst="rect">
            <a:avLst/>
          </a:prstGeom>
          <a:noFill/>
        </p:spPr>
        <p:txBody>
          <a:bodyPr wrap="square" lIns="0" tIns="0" rIns="0" bIns="0">
            <a:spAutoFit/>
          </a:bodyPr>
          <a:lstStyle/>
          <a:p>
            <a:r>
              <a:rPr sz="900" u="sng">
                <a:solidFill>
                  <a:srgbClr val="595959"/>
                </a:solidFill>
                <a:latin typeface="Arial"/>
                <a:hlinkClick r:id="rId7"/>
              </a:rPr>
              <a:t>Hu et al. 2021</a:t>
            </a:r>
          </a:p>
        </p:txBody>
      </p:sp>
      <p:pic>
        <p:nvPicPr>
          <p:cNvPr id="295" name="Google Shape;295;p59"/>
          <p:cNvPicPr preferRelativeResize="0"/>
          <p:nvPr/>
        </p:nvPicPr>
        <p:blipFill>
          <a:blip r:embed="rId8">
            <a:alphaModFix/>
          </a:blip>
          <a:stretch>
            <a:fillRect/>
          </a:stretch>
        </p:blipFill>
        <p:spPr>
          <a:xfrm>
            <a:off x="3508552" y="3337560"/>
            <a:ext cx="1267358" cy="281635"/>
          </a:xfrm>
          <a:prstGeom prst="rect">
            <a:avLst/>
          </a:prstGeom>
          <a:noFill/>
          <a:ln>
            <a:noFill/>
          </a:ln>
        </p:spPr>
      </p:pic>
      <p:pic>
        <p:nvPicPr>
          <p:cNvPr id="296" name="Google Shape;296;p59"/>
          <p:cNvPicPr preferRelativeResize="0"/>
          <p:nvPr/>
        </p:nvPicPr>
        <p:blipFill>
          <a:blip r:embed="rId9">
            <a:alphaModFix/>
          </a:blip>
          <a:stretch>
            <a:fillRect/>
          </a:stretch>
        </p:blipFill>
        <p:spPr>
          <a:xfrm>
            <a:off x="3508552" y="3674059"/>
            <a:ext cx="1267358" cy="281635"/>
          </a:xfrm>
          <a:prstGeom prst="rect">
            <a:avLst/>
          </a:prstGeom>
          <a:noFill/>
          <a:ln>
            <a:noFill/>
          </a:ln>
        </p:spPr>
      </p:pic>
      <p:pic>
        <p:nvPicPr>
          <p:cNvPr id="297" name="Google Shape;297;p59"/>
          <p:cNvPicPr preferRelativeResize="0"/>
          <p:nvPr/>
        </p:nvPicPr>
        <p:blipFill>
          <a:blip r:embed="rId10">
            <a:alphaModFix/>
          </a:blip>
          <a:stretch>
            <a:fillRect/>
          </a:stretch>
        </p:blipFill>
        <p:spPr>
          <a:xfrm>
            <a:off x="3387852" y="4010558"/>
            <a:ext cx="1508760" cy="281635"/>
          </a:xfrm>
          <a:prstGeom prst="rect">
            <a:avLst/>
          </a:prstGeom>
          <a:noFill/>
          <a:ln>
            <a:noFill/>
          </a:ln>
        </p:spPr>
      </p:pic>
      <p:pic>
        <p:nvPicPr>
          <p:cNvPr id="293" name="Google Shape;293;p59"/>
          <p:cNvPicPr preferRelativeResize="0"/>
          <p:nvPr/>
        </p:nvPicPr>
        <p:blipFill>
          <a:blip r:embed="rId11">
            <a:alphaModFix/>
          </a:blip>
          <a:stretch>
            <a:fillRect/>
          </a:stretch>
        </p:blipFill>
        <p:spPr>
          <a:xfrm>
            <a:off x="3108960" y="4480560"/>
            <a:ext cx="2926080" cy="329184"/>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B title"/>
          <p:cNvSpPr txBox="1"/>
          <p:nvPr/>
        </p:nvSpPr>
        <p:spPr>
          <a:xfrm>
            <a:off x="310896" y="320040"/>
            <a:ext cx="8522208" cy="731520"/>
          </a:xfrm>
          <a:prstGeom prst="rect">
            <a:avLst/>
          </a:prstGeom>
          <a:noFill/>
        </p:spPr>
        <p:txBody>
          <a:bodyPr wrap="square" lIns="0" tIns="0" rIns="0" bIns="0">
            <a:spAutoFit/>
          </a:bodyPr>
          <a:lstStyle/>
          <a:p>
            <a:r>
              <a:rPr sz="2200" b="1">
                <a:solidFill>
                  <a:srgbClr val="222222"/>
                </a:solidFill>
                <a:latin typeface="Arial"/>
              </a:rPr>
              <a:t>LoRA: constrain the update to be low-rank</a:t>
            </a:r>
          </a:p>
        </p:txBody>
      </p:sp>
      <p:sp>
        <p:nvSpPr>
          <p:cNvPr id="3" name="BG title rule"/>
          <p:cNvSpPr/>
          <p:nvPr/>
        </p:nvSpPr>
        <p:spPr>
          <a:xfrm>
            <a:off x="310896" y="1060704"/>
            <a:ext cx="548640" cy="27432"/>
          </a:xfrm>
          <a:prstGeom prst="rect">
            <a:avLst/>
          </a:prstGeom>
          <a:solidFill>
            <a:srgbClr val="428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B takeaway"/>
          <p:cNvSpPr txBox="1"/>
          <p:nvPr/>
        </p:nvSpPr>
        <p:spPr>
          <a:xfrm>
            <a:off x="310896" y="1133856"/>
            <a:ext cx="8522208" cy="365760"/>
          </a:xfrm>
          <a:prstGeom prst="rect">
            <a:avLst/>
          </a:prstGeom>
          <a:noFill/>
        </p:spPr>
        <p:txBody>
          <a:bodyPr wrap="square" lIns="0" tIns="0" rIns="0" bIns="0">
            <a:spAutoFit/>
          </a:bodyPr>
          <a:lstStyle/>
          <a:p>
            <a:pPr>
              <a:buNone/>
            </a:pPr>
            <a:r>
              <a:rPr sz="1300" b="0" i="1">
                <a:solidFill>
                  <a:srgbClr val="4285F4"/>
                </a:solidFill>
                <a:latin typeface="Arial"/>
              </a:rPr>
              <a:t>Same training objective as full fine-tuning, but only two small matrices change.</a:t>
            </a:r>
            <a:r>
              <a:rPr sz="1300" b="0" i="1" baseline="-25000">
                <a:solidFill>
                  <a:srgbClr val="4285F4"/>
                </a:solidFill>
                <a:latin typeface="Arial"/>
              </a:rPr>
              <a:t/>
            </a:r>
            <a:r>
              <a:rPr sz="1300" b="0" i="1">
                <a:solidFill>
                  <a:srgbClr val="4285F4"/>
                </a:solidFill>
                <a:latin typeface="Arial"/>
              </a:rPr>
              <a:t/>
            </a:r>
          </a:p>
        </p:txBody>
      </p:sp>
      <p:sp>
        <p:nvSpPr>
          <p:cNvPr id="8" name="TB source"/>
          <p:cNvSpPr txBox="1"/>
          <p:nvPr/>
        </p:nvSpPr>
        <p:spPr>
          <a:xfrm>
            <a:off x="73152" y="4892040"/>
            <a:ext cx="7772400" cy="201168"/>
          </a:xfrm>
          <a:prstGeom prst="rect">
            <a:avLst/>
          </a:prstGeom>
          <a:noFill/>
        </p:spPr>
        <p:txBody>
          <a:bodyPr wrap="square" lIns="0" tIns="0" rIns="0" bIns="0">
            <a:spAutoFit/>
          </a:bodyPr>
          <a:lstStyle/>
          <a:p>
            <a:r>
              <a:rPr sz="900" b="0" i="0" u="sng">
                <a:solidFill>
                  <a:srgbClr val="595959"/>
                </a:solidFill>
                <a:latin typeface="Arial"/>
                <a:hlinkClick r:id="rId3"/>
              </a:rPr>
              <a:t>Hu et al. 2021</a:t>
            </a:r>
            <a:r>
              <a:rPr sz="900" b="0" i="0">
                <a:solidFill>
                  <a:srgbClr val="595959"/>
                </a:solidFill>
                <a:latin typeface="Arial"/>
              </a:rPr>
              <a:t> (eq. 1-2).</a:t>
            </a:r>
          </a:p>
        </p:txBody>
      </p:sp>
      <p:sp>
        <p:nvSpPr>
          <p:cNvPr id="9" name="PageNum 11"/>
          <p:cNvSpPr txBox="1"/>
          <p:nvPr/>
        </p:nvSpPr>
        <p:spPr>
          <a:xfrm>
            <a:off x="8595360" y="4892040"/>
            <a:ext cx="457200" cy="201168"/>
          </a:xfrm>
          <a:prstGeom prst="rect">
            <a:avLst/>
          </a:prstGeom>
          <a:noFill/>
        </p:spPr>
        <p:txBody>
          <a:bodyPr wrap="square" lIns="0" tIns="0" rIns="0" bIns="0">
            <a:spAutoFit/>
          </a:bodyPr>
          <a:lstStyle/>
          <a:p>
            <a:pPr algn="r"/>
            <a:r>
              <a:rPr sz="900">
                <a:solidFill>
                  <a:srgbClr val="595959"/>
                </a:solidFill>
                <a:latin typeface="Arial"/>
              </a:rPr>
              <a:t>10</a:t>
            </a:r>
          </a:p>
        </p:txBody>
      </p:sp>
      <p:sp>
        <p:nvSpPr>
          <p:cNvPr id="10" name="TB body"/>
          <p:cNvSpPr txBox="1"/>
          <p:nvPr/>
        </p:nvSpPr>
        <p:spPr>
          <a:xfrm>
            <a:off x="310896" y="1737360"/>
            <a:ext cx="4206240" cy="2926080"/>
          </a:xfrm>
          <a:prstGeom prst="rect">
            <a:avLst/>
          </a:prstGeom>
          <a:noFill/>
        </p:spPr>
        <p:txBody>
          <a:bodyPr wrap="square" lIns="0" tIns="0" rIns="0" bIns="0">
            <a:spAutoFit/>
          </a:bodyPr>
          <a:lstStyle/>
          <a:p>
            <a:pPr>
              <a:spcAft>
                <a:spcPts val="200"/>
              </a:spcAft>
              <a:buNone/>
            </a:pPr>
            <a:r>
              <a:rPr sz="1400" b="1" i="0" dirty="0">
                <a:solidFill>
                  <a:srgbClr val="222222"/>
                </a:solidFill>
                <a:latin typeface="Arial"/>
              </a:rPr>
              <a:t>Objective (same as full fine-tuning).</a:t>
            </a:r>
          </a:p>
          <a:p>
            <a:pPr>
              <a:spcAft>
                <a:spcPts val="200"/>
              </a:spcAft>
              <a:buNone/>
            </a:pPr>
            <a:r>
              <a:rPr sz="1200" b="0" i="0" dirty="0" err="1">
                <a:solidFill>
                  <a:srgbClr val="222222"/>
                </a:solidFill>
                <a:latin typeface="Arial"/>
              </a:rPr>
              <a:t>max</a:t>
            </a:r>
            <a:r>
              <a:rPr sz="1200" b="0" i="0" baseline="-25000" dirty="0" err="1">
                <a:solidFill>
                  <a:srgbClr val="222222"/>
                </a:solidFill>
                <a:latin typeface="Arial"/>
              </a:rPr>
              <a:t>Θ</a:t>
            </a:r>
            <a:r>
              <a:rPr sz="1200" b="0" i="0" dirty="0">
                <a:solidFill>
                  <a:srgbClr val="222222"/>
                </a:solidFill>
                <a:latin typeface="Arial"/>
              </a:rPr>
              <a:t>  </a:t>
            </a:r>
            <a:r>
              <a:rPr sz="1200" b="0" i="0" dirty="0" err="1">
                <a:solidFill>
                  <a:srgbClr val="222222"/>
                </a:solidFill>
                <a:latin typeface="Arial"/>
              </a:rPr>
              <a:t>Σ</a:t>
            </a:r>
            <a:r>
              <a:rPr sz="1200" b="0" i="0" dirty="0">
                <a:solidFill>
                  <a:srgbClr val="222222"/>
                </a:solidFill>
                <a:latin typeface="Arial"/>
              </a:rPr>
              <a:t> log P</a:t>
            </a:r>
            <a:r>
              <a:rPr sz="1200" b="0" i="1" baseline="-25000" dirty="0">
                <a:solidFill>
                  <a:srgbClr val="222222"/>
                </a:solidFill>
                <a:latin typeface="Arial"/>
              </a:rPr>
              <a:t>Φ</a:t>
            </a:r>
            <a:r>
              <a:rPr sz="1200" b="0" i="0" baseline="-25000" dirty="0">
                <a:solidFill>
                  <a:srgbClr val="222222"/>
                </a:solidFill>
                <a:latin typeface="Arial"/>
              </a:rPr>
              <a:t>₀+ΔΦ(</a:t>
            </a:r>
            <a:r>
              <a:rPr sz="1200" b="0" i="0" baseline="-25000" dirty="0" err="1">
                <a:solidFill>
                  <a:srgbClr val="222222"/>
                </a:solidFill>
                <a:latin typeface="Arial"/>
              </a:rPr>
              <a:t>Θ</a:t>
            </a:r>
            <a:r>
              <a:rPr sz="1200" b="0" i="0" baseline="-25000" dirty="0">
                <a:solidFill>
                  <a:srgbClr val="222222"/>
                </a:solidFill>
                <a:latin typeface="Arial"/>
              </a:rPr>
              <a:t>)</a:t>
            </a:r>
            <a:r>
              <a:rPr sz="1200" b="0" i="0" dirty="0">
                <a:solidFill>
                  <a:srgbClr val="222222"/>
                </a:solidFill>
                <a:latin typeface="Arial"/>
              </a:rPr>
              <a:t> (</a:t>
            </a:r>
            <a:r>
              <a:rPr sz="1200" b="0" i="1" dirty="0" err="1">
                <a:solidFill>
                  <a:srgbClr val="222222"/>
                </a:solidFill>
                <a:latin typeface="Arial"/>
              </a:rPr>
              <a:t>y</a:t>
            </a:r>
            <a:r>
              <a:rPr sz="1200" b="0" i="1" baseline="-25000" dirty="0" err="1">
                <a:solidFill>
                  <a:srgbClr val="222222"/>
                </a:solidFill>
                <a:latin typeface="Arial"/>
              </a:rPr>
              <a:t>t</a:t>
            </a:r>
            <a:r>
              <a:rPr sz="1200" b="0" i="0" dirty="0">
                <a:solidFill>
                  <a:srgbClr val="222222"/>
                </a:solidFill>
                <a:latin typeface="Arial"/>
              </a:rPr>
              <a:t> | </a:t>
            </a:r>
            <a:r>
              <a:rPr sz="1200" b="0" i="1" dirty="0">
                <a:solidFill>
                  <a:srgbClr val="222222"/>
                </a:solidFill>
                <a:latin typeface="Arial"/>
              </a:rPr>
              <a:t>x</a:t>
            </a:r>
            <a:r>
              <a:rPr sz="1200" b="0" i="0" dirty="0">
                <a:solidFill>
                  <a:srgbClr val="222222"/>
                </a:solidFill>
                <a:latin typeface="Arial"/>
              </a:rPr>
              <a:t>, </a:t>
            </a:r>
            <a:r>
              <a:rPr sz="1200" b="0" i="1" dirty="0">
                <a:solidFill>
                  <a:srgbClr val="222222"/>
                </a:solidFill>
                <a:latin typeface="Arial"/>
              </a:rPr>
              <a:t>y</a:t>
            </a:r>
            <a:r>
              <a:rPr sz="1200" b="0" i="1" baseline="-25000" dirty="0">
                <a:solidFill>
                  <a:srgbClr val="222222"/>
                </a:solidFill>
                <a:latin typeface="Arial"/>
              </a:rPr>
              <a:t>&lt;t</a:t>
            </a:r>
            <a:r>
              <a:rPr sz="1200" b="0" i="0" dirty="0">
                <a:solidFill>
                  <a:srgbClr val="222222"/>
                </a:solidFill>
                <a:latin typeface="Arial"/>
              </a:rPr>
              <a:t>)</a:t>
            </a:r>
          </a:p>
          <a:p>
            <a:pPr>
              <a:spcAft>
                <a:spcPts val="600"/>
              </a:spcAft>
              <a:buNone/>
            </a:pPr>
            <a:r>
              <a:rPr sz="1200" b="0" i="0" dirty="0">
                <a:solidFill>
                  <a:srgbClr val="222222"/>
                </a:solidFill>
                <a:latin typeface="Arial"/>
              </a:rPr>
              <a:t>with |</a:t>
            </a:r>
            <a:r>
              <a:rPr sz="1200" b="0" i="0" dirty="0" err="1">
                <a:solidFill>
                  <a:srgbClr val="222222"/>
                </a:solidFill>
                <a:latin typeface="Arial"/>
              </a:rPr>
              <a:t>Θ</a:t>
            </a:r>
            <a:r>
              <a:rPr sz="1200" b="0" i="0" dirty="0">
                <a:solidFill>
                  <a:srgbClr val="222222"/>
                </a:solidFill>
                <a:latin typeface="Arial"/>
              </a:rPr>
              <a:t>| ≪ |</a:t>
            </a:r>
            <a:r>
              <a:rPr sz="1200" b="0" i="0" dirty="0" err="1">
                <a:solidFill>
                  <a:srgbClr val="222222"/>
                </a:solidFill>
                <a:latin typeface="Arial"/>
              </a:rPr>
              <a:t>Φ</a:t>
            </a:r>
            <a:r>
              <a:rPr sz="1200" b="0" i="0" baseline="-25000" dirty="0">
                <a:solidFill>
                  <a:srgbClr val="222222"/>
                </a:solidFill>
                <a:latin typeface="Arial"/>
              </a:rPr>
              <a:t>₀</a:t>
            </a:r>
            <a:r>
              <a:rPr sz="1200" b="0" i="1" dirty="0">
                <a:solidFill>
                  <a:srgbClr val="595959"/>
                </a:solidFill>
                <a:latin typeface="Arial"/>
              </a:rPr>
              <a:t>|  (typically 0.01 to 1%).</a:t>
            </a:r>
          </a:p>
          <a:p>
            <a:pPr>
              <a:spcBef>
                <a:spcPts val="400"/>
              </a:spcBef>
              <a:spcAft>
                <a:spcPts val="200"/>
              </a:spcAft>
              <a:buNone/>
            </a:pPr>
            <a:r>
              <a:rPr sz="1400" b="1" i="0" dirty="0">
                <a:solidFill>
                  <a:srgbClr val="222222"/>
                </a:solidFill>
                <a:latin typeface="Arial"/>
              </a:rPr>
              <a:t>Hypothesis. </a:t>
            </a:r>
          </a:p>
          <a:p>
            <a:pPr>
              <a:spcAft>
                <a:spcPts val="600"/>
              </a:spcAft>
              <a:buNone/>
            </a:pPr>
            <a:r>
              <a:rPr sz="1200" b="0" i="0" dirty="0">
                <a:solidFill>
                  <a:srgbClr val="222222"/>
                </a:solidFill>
                <a:latin typeface="Arial"/>
              </a:rPr>
              <a:t>If pretrained weights already live in a low-rank subspace, then the updates ΔW during fine-tuning should be low-rank too.</a:t>
            </a:r>
          </a:p>
          <a:p>
            <a:pPr>
              <a:spcBef>
                <a:spcPts val="400"/>
              </a:spcBef>
              <a:spcAft>
                <a:spcPts val="200"/>
              </a:spcAft>
              <a:buNone/>
            </a:pPr>
            <a:r>
              <a:rPr sz="1400" b="1" i="0" dirty="0">
                <a:solidFill>
                  <a:srgbClr val="222222"/>
                </a:solidFill>
                <a:latin typeface="Arial"/>
              </a:rPr>
              <a:t>Parameterization. </a:t>
            </a:r>
          </a:p>
          <a:p>
            <a:pPr>
              <a:spcAft>
                <a:spcPts val="400"/>
              </a:spcAft>
              <a:buNone/>
            </a:pPr>
            <a:r>
              <a:rPr sz="1200" b="0" i="0" dirty="0">
                <a:solidFill>
                  <a:srgbClr val="222222"/>
                </a:solidFill>
                <a:latin typeface="Arial"/>
              </a:rPr>
              <a:t>Freeze </a:t>
            </a:r>
            <a:r>
              <a:rPr sz="1200" b="0" i="1" dirty="0">
                <a:solidFill>
                  <a:srgbClr val="222222"/>
                </a:solidFill>
                <a:latin typeface="Arial"/>
              </a:rPr>
              <a:t>W</a:t>
            </a:r>
            <a:r>
              <a:rPr sz="1200" b="0" i="1" baseline="-25000" dirty="0">
                <a:solidFill>
                  <a:srgbClr val="222222"/>
                </a:solidFill>
                <a:latin typeface="Arial"/>
              </a:rPr>
              <a:t>0</a:t>
            </a:r>
            <a:r>
              <a:rPr sz="1200" b="0" i="0" dirty="0">
                <a:solidFill>
                  <a:srgbClr val="222222"/>
                </a:solidFill>
                <a:latin typeface="Arial"/>
              </a:rPr>
              <a:t>. Learn a low-rank </a:t>
            </a:r>
            <a:r>
              <a:rPr sz="1200" b="1" i="0" dirty="0">
                <a:solidFill>
                  <a:srgbClr val="222222"/>
                </a:solidFill>
                <a:latin typeface="Arial"/>
              </a:rPr>
              <a:t>ΔW = B · A</a:t>
            </a:r>
            <a:r>
              <a:rPr sz="1200" b="0" i="0" dirty="0">
                <a:solidFill>
                  <a:srgbClr val="222222"/>
                </a:solidFill>
                <a:latin typeface="Arial"/>
              </a:rPr>
              <a:t> with rank </a:t>
            </a:r>
            <a:r>
              <a:rPr sz="1200" b="0" i="1" dirty="0">
                <a:solidFill>
                  <a:srgbClr val="222222"/>
                </a:solidFill>
                <a:latin typeface="Arial"/>
              </a:rPr>
              <a:t>r ≪ d</a:t>
            </a:r>
            <a:r>
              <a:rPr sz="1200" b="0" i="0" dirty="0">
                <a:solidFill>
                  <a:srgbClr val="222222"/>
                </a:solidFill>
                <a:latin typeface="Arial"/>
              </a:rPr>
              <a:t>.</a:t>
            </a:r>
          </a:p>
          <a:p>
            <a:pPr>
              <a:buNone/>
            </a:pPr>
            <a:r>
              <a:rPr sz="1200" b="0" i="1" dirty="0">
                <a:solidFill>
                  <a:srgbClr val="222222"/>
                </a:solidFill>
                <a:latin typeface="Arial"/>
              </a:rPr>
              <a:t>Trainable: B and A only. Frozen: W</a:t>
            </a:r>
            <a:r>
              <a:rPr sz="1200" b="0" i="1" baseline="-25000" dirty="0">
                <a:solidFill>
                  <a:srgbClr val="222222"/>
                </a:solidFill>
                <a:latin typeface="Arial"/>
              </a:rPr>
              <a:t>0</a:t>
            </a:r>
            <a:r>
              <a:rPr sz="1200" b="0" i="1" dirty="0">
                <a:solidFill>
                  <a:srgbClr val="222222"/>
                </a:solidFill>
                <a:latin typeface="Arial"/>
              </a:rPr>
              <a:t>.</a:t>
            </a:r>
          </a:p>
        </p:txBody>
      </p:sp>
      <p:sp>
        <p:nvSpPr>
          <p:cNvPr id="11" name="SHP lora border"/>
          <p:cNvSpPr/>
          <p:nvPr/>
        </p:nvSpPr>
        <p:spPr>
          <a:xfrm>
            <a:off x="5006253" y="1709928"/>
            <a:ext cx="3484037" cy="3072384"/>
          </a:xfrm>
          <a:prstGeom prst="rect">
            <a:avLst/>
          </a:prstGeom>
          <a:noFill/>
          <a:ln w="28575">
            <a:solidFill>
              <a:srgbClr val="E01F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2" name="Picture 11" descr="image.png"/>
          <p:cNvPicPr>
            <a:picLocks noChangeAspect="1"/>
          </p:cNvPicPr>
          <p:nvPr/>
        </p:nvPicPr>
        <p:blipFill>
          <a:blip r:embed="rId4"/>
          <a:stretch>
            <a:fillRect/>
          </a:stretch>
        </p:blipFill>
        <p:spPr>
          <a:xfrm>
            <a:off x="5079405" y="1783080"/>
            <a:ext cx="3337733" cy="292608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2" name="TB title"/>
          <p:cNvSpPr txBox="1">
            <a:spLocks noGrp="1"/>
          </p:cNvSpPr>
          <p:nvPr>
            <p:ph type="title"/>
          </p:nvPr>
        </p:nvSpPr>
        <p:spPr>
          <a:xfrm>
            <a:off x="310896" y="320040"/>
            <a:ext cx="8522208" cy="731520"/>
          </a:xfrm>
          <a:prstGeom prst="rect">
            <a:avLst/>
          </a:prstGeom>
        </p:spPr>
        <p:txBody>
          <a:bodyPr spcFirstLastPara="1" wrap="square" lIns="0" tIns="0" rIns="0" bIns="0" anchor="t" anchorCtr="0">
            <a:normAutofit/>
          </a:bodyPr>
          <a:lstStyle/>
          <a:p>
            <a:r>
              <a:rPr sz="2200" b="1">
                <a:solidFill>
                  <a:srgbClr val="222222"/>
                </a:solidFill>
                <a:latin typeface="Arial"/>
              </a:rPr>
              <a:t>Train B and A separately. Merge them into W at serving time.</a:t>
            </a:r>
          </a:p>
        </p:txBody>
      </p:sp>
      <p:pic>
        <p:nvPicPr>
          <p:cNvPr id="304" name="Google Shape;304;p60"/>
          <p:cNvPicPr preferRelativeResize="0"/>
          <p:nvPr/>
        </p:nvPicPr>
        <p:blipFill>
          <a:blip r:embed="rId2">
            <a:alphaModFix/>
          </a:blip>
          <a:stretch>
            <a:fillRect/>
          </a:stretch>
        </p:blipFill>
        <p:spPr>
          <a:xfrm>
            <a:off x="6045100" y="1195388"/>
            <a:ext cx="2571750" cy="2295525"/>
          </a:xfrm>
          <a:prstGeom prst="rect">
            <a:avLst/>
          </a:prstGeom>
          <a:noFill/>
          <a:ln>
            <a:noFill/>
          </a:ln>
        </p:spPr>
      </p:pic>
      <p:sp>
        <p:nvSpPr>
          <p:cNvPr id="306" name="Google Shape;306;p60"/>
          <p:cNvSpPr txBox="1"/>
          <p:nvPr/>
        </p:nvSpPr>
        <p:spPr>
          <a:xfrm>
            <a:off x="6045175" y="3516200"/>
            <a:ext cx="2571900" cy="2913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200"/>
              <a:buFont typeface="Arial"/>
              <a:buNone/>
            </a:pPr>
            <a:r>
              <a:rPr sz="1200">
                <a:solidFill>
                  <a:srgbClr val="595959"/>
                </a:solidFill>
              </a:rPr>
              <a:t>Reparametrization: only A and B are trained.</a:t>
            </a:r>
            <a:endParaRPr sz="1200" b="0" i="0" u="none" strike="noStrike" cap="none">
              <a:solidFill>
                <a:srgbClr val="595959"/>
              </a:solidFill>
              <a:latin typeface="Arial"/>
              <a:ea typeface="Arial"/>
              <a:cs typeface="Arial"/>
              <a:sym typeface="Arial"/>
            </a:endParaRPr>
          </a:p>
        </p:txBody>
      </p:sp>
      <p:sp>
        <p:nvSpPr>
          <p:cNvPr id="307" name="BG title rule"/>
          <p:cNvSpPr/>
          <p:nvPr/>
        </p:nvSpPr>
        <p:spPr>
          <a:xfrm>
            <a:off x="310896" y="1060704"/>
            <a:ext cx="548640" cy="27432"/>
          </a:xfrm>
          <a:prstGeom prst="rect">
            <a:avLst/>
          </a:prstGeom>
          <a:solidFill>
            <a:srgbClr val="428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8" name="pill train"/>
          <p:cNvSpPr/>
          <p:nvPr/>
        </p:nvSpPr>
        <p:spPr>
          <a:xfrm>
            <a:off x="411480" y="1417320"/>
            <a:ext cx="1463040" cy="329184"/>
          </a:xfrm>
          <a:prstGeom prst="roundRect">
            <a:avLst/>
          </a:prstGeom>
          <a:solidFill>
            <a:srgbClr val="E8F0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9" name="TB train hdr"/>
          <p:cNvSpPr txBox="1"/>
          <p:nvPr/>
        </p:nvSpPr>
        <p:spPr>
          <a:xfrm>
            <a:off x="502920" y="1444752"/>
            <a:ext cx="1371600" cy="274320"/>
          </a:xfrm>
          <a:prstGeom prst="rect">
            <a:avLst/>
          </a:prstGeom>
          <a:noFill/>
        </p:spPr>
        <p:txBody>
          <a:bodyPr wrap="square" lIns="0" tIns="0" rIns="0" bIns="0">
            <a:spAutoFit/>
          </a:bodyPr>
          <a:lstStyle/>
          <a:p>
            <a:r>
              <a:rPr sz="1300" b="1">
                <a:solidFill>
                  <a:srgbClr val="4285F4"/>
                </a:solidFill>
                <a:latin typeface="Arial"/>
              </a:rPr>
              <a:t>During training</a:t>
            </a:r>
          </a:p>
        </p:txBody>
      </p:sp>
      <p:sp>
        <p:nvSpPr>
          <p:cNvPr id="310" name="TB train body"/>
          <p:cNvSpPr txBox="1"/>
          <p:nvPr/>
        </p:nvSpPr>
        <p:spPr>
          <a:xfrm>
            <a:off x="411480" y="1828800"/>
            <a:ext cx="5340096" cy="1280160"/>
          </a:xfrm>
          <a:prstGeom prst="rect">
            <a:avLst/>
          </a:prstGeom>
          <a:noFill/>
        </p:spPr>
        <p:txBody>
          <a:bodyPr wrap="square" lIns="0" tIns="0" rIns="0" bIns="0">
            <a:spAutoFit/>
          </a:bodyPr>
          <a:lstStyle/>
          <a:p>
            <a:pPr>
              <a:spcAft>
                <a:spcPts val="400"/>
              </a:spcAft>
              <a:buNone/>
            </a:pPr>
            <a:r>
              <a:rPr sz="1200" b="0" i="0">
                <a:solidFill>
                  <a:srgbClr val="222222"/>
                </a:solidFill>
                <a:latin typeface="Arial"/>
              </a:rPr>
              <a:t>Pretrained weights W₀ ∈ ℝ^(d×k) are frozen.</a:t>
            </a:r>
          </a:p>
          <a:p>
            <a:pPr>
              <a:spcAft>
                <a:spcPts val="400"/>
              </a:spcAft>
              <a:buNone/>
            </a:pPr>
            <a:r>
              <a:rPr sz="1400" b="1" i="0">
                <a:solidFill>
                  <a:srgbClr val="222222"/>
                </a:solidFill>
                <a:latin typeface="Arial"/>
              </a:rPr>
              <a:t>h = W₀ x + ΔW x = W₀ x + B A x</a:t>
            </a:r>
          </a:p>
          <a:p>
            <a:pPr>
              <a:spcAft>
                <a:spcPts val="400"/>
              </a:spcAft>
              <a:buNone/>
            </a:pPr>
            <a:r>
              <a:rPr sz="1100" b="0" i="1">
                <a:solidFill>
                  <a:srgbClr val="595959"/>
                </a:solidFill>
                <a:latin typeface="Arial"/>
              </a:rPr>
              <a:t>B ∈ ℝ^(d×r), A ∈ ℝ^(r×k), r ≪ min(d, k)</a:t>
            </a:r>
          </a:p>
          <a:p>
            <a:pPr>
              <a:spcAft>
                <a:spcPts val="400"/>
              </a:spcAft>
              <a:buNone/>
            </a:pPr>
            <a:r>
              <a:rPr sz="1100" b="0" i="1">
                <a:solidFill>
                  <a:srgbClr val="595959"/>
                </a:solidFill>
                <a:latin typeface="Arial"/>
              </a:rPr>
              <a:t>Two forward paths: the frozen one and the low-rank one.</a:t>
            </a:r>
          </a:p>
        </p:txBody>
      </p:sp>
      <p:sp>
        <p:nvSpPr>
          <p:cNvPr id="311" name="pill inf"/>
          <p:cNvSpPr/>
          <p:nvPr/>
        </p:nvSpPr>
        <p:spPr>
          <a:xfrm>
            <a:off x="411480" y="3291840"/>
            <a:ext cx="1463040" cy="329184"/>
          </a:xfrm>
          <a:prstGeom prst="roundRect">
            <a:avLst/>
          </a:prstGeom>
          <a:solidFill>
            <a:srgbClr val="E6F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2" name="TB inf hdr"/>
          <p:cNvSpPr txBox="1"/>
          <p:nvPr/>
        </p:nvSpPr>
        <p:spPr>
          <a:xfrm>
            <a:off x="502920" y="3319272"/>
            <a:ext cx="1371600" cy="274320"/>
          </a:xfrm>
          <a:prstGeom prst="rect">
            <a:avLst/>
          </a:prstGeom>
          <a:noFill/>
        </p:spPr>
        <p:txBody>
          <a:bodyPr wrap="square" lIns="0" tIns="0" rIns="0" bIns="0">
            <a:spAutoFit/>
          </a:bodyPr>
          <a:lstStyle/>
          <a:p>
            <a:r>
              <a:rPr sz="1300" b="1">
                <a:solidFill>
                  <a:srgbClr val="0F9D58"/>
                </a:solidFill>
                <a:latin typeface="Arial"/>
              </a:rPr>
              <a:t>During inference</a:t>
            </a:r>
          </a:p>
        </p:txBody>
      </p:sp>
      <p:sp>
        <p:nvSpPr>
          <p:cNvPr id="313" name="TB inf body"/>
          <p:cNvSpPr txBox="1"/>
          <p:nvPr/>
        </p:nvSpPr>
        <p:spPr>
          <a:xfrm>
            <a:off x="411480" y="3703320"/>
            <a:ext cx="5340096" cy="822960"/>
          </a:xfrm>
          <a:prstGeom prst="rect">
            <a:avLst/>
          </a:prstGeom>
          <a:noFill/>
        </p:spPr>
        <p:txBody>
          <a:bodyPr wrap="square" lIns="0" tIns="0" rIns="0" bIns="0">
            <a:spAutoFit/>
          </a:bodyPr>
          <a:lstStyle/>
          <a:p>
            <a:pPr>
              <a:spcAft>
                <a:spcPts val="400"/>
              </a:spcAft>
              <a:buNone/>
            </a:pPr>
            <a:r>
              <a:rPr sz="1200" b="0" i="0">
                <a:solidFill>
                  <a:srgbClr val="222222"/>
                </a:solidFill>
                <a:latin typeface="Arial"/>
              </a:rPr>
              <a:t>Pre-merge: W = W₀ + B A. Store one matrix, run it once.</a:t>
            </a:r>
          </a:p>
          <a:p>
            <a:pPr>
              <a:spcAft>
                <a:spcPts val="400"/>
              </a:spcAft>
              <a:buNone/>
            </a:pPr>
            <a:r>
              <a:rPr sz="1400" b="1" i="0">
                <a:solidFill>
                  <a:srgbClr val="222222"/>
                </a:solidFill>
                <a:latin typeface="Arial"/>
              </a:rPr>
              <a:t>h = W x</a:t>
            </a:r>
          </a:p>
          <a:p>
            <a:pPr>
              <a:spcAft>
                <a:spcPts val="400"/>
              </a:spcAft>
              <a:buNone/>
            </a:pPr>
            <a:r>
              <a:rPr sz="1100" b="0" i="1">
                <a:solidFill>
                  <a:srgbClr val="595959"/>
                </a:solidFill>
                <a:latin typeface="Arial"/>
              </a:rPr>
              <a:t>No extra parameters at inference. Zero latency overhead.</a:t>
            </a:r>
          </a:p>
        </p:txBody>
      </p:sp>
      <p:sp>
        <p:nvSpPr>
          <p:cNvPr id="314" name="TB source"/>
          <p:cNvSpPr txBox="1"/>
          <p:nvPr/>
        </p:nvSpPr>
        <p:spPr>
          <a:xfrm>
            <a:off x="73152" y="4892040"/>
            <a:ext cx="7772400" cy="201168"/>
          </a:xfrm>
          <a:prstGeom prst="rect">
            <a:avLst/>
          </a:prstGeom>
          <a:noFill/>
        </p:spPr>
        <p:txBody>
          <a:bodyPr wrap="square" lIns="0">
            <a:spAutoFit/>
          </a:bodyPr>
          <a:lstStyle/>
          <a:p>
            <a:r>
              <a:rPr sz="900" u="sng">
                <a:solidFill>
                  <a:srgbClr val="595959"/>
                </a:solidFill>
                <a:latin typeface="Arial"/>
                <a:hlinkClick r:id="rId3"/>
              </a:rPr>
              <a:t>Hu et al. 2021</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1" name="TB title"/>
          <p:cNvSpPr txBox="1">
            <a:spLocks noGrp="1"/>
          </p:cNvSpPr>
          <p:nvPr>
            <p:ph type="title"/>
          </p:nvPr>
        </p:nvSpPr>
        <p:spPr>
          <a:xfrm>
            <a:off x="310896" y="320040"/>
            <a:ext cx="8522208" cy="731520"/>
          </a:xfrm>
          <a:prstGeom prst="rect">
            <a:avLst/>
          </a:prstGeom>
        </p:spPr>
        <p:txBody>
          <a:bodyPr spcFirstLastPara="1" wrap="square" lIns="0" tIns="0" rIns="0" bIns="0" anchor="t" anchorCtr="0">
            <a:normAutofit/>
          </a:bodyPr>
          <a:lstStyle/>
          <a:p>
            <a:r>
              <a:rPr sz="2200" b="1">
                <a:solidFill>
                  <a:srgbClr val="222222"/>
                </a:solidFill>
                <a:latin typeface="Arial"/>
              </a:rPr>
              <a:t>A LoRA layer, step by step</a:t>
            </a:r>
          </a:p>
        </p:txBody>
      </p:sp>
      <p:sp>
        <p:nvSpPr>
          <p:cNvPr id="312" name="TB steps"/>
          <p:cNvSpPr txBox="1">
            <a:spLocks noGrp="1"/>
          </p:cNvSpPr>
          <p:nvPr>
            <p:ph type="body" idx="1"/>
          </p:nvPr>
        </p:nvSpPr>
        <p:spPr>
          <a:xfrm>
            <a:off x="310896" y="1417320"/>
            <a:ext cx="3246120" cy="3474720"/>
          </a:xfrm>
          <a:prstGeom prst="rect">
            <a:avLst/>
          </a:prstGeom>
        </p:spPr>
        <p:txBody>
          <a:bodyPr spcFirstLastPara="1" wrap="square" lIns="0" tIns="0" rIns="0" bIns="0" anchor="t" anchorCtr="0">
            <a:normAutofit/>
          </a:bodyPr>
          <a:lstStyle/>
          <a:p>
            <a:pPr marL="0" lvl="0" indent="0" algn="l" rtl="0">
              <a:spcBef>
                <a:spcPts val="0"/>
              </a:spcBef>
              <a:spcAft>
                <a:spcPts val="400"/>
              </a:spcAft>
              <a:buClr>
                <a:schemeClr val="dk1"/>
              </a:buClr>
              <a:buSzPct val="68750"/>
              <a:buFont typeface="Arial"/>
              <a:buNone/>
            </a:pPr>
            <a:r>
              <a:rPr sz="1500" b="1">
                <a:solidFill>
                  <a:srgbClr val="DC302A"/>
                </a:solidFill>
                <a:latin typeface="Arial"/>
              </a:rPr>
              <a:t>1. </a:t>
            </a:r>
            <a:r>
              <a:rPr sz="1400" b="0" i="0">
                <a:solidFill>
                  <a:srgbClr val="222222"/>
                </a:solidFill>
                <a:latin typeface="Arial"/>
              </a:rPr>
              <a:t>Add a LoRA adapter beside the linear layer.</a:t>
            </a:r>
            <a:endParaRPr sz="1600">
              <a:solidFill>
                <a:schemeClr val="dk1"/>
              </a:solidFill>
            </a:endParaRPr>
          </a:p>
          <a:p>
            <a:pPr>
              <a:spcAft>
                <a:spcPts val="400"/>
              </a:spcAft>
              <a:buNone/>
            </a:pPr>
            <a:r>
              <a:rPr sz="1500" b="1">
                <a:solidFill>
                  <a:srgbClr val="DC302A"/>
                </a:solidFill>
                <a:latin typeface="Arial"/>
              </a:rPr>
              <a:t>2. </a:t>
            </a:r>
            <a:r>
              <a:rPr sz="1400" b="0" i="0">
                <a:solidFill>
                  <a:srgbClr val="222222"/>
                </a:solidFill>
                <a:latin typeface="Arial"/>
              </a:rPr>
              <a:t>Freeze the pretrained </a:t>
            </a:r>
            <a:r>
              <a:rPr sz="1400" b="0" i="1">
                <a:solidFill>
                  <a:srgbClr val="222222"/>
                </a:solidFill>
                <a:latin typeface="Arial"/>
              </a:rPr>
              <a:t>W</a:t>
            </a:r>
            <a:r>
              <a:rPr sz="1400" b="0" i="0">
                <a:solidFill>
                  <a:srgbClr val="222222"/>
                </a:solidFill>
                <a:latin typeface="Arial"/>
              </a:rPr>
              <a:t>(d×d).</a:t>
            </a:r>
          </a:p>
          <a:p>
            <a:pPr>
              <a:spcAft>
                <a:spcPts val="400"/>
              </a:spcAft>
              <a:buNone/>
            </a:pPr>
            <a:r>
              <a:rPr sz="1500" b="1">
                <a:solidFill>
                  <a:srgbClr val="DC302A"/>
                </a:solidFill>
                <a:latin typeface="Arial"/>
              </a:rPr>
              <a:t>3. </a:t>
            </a:r>
            <a:r>
              <a:rPr sz="1400" b="0" i="0">
                <a:solidFill>
                  <a:srgbClr val="222222"/>
                </a:solidFill>
                <a:latin typeface="Arial"/>
              </a:rPr>
              <a:t>Add trainable Δ</a:t>
            </a:r>
            <a:r>
              <a:rPr sz="1400" b="0" i="1">
                <a:solidFill>
                  <a:srgbClr val="222222"/>
                </a:solidFill>
                <a:latin typeface="Arial"/>
              </a:rPr>
              <a:t>W</a:t>
            </a:r>
            <a:r>
              <a:rPr sz="1400" b="0" i="0">
                <a:solidFill>
                  <a:srgbClr val="222222"/>
                </a:solidFill>
                <a:latin typeface="Arial"/>
              </a:rPr>
              <a:t>=</a:t>
            </a:r>
            <a:r>
              <a:rPr sz="1400" b="0" i="1">
                <a:solidFill>
                  <a:srgbClr val="222222"/>
                </a:solidFill>
                <a:latin typeface="Arial"/>
              </a:rPr>
              <a:t>W</a:t>
            </a:r>
            <a:r>
              <a:rPr sz="1400" b="0" i="1" baseline="-25000">
                <a:solidFill>
                  <a:srgbClr val="222222"/>
                </a:solidFill>
                <a:latin typeface="Arial"/>
              </a:rPr>
              <a:t>B</a:t>
            </a:r>
            <a:r>
              <a:rPr sz="1400" b="0" i="1">
                <a:solidFill>
                  <a:srgbClr val="222222"/>
                </a:solidFill>
                <a:latin typeface="Arial"/>
              </a:rPr>
              <a:t>W</a:t>
            </a:r>
            <a:r>
              <a:rPr sz="1400" b="0" i="1" baseline="-25000">
                <a:solidFill>
                  <a:srgbClr val="222222"/>
                </a:solidFill>
                <a:latin typeface="Arial"/>
              </a:rPr>
              <a:t>A</a:t>
            </a:r>
            <a:r>
              <a:rPr sz="1400" b="0" i="0">
                <a:solidFill>
                  <a:srgbClr val="222222"/>
                </a:solidFill>
                <a:latin typeface="Arial"/>
              </a:rPr>
              <a:t>, rank </a:t>
            </a:r>
            <a:r>
              <a:rPr sz="1400" b="0" i="1">
                <a:solidFill>
                  <a:srgbClr val="222222"/>
                </a:solidFill>
                <a:latin typeface="Arial"/>
              </a:rPr>
              <a:t>r</a:t>
            </a:r>
            <a:r>
              <a:rPr sz="1400" b="0" i="0">
                <a:solidFill>
                  <a:srgbClr val="222222"/>
                </a:solidFill>
                <a:latin typeface="Arial"/>
              </a:rPr>
              <a:t>≪</a:t>
            </a:r>
            <a:r>
              <a:rPr sz="1400" b="0" i="1">
                <a:solidFill>
                  <a:srgbClr val="222222"/>
                </a:solidFill>
                <a:latin typeface="Arial"/>
              </a:rPr>
              <a:t>d</a:t>
            </a:r>
            <a:r>
              <a:rPr sz="1400" b="0" i="0">
                <a:solidFill>
                  <a:srgbClr val="222222"/>
                </a:solidFill>
                <a:latin typeface="Arial"/>
              </a:rPr>
              <a:t>.</a:t>
            </a:r>
          </a:p>
          <a:p>
            <a:pPr>
              <a:spcAft>
                <a:spcPts val="400"/>
              </a:spcAft>
              <a:buNone/>
            </a:pPr>
            <a:r>
              <a:rPr sz="1500" b="1">
                <a:solidFill>
                  <a:srgbClr val="DC302A"/>
                </a:solidFill>
                <a:latin typeface="Arial"/>
              </a:rPr>
              <a:t>4. </a:t>
            </a:r>
            <a:r>
              <a:rPr sz="1400" b="0" i="0">
                <a:solidFill>
                  <a:srgbClr val="222222"/>
                </a:solidFill>
                <a:latin typeface="Arial"/>
              </a:rPr>
              <a:t>Forward: </a:t>
            </a:r>
            <a:r>
              <a:rPr sz="1400" b="0" i="1">
                <a:solidFill>
                  <a:srgbClr val="222222"/>
                </a:solidFill>
                <a:latin typeface="Arial"/>
              </a:rPr>
              <a:t>y</a:t>
            </a:r>
            <a:r>
              <a:rPr sz="1400" b="0" i="0">
                <a:solidFill>
                  <a:srgbClr val="222222"/>
                </a:solidFill>
                <a:latin typeface="Arial"/>
              </a:rPr>
              <a:t>=</a:t>
            </a:r>
            <a:r>
              <a:rPr sz="1400" b="0" i="1">
                <a:solidFill>
                  <a:srgbClr val="222222"/>
                </a:solidFill>
                <a:latin typeface="Arial"/>
              </a:rPr>
              <a:t>Wx</a:t>
            </a:r>
            <a:r>
              <a:rPr sz="1400" b="0" i="0">
                <a:solidFill>
                  <a:srgbClr val="222222"/>
                </a:solidFill>
                <a:latin typeface="Arial"/>
              </a:rPr>
              <a:t>+ Δ</a:t>
            </a:r>
            <a:r>
              <a:rPr sz="1400" b="0" i="1">
                <a:solidFill>
                  <a:srgbClr val="222222"/>
                </a:solidFill>
                <a:latin typeface="Arial"/>
              </a:rPr>
              <a:t>Wx</a:t>
            </a:r>
            <a:r>
              <a:rPr sz="1400" b="0" i="0">
                <a:solidFill>
                  <a:srgbClr val="222222"/>
                </a:solidFill>
                <a:latin typeface="Arial"/>
              </a:rPr>
              <a:t>.</a:t>
            </a:r>
          </a:p>
          <a:p>
            <a:pPr>
              <a:spcAft>
                <a:spcPts val="400"/>
              </a:spcAft>
              <a:buNone/>
            </a:pPr>
            <a:r>
              <a:rPr sz="1500" b="1">
                <a:solidFill>
                  <a:srgbClr val="DC302A"/>
                </a:solidFill>
                <a:latin typeface="Arial"/>
              </a:rPr>
              <a:t>5. </a:t>
            </a:r>
            <a:r>
              <a:rPr sz="1400" b="0" i="0">
                <a:solidFill>
                  <a:srgbClr val="222222"/>
                </a:solidFill>
                <a:latin typeface="Arial"/>
              </a:rPr>
              <a:t>Backprop updates only </a:t>
            </a:r>
            <a:r>
              <a:rPr sz="1400" b="0" i="1">
                <a:solidFill>
                  <a:srgbClr val="222222"/>
                </a:solidFill>
                <a:latin typeface="Arial"/>
              </a:rPr>
              <a:t>W</a:t>
            </a:r>
            <a:r>
              <a:rPr sz="1400" b="0" i="1" baseline="-25000">
                <a:solidFill>
                  <a:srgbClr val="222222"/>
                </a:solidFill>
                <a:latin typeface="Arial"/>
              </a:rPr>
              <a:t>A</a:t>
            </a:r>
            <a:r>
              <a:rPr sz="1400" b="0" i="0">
                <a:solidFill>
                  <a:srgbClr val="222222"/>
                </a:solidFill>
                <a:latin typeface="Arial"/>
              </a:rPr>
              <a:t> and </a:t>
            </a:r>
            <a:r>
              <a:rPr sz="1400" b="0" i="1">
                <a:solidFill>
                  <a:srgbClr val="222222"/>
                </a:solidFill>
                <a:latin typeface="Arial"/>
              </a:rPr>
              <a:t>W</a:t>
            </a:r>
            <a:r>
              <a:rPr sz="1400" b="0" i="1" baseline="-25000">
                <a:solidFill>
                  <a:srgbClr val="222222"/>
                </a:solidFill>
                <a:latin typeface="Arial"/>
              </a:rPr>
              <a:t>B</a:t>
            </a:r>
            <a:r>
              <a:rPr sz="1400" b="0" i="0">
                <a:solidFill>
                  <a:srgbClr val="222222"/>
                </a:solidFill>
                <a:latin typeface="Arial"/>
              </a:rPr>
              <a:t>.</a:t>
            </a:r>
          </a:p>
        </p:txBody>
      </p:sp>
      <p:pic>
        <p:nvPicPr>
          <p:cNvPr id="314" name="Google Shape;314;p61"/>
          <p:cNvPicPr preferRelativeResize="0"/>
          <p:nvPr/>
        </p:nvPicPr>
        <p:blipFill>
          <a:blip r:embed="rId2">
            <a:alphaModFix/>
          </a:blip>
          <a:stretch>
            <a:fillRect/>
          </a:stretch>
        </p:blipFill>
        <p:spPr>
          <a:xfrm>
            <a:off x="3506523" y="1017725"/>
            <a:ext cx="5477200" cy="3416401"/>
          </a:xfrm>
          <a:prstGeom prst="rect">
            <a:avLst/>
          </a:prstGeom>
          <a:noFill/>
          <a:ln>
            <a:noFill/>
          </a:ln>
        </p:spPr>
      </p:pic>
      <p:sp>
        <p:nvSpPr>
          <p:cNvPr id="315" name="BG title rule"/>
          <p:cNvSpPr/>
          <p:nvPr/>
        </p:nvSpPr>
        <p:spPr>
          <a:xfrm>
            <a:off x="310896" y="1060704"/>
            <a:ext cx="548640" cy="27432"/>
          </a:xfrm>
          <a:prstGeom prst="rect">
            <a:avLst/>
          </a:prstGeom>
          <a:solidFill>
            <a:srgbClr val="428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7" name="TB source"/>
          <p:cNvSpPr txBox="1"/>
          <p:nvPr/>
        </p:nvSpPr>
        <p:spPr>
          <a:xfrm>
            <a:off x="73152" y="4892040"/>
            <a:ext cx="7772400" cy="201168"/>
          </a:xfrm>
          <a:prstGeom prst="rect">
            <a:avLst/>
          </a:prstGeom>
          <a:noFill/>
        </p:spPr>
        <p:txBody>
          <a:bodyPr wrap="square" lIns="0">
            <a:spAutoFit/>
          </a:bodyPr>
          <a:lstStyle/>
          <a:p>
            <a:r>
              <a:rPr sz="900" u="sng">
                <a:solidFill>
                  <a:srgbClr val="595959"/>
                </a:solidFill>
                <a:latin typeface="Arial"/>
                <a:hlinkClick r:id="rId3"/>
              </a:rPr>
              <a:t>A B Vijay Kumar (DZone)</a:t>
            </a:r>
          </a:p>
        </p:txBody>
      </p:sp>
      <p:sp>
        <p:nvSpPr>
          <p:cNvPr id="318" name="PageNum 13"/>
          <p:cNvSpPr txBox="1"/>
          <p:nvPr/>
        </p:nvSpPr>
        <p:spPr>
          <a:xfrm>
            <a:off x="8595360" y="4892040"/>
            <a:ext cx="457200" cy="201168"/>
          </a:xfrm>
          <a:prstGeom prst="rect">
            <a:avLst/>
          </a:prstGeom>
          <a:noFill/>
        </p:spPr>
        <p:txBody>
          <a:bodyPr wrap="none" lIns="0" rIns="0">
            <a:spAutoFit/>
          </a:bodyPr>
          <a:lstStyle/>
          <a:p>
            <a:pPr algn="r"/>
            <a:r>
              <a:rPr sz="900">
                <a:solidFill>
                  <a:srgbClr val="595959"/>
                </a:solidFill>
                <a:latin typeface="Arial"/>
              </a:rPr>
              <a:t>12</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B title"/>
          <p:cNvSpPr txBox="1"/>
          <p:nvPr/>
        </p:nvSpPr>
        <p:spPr>
          <a:xfrm>
            <a:off x="310896" y="448056"/>
            <a:ext cx="8522208" cy="576072"/>
          </a:xfrm>
          <a:prstGeom prst="rect">
            <a:avLst/>
          </a:prstGeom>
          <a:noFill/>
        </p:spPr>
        <p:txBody>
          <a:bodyPr wrap="square" lIns="0" tIns="0" rIns="0" bIns="0" anchor="t">
            <a:spAutoFit/>
          </a:bodyPr>
          <a:lstStyle/>
          <a:p>
            <a:pPr algn="l"/>
            <a:r>
              <a:rPr sz="2600" b="1" i="0">
                <a:solidFill>
                  <a:srgbClr val="222222"/>
                </a:solidFill>
                <a:latin typeface="Arial"/>
              </a:rPr>
              <a:t>Which weights, and how large should r be?</a:t>
            </a:r>
          </a:p>
        </p:txBody>
      </p:sp>
      <p:sp>
        <p:nvSpPr>
          <p:cNvPr id="3" name="BG title rule"/>
          <p:cNvSpPr/>
          <p:nvPr/>
        </p:nvSpPr>
        <p:spPr>
          <a:xfrm>
            <a:off x="310896" y="1033271"/>
            <a:ext cx="548640" cy="27432"/>
          </a:xfrm>
          <a:prstGeom prst="rect">
            <a:avLst/>
          </a:prstGeom>
          <a:solidFill>
            <a:srgbClr val="428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B takeaway"/>
          <p:cNvSpPr txBox="1"/>
          <p:nvPr/>
        </p:nvSpPr>
        <p:spPr>
          <a:xfrm>
            <a:off x="310896" y="1143000"/>
            <a:ext cx="8522208" cy="365760"/>
          </a:xfrm>
          <a:prstGeom prst="rect">
            <a:avLst/>
          </a:prstGeom>
          <a:noFill/>
        </p:spPr>
        <p:txBody>
          <a:bodyPr wrap="square" lIns="0" tIns="0" rIns="0" bIns="0" anchor="t">
            <a:spAutoFit/>
          </a:bodyPr>
          <a:lstStyle/>
          <a:p>
            <a:pPr algn="l"/>
            <a:r>
              <a:rPr sz="1300" b="0" i="1">
                <a:solidFill>
                  <a:srgbClr val="4285F4"/>
                </a:solidFill>
                <a:latin typeface="Arial"/>
              </a:rPr>
              <a:t>Attention projections are usually enough. r = 8 or r = 16 is a safe default.</a:t>
            </a:r>
            <a:r>
              <a:rPr sz="1300" b="0" i="1" baseline="-25000">
                <a:solidFill>
                  <a:srgbClr val="4285F4"/>
                </a:solidFill>
                <a:latin typeface="Arial"/>
              </a:rPr>
              <a:t/>
            </a:r>
            <a:r>
              <a:rPr sz="1300" b="0" i="1">
                <a:solidFill>
                  <a:srgbClr val="4285F4"/>
                </a:solidFill>
                <a:latin typeface="Arial"/>
              </a:rPr>
              <a:t/>
            </a:r>
            <a:r>
              <a:rPr sz="1300" b="0" i="1" baseline="-25000">
                <a:solidFill>
                  <a:srgbClr val="4285F4"/>
                </a:solidFill>
                <a:latin typeface="Arial"/>
              </a:rPr>
              <a:t/>
            </a:r>
            <a:r>
              <a:rPr sz="1300" b="0" i="1">
                <a:solidFill>
                  <a:srgbClr val="4285F4"/>
                </a:solidFill>
                <a:latin typeface="Arial"/>
              </a:rPr>
              <a:t/>
            </a:r>
          </a:p>
        </p:txBody>
      </p:sp>
      <p:sp>
        <p:nvSpPr>
          <p:cNvPr id="5" name="SHP which hdr"/>
          <p:cNvSpPr/>
          <p:nvPr/>
        </p:nvSpPr>
        <p:spPr>
          <a:xfrm>
            <a:off x="310896" y="1691640"/>
            <a:ext cx="4206240" cy="457200"/>
          </a:xfrm>
          <a:prstGeom prst="rect">
            <a:avLst/>
          </a:prstGeom>
          <a:solidFill>
            <a:srgbClr val="D2E3FC"/>
          </a:solidFill>
          <a:ln w="12700">
            <a:solidFill>
              <a:srgbClr val="4285F4"/>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400" b="1" i="0">
                <a:solidFill>
                  <a:srgbClr val="4285F4"/>
                </a:solidFill>
                <a:latin typeface="Arial"/>
              </a:rPr>
              <a:t>Which projection weights to adapt?</a:t>
            </a:r>
          </a:p>
        </p:txBody>
      </p:sp>
      <p:sp>
        <p:nvSpPr>
          <p:cNvPr id="6" name="TextBox 5"/>
          <p:cNvSpPr txBox="1"/>
          <p:nvPr/>
        </p:nvSpPr>
        <p:spPr>
          <a:xfrm>
            <a:off x="310896" y="2286000"/>
            <a:ext cx="4206240" cy="2468880"/>
          </a:xfrm>
          <a:prstGeom prst="rect">
            <a:avLst/>
          </a:prstGeom>
          <a:noFill/>
        </p:spPr>
        <p:txBody>
          <a:bodyPr wrap="square" lIns="0" tIns="0" rIns="0" bIns="0" anchor="t">
            <a:spAutoFit/>
          </a:bodyPr>
          <a:lstStyle/>
          <a:p>
            <a:pPr algn="l">
              <a:spcAft>
                <a:spcPts val="400"/>
              </a:spcAft>
              <a:buNone/>
            </a:pPr>
            <a:r>
              <a:rPr sz="1200" b="0" i="0">
                <a:solidFill>
                  <a:srgbClr val="222222"/>
                </a:solidFill>
                <a:latin typeface="Arial"/>
              </a:rPr>
              <a:t>· Just W</a:t>
            </a:r>
            <a:r>
              <a:rPr sz="1200" b="0" i="0" baseline="-25000">
                <a:solidFill>
                  <a:srgbClr val="222222"/>
                </a:solidFill>
                <a:latin typeface="Arial"/>
              </a:rPr>
              <a:t>q</a:t>
            </a:r>
            <a:r>
              <a:rPr sz="1200" b="0" i="0">
                <a:solidFill>
                  <a:srgbClr val="222222"/>
                </a:solidFill>
                <a:latin typeface="Arial"/>
              </a:rPr>
              <a:t>  →  works</a:t>
            </a:r>
          </a:p>
          <a:p>
            <a:pPr>
              <a:spcAft>
                <a:spcPts val="400"/>
              </a:spcAft>
              <a:buNone/>
            </a:pPr>
            <a:r>
              <a:rPr sz="1200" b="0" i="0">
                <a:solidFill>
                  <a:srgbClr val="222222"/>
                </a:solidFill>
                <a:latin typeface="Arial"/>
              </a:rPr>
              <a:t>· {W</a:t>
            </a:r>
            <a:r>
              <a:rPr sz="1200" b="0" i="0" baseline="-25000">
                <a:solidFill>
                  <a:srgbClr val="222222"/>
                </a:solidFill>
                <a:latin typeface="Arial"/>
              </a:rPr>
              <a:t>q</a:t>
            </a:r>
            <a:r>
              <a:rPr sz="1200" b="0" i="0">
                <a:solidFill>
                  <a:srgbClr val="222222"/>
                </a:solidFill>
                <a:latin typeface="Arial"/>
              </a:rPr>
              <a:t>, W</a:t>
            </a:r>
            <a:r>
              <a:rPr sz="1200" b="0" i="0" baseline="-25000">
                <a:solidFill>
                  <a:srgbClr val="222222"/>
                </a:solidFill>
                <a:latin typeface="Arial"/>
              </a:rPr>
              <a:t>v</a:t>
            </a:r>
            <a:r>
              <a:rPr sz="1200" b="0" i="0">
                <a:solidFill>
                  <a:srgbClr val="222222"/>
                </a:solidFill>
                <a:latin typeface="Arial"/>
              </a:rPr>
              <a:t>}  →  covers most tasks</a:t>
            </a:r>
          </a:p>
          <a:p>
            <a:pPr>
              <a:spcAft>
                <a:spcPts val="400"/>
              </a:spcAft>
              <a:buNone/>
            </a:pPr>
            <a:r>
              <a:rPr sz="1200" b="0" i="0">
                <a:solidFill>
                  <a:srgbClr val="222222"/>
                </a:solidFill>
                <a:latin typeface="Arial"/>
              </a:rPr>
              <a:t>· All-linear (Q, K, V, O + MLP)  →  closes the remaining gap on hard tasks</a:t>
            </a:r>
          </a:p>
          <a:p>
            <a:pPr>
              <a:spcAft>
                <a:spcPts val="400"/>
              </a:spcAft>
              <a:buNone/>
            </a:pPr>
            <a:r>
              <a:rPr sz="1200" b="0" i="0">
                <a:solidFill>
                  <a:srgbClr val="222222"/>
                </a:solidFill>
                <a:latin typeface="Arial"/>
              </a:rPr>
              <a:t>· Modern default (HF PEFT): </a:t>
            </a:r>
            <a:r>
              <a:rPr sz="1200" b="0" i="1">
                <a:solidFill>
                  <a:srgbClr val="595959"/>
                </a:solidFill>
                <a:latin typeface="Arial"/>
              </a:rPr>
              <a:t>target_modules='all-linear'</a:t>
            </a:r>
          </a:p>
        </p:txBody>
      </p:sp>
      <p:sp>
        <p:nvSpPr>
          <p:cNvPr id="7" name="SHP r hdr"/>
          <p:cNvSpPr/>
          <p:nvPr/>
        </p:nvSpPr>
        <p:spPr>
          <a:xfrm>
            <a:off x="4617720" y="1691640"/>
            <a:ext cx="4206240" cy="457200"/>
          </a:xfrm>
          <a:prstGeom prst="rect">
            <a:avLst/>
          </a:prstGeom>
          <a:solidFill>
            <a:srgbClr val="D2E3FC"/>
          </a:solidFill>
          <a:ln w="12700">
            <a:solidFill>
              <a:srgbClr val="4285F4"/>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400" b="1" i="0">
                <a:solidFill>
                  <a:srgbClr val="4285F4"/>
                </a:solidFill>
                <a:latin typeface="Arial"/>
              </a:rPr>
              <a:t>What rank r?</a:t>
            </a:r>
          </a:p>
        </p:txBody>
      </p:sp>
      <p:sp>
        <p:nvSpPr>
          <p:cNvPr id="8" name="TextBox 7"/>
          <p:cNvSpPr txBox="1"/>
          <p:nvPr/>
        </p:nvSpPr>
        <p:spPr>
          <a:xfrm>
            <a:off x="4617720" y="2286000"/>
            <a:ext cx="4206240" cy="2468880"/>
          </a:xfrm>
          <a:prstGeom prst="rect">
            <a:avLst/>
          </a:prstGeom>
          <a:noFill/>
        </p:spPr>
        <p:txBody>
          <a:bodyPr wrap="square" lIns="0" tIns="0" rIns="0" bIns="0" anchor="t">
            <a:spAutoFit/>
          </a:bodyPr>
          <a:lstStyle/>
          <a:p>
            <a:pPr algn="l">
              <a:spcAft>
                <a:spcPts val="400"/>
              </a:spcAft>
              <a:buNone/>
            </a:pPr>
            <a:r>
              <a:rPr sz="1200" b="0" i="0">
                <a:solidFill>
                  <a:srgbClr val="222222"/>
                </a:solidFill>
                <a:latin typeface="Arial"/>
              </a:rPr>
              <a:t>· r = 1  →  already competitive on many tasks</a:t>
            </a:r>
          </a:p>
          <a:p>
            <a:pPr>
              <a:spcAft>
                <a:spcPts val="400"/>
              </a:spcAft>
              <a:buNone/>
            </a:pPr>
            <a:r>
              <a:rPr sz="1200" b="0" i="0">
                <a:solidFill>
                  <a:srgbClr val="222222"/>
                </a:solidFill>
                <a:latin typeface="Arial"/>
              </a:rPr>
              <a:t>· r = 8–16  →  standard for instruction-tuning</a:t>
            </a:r>
          </a:p>
          <a:p>
            <a:pPr>
              <a:spcAft>
                <a:spcPts val="400"/>
              </a:spcAft>
              <a:buNone/>
            </a:pPr>
            <a:r>
              <a:rPr sz="1200" b="0" i="0">
                <a:solidFill>
                  <a:srgbClr val="222222"/>
                </a:solidFill>
                <a:latin typeface="Arial"/>
              </a:rPr>
              <a:t>· r = 32–64  →  used for harder capability shifts</a:t>
            </a:r>
          </a:p>
          <a:p>
            <a:pPr>
              <a:spcAft>
                <a:spcPts val="400"/>
              </a:spcAft>
              <a:buNone/>
            </a:pPr>
            <a:r>
              <a:rPr sz="1200" b="0" i="0">
                <a:solidFill>
                  <a:srgbClr val="222222"/>
                </a:solidFill>
                <a:latin typeface="Arial"/>
              </a:rPr>
              <a:t>· Concrete example: W</a:t>
            </a:r>
            <a:r>
              <a:rPr sz="1200" b="0" i="0" baseline="-25000">
                <a:solidFill>
                  <a:srgbClr val="222222"/>
                </a:solidFill>
                <a:latin typeface="Arial"/>
              </a:rPr>
              <a:t>q</a:t>
            </a:r>
            <a:r>
              <a:rPr sz="1200" b="0" i="0">
                <a:solidFill>
                  <a:srgbClr val="222222"/>
                </a:solidFill>
                <a:latin typeface="Arial"/>
              </a:rPr>
              <a:t> = 100 × 100 (10,000 params) vs B · A at r = 3 = 600 params  →  ≈17× reduction</a:t>
            </a:r>
          </a:p>
        </p:txBody>
      </p:sp>
      <p:sp>
        <p:nvSpPr>
          <p:cNvPr id="10" name="PageNum 15"/>
          <p:cNvSpPr txBox="1"/>
          <p:nvPr/>
        </p:nvSpPr>
        <p:spPr>
          <a:xfrm>
            <a:off x="8595360" y="4892040"/>
            <a:ext cx="457200" cy="201168"/>
          </a:xfrm>
          <a:prstGeom prst="rect">
            <a:avLst/>
          </a:prstGeom>
          <a:noFill/>
        </p:spPr>
        <p:txBody>
          <a:bodyPr wrap="square" lIns="0" tIns="0" rIns="0" bIns="0">
            <a:spAutoFit/>
          </a:bodyPr>
          <a:lstStyle/>
          <a:p>
            <a:pPr algn="r"/>
            <a:r>
              <a:rPr sz="900">
                <a:solidFill>
                  <a:srgbClr val="595959"/>
                </a:solidFill>
                <a:latin typeface="Arial"/>
              </a:rPr>
              <a:t>13</a:t>
            </a:r>
          </a:p>
        </p:txBody>
      </p:sp>
      <p:sp>
        <p:nvSpPr>
          <p:cNvPr id="11" name="TB source"/>
          <p:cNvSpPr txBox="1"/>
          <p:nvPr/>
        </p:nvSpPr>
        <p:spPr>
          <a:xfrm>
            <a:off x="73152" y="4892040"/>
            <a:ext cx="7772400" cy="201168"/>
          </a:xfrm>
          <a:prstGeom prst="rect">
            <a:avLst/>
          </a:prstGeom>
          <a:noFill/>
        </p:spPr>
        <p:txBody>
          <a:bodyPr wrap="square" lIns="0">
            <a:spAutoFit/>
          </a:bodyPr>
          <a:lstStyle/>
          <a:p>
            <a:r>
              <a:rPr sz="900" u="sng">
                <a:solidFill>
                  <a:srgbClr val="595959"/>
                </a:solidFill>
                <a:latin typeface="Arial"/>
                <a:hlinkClick r:id="rId3"/>
              </a:rPr>
              <a:t>Hu et al. 2021</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B section title"/>
          <p:cNvSpPr txBox="1"/>
          <p:nvPr/>
        </p:nvSpPr>
        <p:spPr>
          <a:xfrm>
            <a:off x="457200" y="2194560"/>
            <a:ext cx="8229600" cy="1097280"/>
          </a:xfrm>
          <a:prstGeom prst="rect">
            <a:avLst/>
          </a:prstGeom>
          <a:noFill/>
        </p:spPr>
        <p:txBody>
          <a:bodyPr wrap="square" lIns="0" tIns="0" rIns="0" bIns="0" anchor="t">
            <a:spAutoFit/>
          </a:bodyPr>
          <a:lstStyle/>
          <a:p>
            <a:r>
              <a:rPr sz="3200" b="1">
                <a:solidFill>
                  <a:srgbClr val="222222"/>
                </a:solidFill>
                <a:latin typeface="Arial"/>
              </a:rPr>
              <a:t>Quantized bases: less memory for the frozen weights</a:t>
            </a:r>
          </a:p>
        </p:txBody>
      </p:sp>
      <p:sp>
        <p:nvSpPr>
          <p:cNvPr id="4" name="BG rule"/>
          <p:cNvSpPr/>
          <p:nvPr/>
        </p:nvSpPr>
        <p:spPr>
          <a:xfrm>
            <a:off x="457200" y="3383280"/>
            <a:ext cx="1097280" cy="36576"/>
          </a:xfrm>
          <a:prstGeom prst="rect">
            <a:avLst/>
          </a:prstGeom>
          <a:solidFill>
            <a:srgbClr val="428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PageNum 17"/>
          <p:cNvSpPr txBox="1"/>
          <p:nvPr/>
        </p:nvSpPr>
        <p:spPr>
          <a:xfrm>
            <a:off x="8595360" y="4892040"/>
            <a:ext cx="457200" cy="201168"/>
          </a:xfrm>
          <a:prstGeom prst="rect">
            <a:avLst/>
          </a:prstGeom>
          <a:noFill/>
        </p:spPr>
        <p:txBody>
          <a:bodyPr wrap="square" lIns="0" tIns="0" rIns="0" bIns="0">
            <a:spAutoFit/>
          </a:bodyPr>
          <a:lstStyle/>
          <a:p>
            <a:pPr algn="r"/>
            <a:r>
              <a:rPr sz="900">
                <a:solidFill>
                  <a:srgbClr val="595959"/>
                </a:solidFill>
                <a:latin typeface="Arial"/>
              </a:rPr>
              <a:t>14</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55" name="Google Shape;455;p81"/>
          <p:cNvPicPr preferRelativeResize="0">
            <a:picLocks noGrp="1"/>
          </p:cNvPicPr>
          <p:nvPr>
            <p:ph type="body" idx="1"/>
          </p:nvPr>
        </p:nvPicPr>
        <p:blipFill rotWithShape="1">
          <a:blip r:embed="rId3">
            <a:alphaModFix/>
          </a:blip>
          <a:srcRect b="14447"/>
          <a:stretch/>
        </p:blipFill>
        <p:spPr>
          <a:xfrm>
            <a:off x="628650" y="1264483"/>
            <a:ext cx="8194856" cy="3635687"/>
          </a:xfrm>
          <a:prstGeom prst="rect">
            <a:avLst/>
          </a:prstGeom>
          <a:noFill/>
          <a:ln>
            <a:noFill/>
          </a:ln>
        </p:spPr>
      </p:pic>
      <p:sp>
        <p:nvSpPr>
          <p:cNvPr id="456" name="Google Shape;456;p81"/>
          <p:cNvSpPr txBox="1"/>
          <p:nvPr/>
        </p:nvSpPr>
        <p:spPr>
          <a:xfrm>
            <a:off x="221287" y="2763824"/>
            <a:ext cx="8709214" cy="1476700"/>
          </a:xfrm>
          <a:prstGeom prst="rect">
            <a:avLst/>
          </a:prstGeom>
          <a:noFill/>
          <a:ln>
            <a:noFill/>
          </a:ln>
        </p:spPr>
        <p:txBody>
          <a:bodyPr spcFirstLastPara="1" wrap="square" lIns="91425" tIns="45700" rIns="91425" bIns="45700" anchor="t" anchorCtr="0">
            <a:normAutofit/>
          </a:bodyPr>
          <a:lstStyle/>
          <a:p>
            <a:pPr marL="171450" marR="0" lvl="0" indent="-69850" algn="l" rtl="0">
              <a:lnSpc>
                <a:spcPct val="150000"/>
              </a:lnSpc>
              <a:spcBef>
                <a:spcPts val="0"/>
              </a:spcBef>
              <a:spcAft>
                <a:spcPts val="0"/>
              </a:spcAft>
              <a:buClr>
                <a:schemeClr val="dk1"/>
              </a:buClr>
              <a:buSzPts val="1600"/>
              <a:buFont typeface="Arial"/>
              <a:buNone/>
            </a:pPr>
            <a:endParaRPr sz="1600" b="0" i="0">
              <a:solidFill>
                <a:schemeClr val="dk1"/>
              </a:solidFill>
              <a:latin typeface="Roboto"/>
              <a:ea typeface="Roboto"/>
              <a:cs typeface="Roboto"/>
              <a:sym typeface="Roboto"/>
            </a:endParaRPr>
          </a:p>
        </p:txBody>
      </p:sp>
      <p:sp>
        <p:nvSpPr>
          <p:cNvPr id="457" name="TB title"/>
          <p:cNvSpPr txBox="1"/>
          <p:nvPr/>
        </p:nvSpPr>
        <p:spPr>
          <a:xfrm>
            <a:off x="310896" y="320040"/>
            <a:ext cx="8522208" cy="731520"/>
          </a:xfrm>
          <a:prstGeom prst="rect">
            <a:avLst/>
          </a:prstGeom>
          <a:noFill/>
        </p:spPr>
        <p:txBody>
          <a:bodyPr wrap="square" lIns="0" tIns="0" rIns="0" bIns="0">
            <a:spAutoFit/>
          </a:bodyPr>
          <a:lstStyle/>
          <a:p>
            <a:r>
              <a:rPr sz="2200" b="1" i="0">
                <a:solidFill>
                  <a:srgbClr val="222222"/>
                </a:solidFill>
                <a:latin typeface="Arial"/>
              </a:rPr>
              <a:t>LoRA shrinks the training cost, not the base weights</a:t>
            </a:r>
          </a:p>
        </p:txBody>
      </p:sp>
      <p:sp>
        <p:nvSpPr>
          <p:cNvPr id="458" name="BG title rule"/>
          <p:cNvSpPr/>
          <p:nvPr/>
        </p:nvSpPr>
        <p:spPr>
          <a:xfrm>
            <a:off x="310896" y="1060704"/>
            <a:ext cx="548640" cy="27432"/>
          </a:xfrm>
          <a:prstGeom prst="rect">
            <a:avLst/>
          </a:prstGeom>
          <a:solidFill>
            <a:srgbClr val="428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9" name="TB takeaway"/>
          <p:cNvSpPr txBox="1"/>
          <p:nvPr/>
        </p:nvSpPr>
        <p:spPr>
          <a:xfrm>
            <a:off x="310896" y="1133856"/>
            <a:ext cx="8522208" cy="365760"/>
          </a:xfrm>
          <a:prstGeom prst="rect">
            <a:avLst/>
          </a:prstGeom>
          <a:noFill/>
        </p:spPr>
        <p:txBody>
          <a:bodyPr wrap="square" lIns="0" tIns="0" rIns="0" bIns="0">
            <a:spAutoFit/>
          </a:bodyPr>
          <a:lstStyle/>
          <a:p>
            <a:r>
              <a:rPr sz="1300" b="0" i="1">
                <a:solidFill>
                  <a:srgbClr val="4285F4"/>
                </a:solidFill>
                <a:latin typeface="Arial"/>
              </a:rPr>
              <a:t>On Nemotron 4B, LoRA pulls peak training memory from ~38 GB to 9 GB. QLoRA pushes it further to 5.4 GB by quantizing the base.</a:t>
            </a:r>
          </a:p>
        </p:txBody>
      </p:sp>
      <p:sp>
        <p:nvSpPr>
          <p:cNvPr id="461" name="PageNum 18"/>
          <p:cNvSpPr txBox="1"/>
          <p:nvPr/>
        </p:nvSpPr>
        <p:spPr>
          <a:xfrm>
            <a:off x="8595360" y="4892040"/>
            <a:ext cx="457200" cy="201168"/>
          </a:xfrm>
          <a:prstGeom prst="rect">
            <a:avLst/>
          </a:prstGeom>
          <a:noFill/>
        </p:spPr>
        <p:txBody>
          <a:bodyPr wrap="square" lIns="0" tIns="0" rIns="0" bIns="0">
            <a:spAutoFit/>
          </a:bodyPr>
          <a:lstStyle/>
          <a:p>
            <a:pPr algn="r"/>
            <a:r>
              <a:rPr sz="900">
                <a:solidFill>
                  <a:srgbClr val="595959"/>
                </a:solidFill>
                <a:latin typeface="Arial"/>
              </a:rPr>
              <a:t>15</a:t>
            </a:r>
          </a:p>
        </p:txBody>
      </p:sp>
      <p:sp>
        <p:nvSpPr>
          <p:cNvPr id="462" name="TB source"/>
          <p:cNvSpPr txBox="1"/>
          <p:nvPr/>
        </p:nvSpPr>
        <p:spPr>
          <a:xfrm>
            <a:off x="73152" y="4892040"/>
            <a:ext cx="7772400" cy="201168"/>
          </a:xfrm>
          <a:prstGeom prst="rect">
            <a:avLst/>
          </a:prstGeom>
          <a:noFill/>
        </p:spPr>
        <p:txBody>
          <a:bodyPr wrap="square" lIns="0" tIns="0" rIns="0" bIns="0">
            <a:spAutoFit/>
          </a:bodyPr>
          <a:lstStyle/>
          <a:p>
            <a:r>
              <a:rPr sz="900" u="sng">
                <a:solidFill>
                  <a:srgbClr val="595959"/>
                </a:solidFill>
                <a:latin typeface="Arial"/>
                <a:hlinkClick r:id="rId4"/>
              </a:rPr>
              <a:t>Dettmers et al. 2023</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B title"/>
          <p:cNvSpPr txBox="1"/>
          <p:nvPr/>
        </p:nvSpPr>
        <p:spPr>
          <a:xfrm>
            <a:off x="310896" y="448056"/>
            <a:ext cx="8522208" cy="576072"/>
          </a:xfrm>
          <a:prstGeom prst="rect">
            <a:avLst/>
          </a:prstGeom>
          <a:noFill/>
        </p:spPr>
        <p:txBody>
          <a:bodyPr wrap="square" lIns="0" tIns="0" rIns="0" bIns="0" anchor="t">
            <a:spAutoFit/>
          </a:bodyPr>
          <a:lstStyle/>
          <a:p>
            <a:pPr algn="l"/>
            <a:r>
              <a:rPr sz="2600" b="1" i="0">
                <a:solidFill>
                  <a:srgbClr val="222222"/>
                </a:solidFill>
                <a:latin typeface="Arial"/>
              </a:rPr>
              <a:t>The QLoRA recipe: four ingredients</a:t>
            </a:r>
          </a:p>
        </p:txBody>
      </p:sp>
      <p:sp>
        <p:nvSpPr>
          <p:cNvPr id="3" name="BG title rule"/>
          <p:cNvSpPr/>
          <p:nvPr/>
        </p:nvSpPr>
        <p:spPr>
          <a:xfrm>
            <a:off x="310896" y="1033271"/>
            <a:ext cx="548640" cy="27432"/>
          </a:xfrm>
          <a:prstGeom prst="rect">
            <a:avLst/>
          </a:prstGeom>
          <a:solidFill>
            <a:srgbClr val="428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B takeaway"/>
          <p:cNvSpPr txBox="1"/>
          <p:nvPr/>
        </p:nvSpPr>
        <p:spPr>
          <a:xfrm>
            <a:off x="310896" y="1143000"/>
            <a:ext cx="8522208" cy="365760"/>
          </a:xfrm>
          <a:prstGeom prst="rect">
            <a:avLst/>
          </a:prstGeom>
          <a:noFill/>
        </p:spPr>
        <p:txBody>
          <a:bodyPr wrap="square" lIns="0" tIns="0" rIns="0" bIns="0" anchor="t">
            <a:spAutoFit/>
          </a:bodyPr>
          <a:lstStyle/>
          <a:p>
            <a:pPr algn="l"/>
            <a:r>
              <a:rPr sz="1400" b="0" i="1">
                <a:solidFill>
                  <a:srgbClr val="4285F4"/>
                </a:solidFill>
                <a:latin typeface="Arial"/>
              </a:rPr>
              <a:t>Each attacks a specific memory cost. On this laptop (Nemotron 4B), 38 GB -&gt; 5.4 GB with ~0.01 F1 given up.</a:t>
            </a:r>
          </a:p>
        </p:txBody>
      </p:sp>
      <p:sp>
        <p:nvSpPr>
          <p:cNvPr id="5" name="BG recipe bar 0"/>
          <p:cNvSpPr/>
          <p:nvPr/>
        </p:nvSpPr>
        <p:spPr>
          <a:xfrm>
            <a:off x="310896" y="1691640"/>
            <a:ext cx="73152" cy="640080"/>
          </a:xfrm>
          <a:prstGeom prst="rect">
            <a:avLst/>
          </a:prstGeom>
          <a:solidFill>
            <a:srgbClr val="428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B recipe t 0"/>
          <p:cNvSpPr txBox="1"/>
          <p:nvPr/>
        </p:nvSpPr>
        <p:spPr>
          <a:xfrm>
            <a:off x="502920" y="1709928"/>
            <a:ext cx="3200400" cy="320040"/>
          </a:xfrm>
          <a:prstGeom prst="rect">
            <a:avLst/>
          </a:prstGeom>
          <a:noFill/>
        </p:spPr>
        <p:txBody>
          <a:bodyPr wrap="square" lIns="0" tIns="0" rIns="0" bIns="0" anchor="t">
            <a:spAutoFit/>
          </a:bodyPr>
          <a:lstStyle/>
          <a:p>
            <a:pPr algn="l"/>
            <a:r>
              <a:rPr sz="1500" b="1" i="0">
                <a:solidFill>
                  <a:srgbClr val="222222"/>
                </a:solidFill>
                <a:latin typeface="Arial"/>
              </a:rPr>
              <a:t>1. NF4 quantization</a:t>
            </a:r>
          </a:p>
        </p:txBody>
      </p:sp>
      <p:sp>
        <p:nvSpPr>
          <p:cNvPr id="7" name="TB recipe d 0"/>
          <p:cNvSpPr txBox="1"/>
          <p:nvPr/>
        </p:nvSpPr>
        <p:spPr>
          <a:xfrm>
            <a:off x="3749039" y="1709928"/>
            <a:ext cx="5029200" cy="594360"/>
          </a:xfrm>
          <a:prstGeom prst="rect">
            <a:avLst/>
          </a:prstGeom>
          <a:noFill/>
        </p:spPr>
        <p:txBody>
          <a:bodyPr wrap="square" lIns="0" tIns="0" rIns="0" bIns="0" anchor="t">
            <a:spAutoFit/>
          </a:bodyPr>
          <a:lstStyle/>
          <a:p>
            <a:pPr algn="l"/>
            <a:r>
              <a:rPr sz="1300" b="0" i="0">
                <a:solidFill>
                  <a:srgbClr val="595959"/>
                </a:solidFill>
                <a:latin typeface="Arial"/>
              </a:rPr>
              <a:t>4-bit weights. Data type designed for the normal distribution that pretrained weights actually follow.</a:t>
            </a:r>
          </a:p>
        </p:txBody>
      </p:sp>
      <p:sp>
        <p:nvSpPr>
          <p:cNvPr id="8" name="BG recipe bar 1"/>
          <p:cNvSpPr/>
          <p:nvPr/>
        </p:nvSpPr>
        <p:spPr>
          <a:xfrm>
            <a:off x="310896" y="2377440"/>
            <a:ext cx="73152" cy="640080"/>
          </a:xfrm>
          <a:prstGeom prst="rect">
            <a:avLst/>
          </a:prstGeom>
          <a:solidFill>
            <a:srgbClr val="0097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B recipe t 1"/>
          <p:cNvSpPr txBox="1"/>
          <p:nvPr/>
        </p:nvSpPr>
        <p:spPr>
          <a:xfrm>
            <a:off x="502920" y="2395728"/>
            <a:ext cx="3200400" cy="320040"/>
          </a:xfrm>
          <a:prstGeom prst="rect">
            <a:avLst/>
          </a:prstGeom>
          <a:noFill/>
        </p:spPr>
        <p:txBody>
          <a:bodyPr wrap="square" lIns="0" tIns="0" rIns="0" bIns="0" anchor="t">
            <a:spAutoFit/>
          </a:bodyPr>
          <a:lstStyle/>
          <a:p>
            <a:pPr algn="l"/>
            <a:r>
              <a:rPr sz="1500" b="1" i="0">
                <a:solidFill>
                  <a:srgbClr val="222222"/>
                </a:solidFill>
                <a:latin typeface="Arial"/>
              </a:rPr>
              <a:t>2. Double Quantization</a:t>
            </a:r>
          </a:p>
        </p:txBody>
      </p:sp>
      <p:sp>
        <p:nvSpPr>
          <p:cNvPr id="10" name="TB recipe d 1"/>
          <p:cNvSpPr txBox="1"/>
          <p:nvPr/>
        </p:nvSpPr>
        <p:spPr>
          <a:xfrm>
            <a:off x="3749039" y="2395728"/>
            <a:ext cx="5029200" cy="594360"/>
          </a:xfrm>
          <a:prstGeom prst="rect">
            <a:avLst/>
          </a:prstGeom>
          <a:noFill/>
        </p:spPr>
        <p:txBody>
          <a:bodyPr wrap="square" lIns="0" tIns="0" rIns="0" bIns="0" anchor="t">
            <a:spAutoFit/>
          </a:bodyPr>
          <a:lstStyle/>
          <a:p>
            <a:pPr algn="l"/>
            <a:r>
              <a:rPr sz="1300" b="0" i="0">
                <a:solidFill>
                  <a:srgbClr val="595959"/>
                </a:solidFill>
                <a:latin typeface="Arial"/>
              </a:rPr>
              <a:t>Quantize the quantization constants too. Saves another ~0.4 bits per parameter (~3 GB on a 65B model).</a:t>
            </a:r>
          </a:p>
        </p:txBody>
      </p:sp>
      <p:sp>
        <p:nvSpPr>
          <p:cNvPr id="11" name="BG recipe bar 2"/>
          <p:cNvSpPr/>
          <p:nvPr/>
        </p:nvSpPr>
        <p:spPr>
          <a:xfrm>
            <a:off x="310896" y="3063240"/>
            <a:ext cx="73152" cy="640080"/>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B recipe t 2"/>
          <p:cNvSpPr txBox="1"/>
          <p:nvPr/>
        </p:nvSpPr>
        <p:spPr>
          <a:xfrm>
            <a:off x="502920" y="3081528"/>
            <a:ext cx="3200400" cy="320040"/>
          </a:xfrm>
          <a:prstGeom prst="rect">
            <a:avLst/>
          </a:prstGeom>
          <a:noFill/>
        </p:spPr>
        <p:txBody>
          <a:bodyPr wrap="square" lIns="0" tIns="0" rIns="0" bIns="0" anchor="t">
            <a:spAutoFit/>
          </a:bodyPr>
          <a:lstStyle/>
          <a:p>
            <a:pPr algn="l"/>
            <a:r>
              <a:rPr sz="1500" b="1" i="0">
                <a:solidFill>
                  <a:srgbClr val="222222"/>
                </a:solidFill>
                <a:latin typeface="Arial"/>
              </a:rPr>
              <a:t>3. Paged Optimizers</a:t>
            </a:r>
          </a:p>
        </p:txBody>
      </p:sp>
      <p:sp>
        <p:nvSpPr>
          <p:cNvPr id="13" name="TB recipe d 2"/>
          <p:cNvSpPr txBox="1"/>
          <p:nvPr/>
        </p:nvSpPr>
        <p:spPr>
          <a:xfrm>
            <a:off x="3749039" y="3081528"/>
            <a:ext cx="5029200" cy="594360"/>
          </a:xfrm>
          <a:prstGeom prst="rect">
            <a:avLst/>
          </a:prstGeom>
          <a:noFill/>
        </p:spPr>
        <p:txBody>
          <a:bodyPr wrap="square" lIns="0" tIns="0" rIns="0" bIns="0" anchor="t">
            <a:spAutoFit/>
          </a:bodyPr>
          <a:lstStyle/>
          <a:p>
            <a:pPr algn="l"/>
            <a:r>
              <a:rPr sz="1300" b="0" i="0">
                <a:solidFill>
                  <a:srgbClr val="595959"/>
                </a:solidFill>
                <a:latin typeface="Arial"/>
              </a:rPr>
              <a:t>NVIDIA unified memory + CPU spillover: absorbs memory spikes from long input sequences without OOM.</a:t>
            </a:r>
          </a:p>
        </p:txBody>
      </p:sp>
      <p:sp>
        <p:nvSpPr>
          <p:cNvPr id="14" name="BG recipe bar 3"/>
          <p:cNvSpPr/>
          <p:nvPr/>
        </p:nvSpPr>
        <p:spPr>
          <a:xfrm>
            <a:off x="310896" y="3749039"/>
            <a:ext cx="73152" cy="640080"/>
          </a:xfrm>
          <a:prstGeom prst="rect">
            <a:avLst/>
          </a:prstGeom>
          <a:solidFill>
            <a:srgbClr val="428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B recipe t 3"/>
          <p:cNvSpPr txBox="1"/>
          <p:nvPr/>
        </p:nvSpPr>
        <p:spPr>
          <a:xfrm>
            <a:off x="502920" y="3767327"/>
            <a:ext cx="3200400" cy="320040"/>
          </a:xfrm>
          <a:prstGeom prst="rect">
            <a:avLst/>
          </a:prstGeom>
          <a:noFill/>
        </p:spPr>
        <p:txBody>
          <a:bodyPr wrap="square" lIns="0" tIns="0" rIns="0" bIns="0" anchor="t">
            <a:spAutoFit/>
          </a:bodyPr>
          <a:lstStyle/>
          <a:p>
            <a:pPr algn="l"/>
            <a:r>
              <a:rPr sz="1500" b="1" i="0">
                <a:solidFill>
                  <a:srgbClr val="222222"/>
                </a:solidFill>
                <a:latin typeface="Arial"/>
              </a:rPr>
              <a:t>4. LoRA on top</a:t>
            </a:r>
          </a:p>
        </p:txBody>
      </p:sp>
      <p:sp>
        <p:nvSpPr>
          <p:cNvPr id="16" name="TB recipe d 3"/>
          <p:cNvSpPr txBox="1"/>
          <p:nvPr/>
        </p:nvSpPr>
        <p:spPr>
          <a:xfrm>
            <a:off x="3749039" y="3767327"/>
            <a:ext cx="5029200" cy="594360"/>
          </a:xfrm>
          <a:prstGeom prst="rect">
            <a:avLst/>
          </a:prstGeom>
          <a:noFill/>
        </p:spPr>
        <p:txBody>
          <a:bodyPr wrap="square" lIns="0" tIns="0" rIns="0" bIns="0" anchor="t">
            <a:spAutoFit/>
          </a:bodyPr>
          <a:lstStyle/>
          <a:p>
            <a:pPr algn="l"/>
            <a:r>
              <a:rPr sz="1300" b="0" i="0">
                <a:solidFill>
                  <a:srgbClr val="595959"/>
                </a:solidFill>
                <a:latin typeface="Arial"/>
              </a:rPr>
              <a:t>Frozen quantized base + trainable low-rank adapters in 16-bit. All the LoRA benefits apply.</a:t>
            </a:r>
          </a:p>
        </p:txBody>
      </p:sp>
      <p:sp>
        <p:nvSpPr>
          <p:cNvPr id="18" name="PageNum 19"/>
          <p:cNvSpPr txBox="1"/>
          <p:nvPr/>
        </p:nvSpPr>
        <p:spPr>
          <a:xfrm>
            <a:off x="8595360" y="4892040"/>
            <a:ext cx="457200" cy="201168"/>
          </a:xfrm>
          <a:prstGeom prst="rect">
            <a:avLst/>
          </a:prstGeom>
          <a:noFill/>
        </p:spPr>
        <p:txBody>
          <a:bodyPr wrap="square" lIns="0" tIns="0" rIns="0" bIns="0">
            <a:spAutoFit/>
          </a:bodyPr>
          <a:lstStyle/>
          <a:p>
            <a:pPr algn="r"/>
            <a:r>
              <a:rPr sz="900">
                <a:solidFill>
                  <a:srgbClr val="595959"/>
                </a:solidFill>
                <a:latin typeface="Arial"/>
              </a:rPr>
              <a:t>16</a:t>
            </a:r>
          </a:p>
        </p:txBody>
      </p:sp>
      <p:sp>
        <p:nvSpPr>
          <p:cNvPr id="19" name="TB source"/>
          <p:cNvSpPr txBox="1"/>
          <p:nvPr/>
        </p:nvSpPr>
        <p:spPr>
          <a:xfrm>
            <a:off x="73152" y="4892040"/>
            <a:ext cx="7772400" cy="201168"/>
          </a:xfrm>
          <a:prstGeom prst="rect">
            <a:avLst/>
          </a:prstGeom>
          <a:noFill/>
        </p:spPr>
        <p:txBody>
          <a:bodyPr wrap="square" lIns="0" tIns="0" rIns="0" bIns="0">
            <a:spAutoFit/>
          </a:bodyPr>
          <a:lstStyle/>
          <a:p>
            <a:r>
              <a:rPr sz="900" u="sng">
                <a:solidFill>
                  <a:srgbClr val="595959"/>
                </a:solidFill>
                <a:latin typeface="Arial"/>
                <a:hlinkClick r:id="rId3"/>
              </a:rPr>
              <a:t>Dettmers, Pagnoni, Holtzman, Zettlemoyer 2023</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B title"/>
          <p:cNvSpPr txBox="1"/>
          <p:nvPr/>
        </p:nvSpPr>
        <p:spPr>
          <a:xfrm>
            <a:off x="310896" y="448056"/>
            <a:ext cx="8522208" cy="576072"/>
          </a:xfrm>
          <a:prstGeom prst="rect">
            <a:avLst/>
          </a:prstGeom>
          <a:noFill/>
        </p:spPr>
        <p:txBody>
          <a:bodyPr wrap="square" lIns="0" tIns="0" rIns="0" bIns="0" anchor="t">
            <a:spAutoFit/>
          </a:bodyPr>
          <a:lstStyle/>
          <a:p>
            <a:pPr algn="l"/>
            <a:r>
              <a:rPr sz="2400" b="1" i="0">
                <a:solidFill>
                  <a:srgbClr val="222222"/>
                </a:solidFill>
                <a:latin typeface="Arial"/>
              </a:rPr>
              <a:t>NF4: 4-bit tuned for how weights are actually distributed</a:t>
            </a:r>
          </a:p>
        </p:txBody>
      </p:sp>
      <p:sp>
        <p:nvSpPr>
          <p:cNvPr id="3" name="BG title rule"/>
          <p:cNvSpPr/>
          <p:nvPr/>
        </p:nvSpPr>
        <p:spPr>
          <a:xfrm>
            <a:off x="310896" y="1033271"/>
            <a:ext cx="548640" cy="27432"/>
          </a:xfrm>
          <a:prstGeom prst="rect">
            <a:avLst/>
          </a:prstGeom>
          <a:solidFill>
            <a:srgbClr val="428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B takeaway"/>
          <p:cNvSpPr txBox="1"/>
          <p:nvPr/>
        </p:nvSpPr>
        <p:spPr>
          <a:xfrm>
            <a:off x="310896" y="1143000"/>
            <a:ext cx="8522208" cy="365760"/>
          </a:xfrm>
          <a:prstGeom prst="rect">
            <a:avLst/>
          </a:prstGeom>
          <a:noFill/>
        </p:spPr>
        <p:txBody>
          <a:bodyPr wrap="square" lIns="0" tIns="0" rIns="0" bIns="0" anchor="t">
            <a:spAutoFit/>
          </a:bodyPr>
          <a:lstStyle/>
          <a:p>
            <a:r>
              <a:rPr sz="1300" b="0" i="1">
                <a:solidFill>
                  <a:srgbClr val="4285F4"/>
                </a:solidFill>
                <a:latin typeface="Arial"/>
              </a:rPr>
              <a:t>Why quantile bins beat any other 16 numbers.</a:t>
            </a:r>
          </a:p>
        </p:txBody>
      </p:sp>
      <p:sp>
        <p:nvSpPr>
          <p:cNvPr id="7" name="PageNum 20"/>
          <p:cNvSpPr txBox="1"/>
          <p:nvPr/>
        </p:nvSpPr>
        <p:spPr>
          <a:xfrm>
            <a:off x="8595360" y="4892040"/>
            <a:ext cx="457200" cy="201168"/>
          </a:xfrm>
          <a:prstGeom prst="rect">
            <a:avLst/>
          </a:prstGeom>
          <a:noFill/>
        </p:spPr>
        <p:txBody>
          <a:bodyPr wrap="square" lIns="0" tIns="0" rIns="0" bIns="0">
            <a:spAutoFit/>
          </a:bodyPr>
          <a:lstStyle/>
          <a:p>
            <a:pPr algn="r"/>
            <a:r>
              <a:rPr sz="900">
                <a:solidFill>
                  <a:srgbClr val="595959"/>
                </a:solidFill>
                <a:latin typeface="Arial"/>
              </a:rPr>
              <a:t>17</a:t>
            </a:r>
          </a:p>
        </p:txBody>
      </p:sp>
      <p:sp>
        <p:nvSpPr>
          <p:cNvPr id="8" name="TB source"/>
          <p:cNvSpPr txBox="1"/>
          <p:nvPr/>
        </p:nvSpPr>
        <p:spPr>
          <a:xfrm>
            <a:off x="73152" y="4892040"/>
            <a:ext cx="7772400" cy="201168"/>
          </a:xfrm>
          <a:prstGeom prst="rect">
            <a:avLst/>
          </a:prstGeom>
          <a:noFill/>
        </p:spPr>
        <p:txBody>
          <a:bodyPr wrap="square" lIns="0" tIns="0" rIns="0" bIns="0">
            <a:spAutoFit/>
          </a:bodyPr>
          <a:lstStyle/>
          <a:p>
            <a:r>
              <a:rPr sz="900" u="sng">
                <a:solidFill>
                  <a:srgbClr val="595959"/>
                </a:solidFill>
                <a:latin typeface="Arial"/>
                <a:hlinkClick r:id="rId3"/>
              </a:rPr>
              <a:t>Dettmers et al. 2023</a:t>
            </a:r>
          </a:p>
        </p:txBody>
      </p:sp>
      <p:sp>
        <p:nvSpPr>
          <p:cNvPr id="9" name="TB body"/>
          <p:cNvSpPr txBox="1"/>
          <p:nvPr/>
        </p:nvSpPr>
        <p:spPr>
          <a:xfrm>
            <a:off x="310896" y="1737360"/>
            <a:ext cx="4160520" cy="2926080"/>
          </a:xfrm>
          <a:prstGeom prst="rect">
            <a:avLst/>
          </a:prstGeom>
          <a:noFill/>
        </p:spPr>
        <p:txBody>
          <a:bodyPr wrap="square" lIns="0" tIns="0" rIns="0" bIns="0">
            <a:spAutoFit/>
          </a:bodyPr>
          <a:lstStyle/>
          <a:p>
            <a:pPr>
              <a:spcAft>
                <a:spcPts val="1000"/>
              </a:spcAft>
              <a:buNone/>
            </a:pPr>
            <a:r>
              <a:rPr sz="1300" b="1" i="0">
                <a:solidFill>
                  <a:srgbClr val="222222"/>
                </a:solidFill>
                <a:latin typeface="Arial"/>
              </a:rPr>
              <a:t>The idea. </a:t>
            </a:r>
            <a:r>
              <a:rPr sz="1300" b="0" i="0">
                <a:solidFill>
                  <a:srgbClr val="222222"/>
                </a:solidFill>
                <a:latin typeface="Arial"/>
              </a:rPr>
              <a:t>Equal-probability quantile bins under 𝒩(0, 1).</a:t>
            </a:r>
          </a:p>
          <a:p>
            <a:pPr>
              <a:spcAft>
                <a:spcPts val="0"/>
              </a:spcAft>
              <a:buNone/>
            </a:pPr>
            <a:r>
              <a:rPr sz="1300" b="1" i="0">
                <a:solidFill>
                  <a:srgbClr val="222222"/>
                </a:solidFill>
                <a:latin typeface="Arial"/>
              </a:rPr>
              <a:t>The shape. </a:t>
            </a:r>
            <a:r>
              <a:rPr sz="1300" b="0" i="0">
                <a:solidFill>
                  <a:srgbClr val="222222"/>
                </a:solidFill>
                <a:latin typeface="Arial"/>
              </a:rPr>
              <a:t>Dense near 0, sparse in tails.</a:t>
            </a:r>
          </a:p>
        </p:txBody>
      </p:sp>
      <p:pic>
        <p:nvPicPr>
          <p:cNvPr id="311" name="Google Shape;311;p61"/>
          <p:cNvPicPr preferRelativeResize="0"/>
          <p:nvPr/>
        </p:nvPicPr>
        <p:blipFill rotWithShape="1">
          <a:blip r:embed="rId4">
            <a:alphaModFix/>
          </a:blip>
          <a:srcRect t="16334" b="28982"/>
          <a:stretch/>
        </p:blipFill>
        <p:spPr>
          <a:xfrm>
            <a:off x="4617720" y="1737360"/>
            <a:ext cx="4160520" cy="1587137"/>
          </a:xfrm>
          <a:prstGeom prst="rect">
            <a:avLst/>
          </a:prstGeom>
          <a:noFill/>
          <a:ln>
            <a:noFill/>
          </a:ln>
        </p:spPr>
      </p:pic>
      <p:sp>
        <p:nvSpPr>
          <p:cNvPr id="312" name="TB bell caption"/>
          <p:cNvSpPr txBox="1"/>
          <p:nvPr/>
        </p:nvSpPr>
        <p:spPr>
          <a:xfrm>
            <a:off x="4617720" y="3415937"/>
            <a:ext cx="4160520" cy="292608"/>
          </a:xfrm>
          <a:prstGeom prst="rect">
            <a:avLst/>
          </a:prstGeom>
          <a:noFill/>
        </p:spPr>
        <p:txBody>
          <a:bodyPr wrap="square" lIns="0" rIns="0">
            <a:spAutoFit/>
          </a:bodyPr>
          <a:lstStyle/>
          <a:p>
            <a:pPr algn="ctr"/>
            <a:r>
              <a:rPr sz="1000" i="1">
                <a:solidFill>
                  <a:srgbClr val="595959"/>
                </a:solidFill>
                <a:latin typeface="Arial"/>
              </a:rPr>
              <a:t>Quantile bins: dense near 0 where weights actually live, sparse in the tails.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10" name="Google Shape;310;p61"/>
          <p:cNvSpPr txBox="1">
            <a:spLocks noGrp="1"/>
          </p:cNvSpPr>
          <p:nvPr>
            <p:ph type="body" idx="4294967295"/>
          </p:nvPr>
        </p:nvSpPr>
        <p:spPr>
          <a:xfrm>
            <a:off x="310896" y="1737360"/>
            <a:ext cx="4206240" cy="292608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600"/>
              </a:spcAft>
              <a:buClr>
                <a:schemeClr val="dk1"/>
              </a:buClr>
              <a:buSzPct val="116667"/>
              <a:buNone/>
            </a:pPr>
            <a:r>
              <a:rPr sz="1200" b="0" i="0">
                <a:solidFill>
                  <a:srgbClr val="222222"/>
                </a:solidFill>
                <a:latin typeface="Arial"/>
              </a:rPr>
              <a:t>1.  Sample 8 evenly-spaced quantiles from the negative half of 𝒩(0, 1).</a:t>
            </a:r>
            <a:endParaRPr/>
          </a:p>
          <a:p>
            <a:pPr>
              <a:spcAft>
                <a:spcPts val="600"/>
              </a:spcAft>
              <a:buNone/>
            </a:pPr>
            <a:r>
              <a:rPr sz="1200" b="0" i="0">
                <a:solidFill>
                  <a:srgbClr val="222222"/>
                </a:solidFill>
                <a:latin typeface="Arial"/>
              </a:rPr>
              <a:t>2.  Sample 7 evenly-spaced quantiles from the positive half of 𝒩(0, 1).</a:t>
            </a:r>
          </a:p>
          <a:p>
            <a:pPr>
              <a:spcAft>
                <a:spcPts val="600"/>
              </a:spcAft>
              <a:buNone/>
            </a:pPr>
            <a:r>
              <a:rPr sz="1200" b="0" i="0">
                <a:solidFill>
                  <a:srgbClr val="222222"/>
                </a:solidFill>
                <a:latin typeface="Arial"/>
              </a:rPr>
              <a:t>3.  Compute z-scores for each quantile.</a:t>
            </a:r>
          </a:p>
          <a:p>
            <a:pPr>
              <a:spcAft>
                <a:spcPts val="600"/>
              </a:spcAft>
              <a:buNone/>
            </a:pPr>
            <a:r>
              <a:rPr sz="1200" b="0" i="0">
                <a:solidFill>
                  <a:srgbClr val="222222"/>
                </a:solidFill>
                <a:latin typeface="Arial"/>
              </a:rPr>
              <a:t>4.  Concatenate: set I + {0} + set II  =  16 values.</a:t>
            </a:r>
          </a:p>
          <a:p>
            <a:pPr>
              <a:spcAft>
                <a:spcPts val="600"/>
              </a:spcAft>
              <a:buNone/>
            </a:pPr>
            <a:r>
              <a:rPr sz="1200" b="0" i="0">
                <a:solidFill>
                  <a:srgbClr val="222222"/>
                </a:solidFill>
                <a:latin typeface="Arial"/>
              </a:rPr>
              <a:t>5.  Normalize by the absolute maximum → range [-1, 1].</a:t>
            </a:r>
          </a:p>
          <a:p>
            <a:pPr>
              <a:spcAft>
                <a:spcPts val="600"/>
              </a:spcAft>
              <a:buNone/>
            </a:pPr>
            <a:endParaRPr sz="1200" b="0" i="0">
              <a:solidFill>
                <a:srgbClr val="222222"/>
              </a:solidFill>
              <a:latin typeface="Arial"/>
            </a:endParaRPr>
          </a:p>
          <a:p>
            <a:pPr>
              <a:spcAft>
                <a:spcPts val="600"/>
              </a:spcAft>
              <a:buNone/>
            </a:pPr>
            <a:r>
              <a:rPr sz="1100" b="0" i="1">
                <a:solidFill>
                  <a:srgbClr val="595959"/>
                </a:solidFill>
                <a:latin typeface="Arial"/>
              </a:rPr>
              <a:t>At quantize time: snap each weight to the nearest of these 16 values.</a:t>
            </a:r>
          </a:p>
        </p:txBody>
      </p:sp>
      <p:sp>
        <p:nvSpPr>
          <p:cNvPr id="312" name="TB title"/>
          <p:cNvSpPr txBox="1"/>
          <p:nvPr/>
        </p:nvSpPr>
        <p:spPr>
          <a:xfrm>
            <a:off x="310896" y="320040"/>
            <a:ext cx="8522208" cy="731520"/>
          </a:xfrm>
          <a:prstGeom prst="rect">
            <a:avLst/>
          </a:prstGeom>
          <a:noFill/>
        </p:spPr>
        <p:txBody>
          <a:bodyPr wrap="square" lIns="0" tIns="0" rIns="0" bIns="0">
            <a:spAutoFit/>
          </a:bodyPr>
          <a:lstStyle/>
          <a:p>
            <a:r>
              <a:rPr sz="2200" b="1">
                <a:solidFill>
                  <a:srgbClr val="222222"/>
                </a:solidFill>
                <a:latin typeface="Arial"/>
              </a:rPr>
              <a:t>NF4: how the 16 values are constructed</a:t>
            </a:r>
          </a:p>
        </p:txBody>
      </p:sp>
      <p:sp>
        <p:nvSpPr>
          <p:cNvPr id="313" name="BG title rule"/>
          <p:cNvSpPr/>
          <p:nvPr/>
        </p:nvSpPr>
        <p:spPr>
          <a:xfrm>
            <a:off x="310896" y="1060704"/>
            <a:ext cx="548640" cy="27432"/>
          </a:xfrm>
          <a:prstGeom prst="rect">
            <a:avLst/>
          </a:prstGeom>
          <a:solidFill>
            <a:srgbClr val="428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6" name="PageNum 21"/>
          <p:cNvSpPr txBox="1"/>
          <p:nvPr/>
        </p:nvSpPr>
        <p:spPr>
          <a:xfrm>
            <a:off x="8595360" y="4892040"/>
            <a:ext cx="457200" cy="201168"/>
          </a:xfrm>
          <a:prstGeom prst="rect">
            <a:avLst/>
          </a:prstGeom>
          <a:noFill/>
        </p:spPr>
        <p:txBody>
          <a:bodyPr wrap="square" lIns="0" tIns="0" rIns="0" bIns="0">
            <a:spAutoFit/>
          </a:bodyPr>
          <a:lstStyle/>
          <a:p>
            <a:pPr algn="r"/>
            <a:r>
              <a:rPr sz="900">
                <a:solidFill>
                  <a:srgbClr val="595959"/>
                </a:solidFill>
                <a:latin typeface="Arial"/>
              </a:rPr>
              <a:t>18</a:t>
            </a:r>
          </a:p>
        </p:txBody>
      </p:sp>
      <p:sp>
        <p:nvSpPr>
          <p:cNvPr id="317" name="TB takeaway"/>
          <p:cNvSpPr txBox="1"/>
          <p:nvPr/>
        </p:nvSpPr>
        <p:spPr>
          <a:xfrm>
            <a:off x="310896" y="1133856"/>
            <a:ext cx="8522208" cy="365760"/>
          </a:xfrm>
          <a:prstGeom prst="rect">
            <a:avLst/>
          </a:prstGeom>
          <a:noFill/>
        </p:spPr>
        <p:txBody>
          <a:bodyPr wrap="square" lIns="0" rIns="0">
            <a:spAutoFit/>
          </a:bodyPr>
          <a:lstStyle/>
          <a:p>
            <a:r>
              <a:rPr sz="1300" i="1">
                <a:solidFill>
                  <a:srgbClr val="4285F4"/>
                </a:solidFill>
                <a:latin typeface="Arial"/>
              </a:rPr>
              <a:t>The recipe: quantiles of 𝒩(0, 1) become the 16 target values.</a:t>
            </a:r>
          </a:p>
        </p:txBody>
      </p:sp>
      <p:sp>
        <p:nvSpPr>
          <p:cNvPr id="318" name="TB nl heading"/>
          <p:cNvSpPr txBox="1"/>
          <p:nvPr/>
        </p:nvSpPr>
        <p:spPr>
          <a:xfrm>
            <a:off x="4754880" y="1737360"/>
            <a:ext cx="4023359" cy="274320"/>
          </a:xfrm>
          <a:prstGeom prst="rect">
            <a:avLst/>
          </a:prstGeom>
          <a:noFill/>
        </p:spPr>
        <p:txBody>
          <a:bodyPr wrap="square" lIns="0">
            <a:spAutoFit/>
          </a:bodyPr>
          <a:lstStyle/>
          <a:p>
            <a:pPr algn="ctr"/>
            <a:r>
              <a:rPr sz="1400" b="1">
                <a:solidFill>
                  <a:srgbClr val="222222"/>
                </a:solidFill>
                <a:latin typeface="Arial"/>
              </a:rPr>
              <a:t>The 16 resulting values</a:t>
            </a:r>
          </a:p>
        </p:txBody>
      </p:sp>
      <p:sp>
        <p:nvSpPr>
          <p:cNvPr id="319" name="TB nl sub"/>
          <p:cNvSpPr txBox="1"/>
          <p:nvPr/>
        </p:nvSpPr>
        <p:spPr>
          <a:xfrm>
            <a:off x="4754880" y="2029968"/>
            <a:ext cx="4023359" cy="256032"/>
          </a:xfrm>
          <a:prstGeom prst="rect">
            <a:avLst/>
          </a:prstGeom>
          <a:noFill/>
        </p:spPr>
        <p:txBody>
          <a:bodyPr wrap="square" lIns="0">
            <a:spAutoFit/>
          </a:bodyPr>
          <a:lstStyle/>
          <a:p>
            <a:pPr algn="ctr"/>
            <a:r>
              <a:rPr sz="1100" i="1">
                <a:solidFill>
                  <a:srgbClr val="595959"/>
                </a:solidFill>
                <a:latin typeface="Arial"/>
              </a:rPr>
              <a:t>Dense near 0 (where weights live). Sparse in the tails.</a:t>
            </a:r>
          </a:p>
        </p:txBody>
      </p:sp>
      <p:sp>
        <p:nvSpPr>
          <p:cNvPr id="320" name="NL line"/>
          <p:cNvSpPr/>
          <p:nvPr/>
        </p:nvSpPr>
        <p:spPr>
          <a:xfrm>
            <a:off x="4754880" y="2834640"/>
            <a:ext cx="4023359" cy="18288"/>
          </a:xfrm>
          <a:prstGeom prst="rect">
            <a:avLst/>
          </a:prstGeom>
          <a:solidFill>
            <a:srgbClr val="2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1" name="NL tick 0"/>
          <p:cNvSpPr/>
          <p:nvPr/>
        </p:nvSpPr>
        <p:spPr>
          <a:xfrm>
            <a:off x="4745736" y="2752344"/>
            <a:ext cx="18288" cy="182880"/>
          </a:xfrm>
          <a:prstGeom prst="rect">
            <a:avLst/>
          </a:prstGeom>
          <a:solidFill>
            <a:srgbClr val="428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2" name="NL tick 1"/>
          <p:cNvSpPr/>
          <p:nvPr/>
        </p:nvSpPr>
        <p:spPr>
          <a:xfrm>
            <a:off x="5356884" y="2752344"/>
            <a:ext cx="18288" cy="182880"/>
          </a:xfrm>
          <a:prstGeom prst="rect">
            <a:avLst/>
          </a:prstGeom>
          <a:solidFill>
            <a:srgbClr val="428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3" name="NL tick 2"/>
          <p:cNvSpPr/>
          <p:nvPr/>
        </p:nvSpPr>
        <p:spPr>
          <a:xfrm>
            <a:off x="5701082" y="2752344"/>
            <a:ext cx="18288" cy="182880"/>
          </a:xfrm>
          <a:prstGeom prst="rect">
            <a:avLst/>
          </a:prstGeom>
          <a:solidFill>
            <a:srgbClr val="428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4" name="NL tick 3"/>
          <p:cNvSpPr/>
          <p:nvPr/>
        </p:nvSpPr>
        <p:spPr>
          <a:xfrm>
            <a:off x="5963003" y="2752344"/>
            <a:ext cx="18288" cy="182880"/>
          </a:xfrm>
          <a:prstGeom prst="rect">
            <a:avLst/>
          </a:prstGeom>
          <a:solidFill>
            <a:srgbClr val="428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5" name="NL tick 4"/>
          <p:cNvSpPr/>
          <p:nvPr/>
        </p:nvSpPr>
        <p:spPr>
          <a:xfrm>
            <a:off x="6185294" y="2752344"/>
            <a:ext cx="18288" cy="182880"/>
          </a:xfrm>
          <a:prstGeom prst="rect">
            <a:avLst/>
          </a:prstGeom>
          <a:solidFill>
            <a:srgbClr val="428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6" name="NL tick 5"/>
          <p:cNvSpPr/>
          <p:nvPr/>
        </p:nvSpPr>
        <p:spPr>
          <a:xfrm>
            <a:off x="6385657" y="2752344"/>
            <a:ext cx="18288" cy="182880"/>
          </a:xfrm>
          <a:prstGeom prst="rect">
            <a:avLst/>
          </a:prstGeom>
          <a:solidFill>
            <a:srgbClr val="428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7" name="NL tick 6"/>
          <p:cNvSpPr/>
          <p:nvPr/>
        </p:nvSpPr>
        <p:spPr>
          <a:xfrm>
            <a:off x="6574353" y="2752344"/>
            <a:ext cx="18288" cy="182880"/>
          </a:xfrm>
          <a:prstGeom prst="rect">
            <a:avLst/>
          </a:prstGeom>
          <a:solidFill>
            <a:srgbClr val="428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8" name="NL tick 7"/>
          <p:cNvSpPr/>
          <p:nvPr/>
        </p:nvSpPr>
        <p:spPr>
          <a:xfrm>
            <a:off x="6757416" y="2752344"/>
            <a:ext cx="18288" cy="182880"/>
          </a:xfrm>
          <a:prstGeom prst="rect">
            <a:avLst/>
          </a:prstGeom>
          <a:solidFill>
            <a:srgbClr val="DC3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9" name="NL tick 8"/>
          <p:cNvSpPr/>
          <p:nvPr/>
        </p:nvSpPr>
        <p:spPr>
          <a:xfrm>
            <a:off x="6917545" y="2752344"/>
            <a:ext cx="18288" cy="182880"/>
          </a:xfrm>
          <a:prstGeom prst="rect">
            <a:avLst/>
          </a:prstGeom>
          <a:solidFill>
            <a:srgbClr val="428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0" name="NL tick 9"/>
          <p:cNvSpPr/>
          <p:nvPr/>
        </p:nvSpPr>
        <p:spPr>
          <a:xfrm>
            <a:off x="7081095" y="2752344"/>
            <a:ext cx="18288" cy="182880"/>
          </a:xfrm>
          <a:prstGeom prst="rect">
            <a:avLst/>
          </a:prstGeom>
          <a:solidFill>
            <a:srgbClr val="428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1" name="NL tick 10"/>
          <p:cNvSpPr/>
          <p:nvPr/>
        </p:nvSpPr>
        <p:spPr>
          <a:xfrm>
            <a:off x="7252490" y="2752344"/>
            <a:ext cx="18288" cy="182880"/>
          </a:xfrm>
          <a:prstGeom prst="rect">
            <a:avLst/>
          </a:prstGeom>
          <a:solidFill>
            <a:srgbClr val="428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2" name="NL tick 11"/>
          <p:cNvSpPr/>
          <p:nvPr/>
        </p:nvSpPr>
        <p:spPr>
          <a:xfrm>
            <a:off x="7437162" y="2752344"/>
            <a:ext cx="18288" cy="182880"/>
          </a:xfrm>
          <a:prstGeom prst="rect">
            <a:avLst/>
          </a:prstGeom>
          <a:solidFill>
            <a:srgbClr val="428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3" name="NL tick 12"/>
          <p:cNvSpPr/>
          <p:nvPr/>
        </p:nvSpPr>
        <p:spPr>
          <a:xfrm>
            <a:off x="7643963" y="2752344"/>
            <a:ext cx="18288" cy="182880"/>
          </a:xfrm>
          <a:prstGeom prst="rect">
            <a:avLst/>
          </a:prstGeom>
          <a:solidFill>
            <a:srgbClr val="428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4" name="NL tick 13"/>
          <p:cNvSpPr/>
          <p:nvPr/>
        </p:nvSpPr>
        <p:spPr>
          <a:xfrm>
            <a:off x="7889187" y="2752344"/>
            <a:ext cx="18288" cy="182880"/>
          </a:xfrm>
          <a:prstGeom prst="rect">
            <a:avLst/>
          </a:prstGeom>
          <a:solidFill>
            <a:srgbClr val="428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5" name="NL tick 14"/>
          <p:cNvSpPr/>
          <p:nvPr/>
        </p:nvSpPr>
        <p:spPr>
          <a:xfrm>
            <a:off x="8211860" y="2752344"/>
            <a:ext cx="18288" cy="182880"/>
          </a:xfrm>
          <a:prstGeom prst="rect">
            <a:avLst/>
          </a:prstGeom>
          <a:solidFill>
            <a:srgbClr val="428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6" name="NL tick 15"/>
          <p:cNvSpPr/>
          <p:nvPr/>
        </p:nvSpPr>
        <p:spPr>
          <a:xfrm>
            <a:off x="8769096" y="2752344"/>
            <a:ext cx="18288" cy="182880"/>
          </a:xfrm>
          <a:prstGeom prst="rect">
            <a:avLst/>
          </a:prstGeom>
          <a:solidFill>
            <a:srgbClr val="428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7" name="NL label -1.0"/>
          <p:cNvSpPr txBox="1"/>
          <p:nvPr/>
        </p:nvSpPr>
        <p:spPr>
          <a:xfrm>
            <a:off x="4572000" y="2971800"/>
            <a:ext cx="365760" cy="201168"/>
          </a:xfrm>
          <a:prstGeom prst="rect">
            <a:avLst/>
          </a:prstGeom>
          <a:noFill/>
        </p:spPr>
        <p:txBody>
          <a:bodyPr wrap="none" lIns="0" tIns="0" rIns="0" bIns="0">
            <a:spAutoFit/>
          </a:bodyPr>
          <a:lstStyle/>
          <a:p>
            <a:pPr algn="ctr"/>
            <a:r>
              <a:rPr sz="900">
                <a:solidFill>
                  <a:srgbClr val="595959"/>
                </a:solidFill>
                <a:latin typeface="Arial"/>
              </a:rPr>
              <a:t>-1</a:t>
            </a:r>
          </a:p>
        </p:txBody>
      </p:sp>
      <p:sp>
        <p:nvSpPr>
          <p:cNvPr id="338" name="NL label 0.0"/>
          <p:cNvSpPr txBox="1"/>
          <p:nvPr/>
        </p:nvSpPr>
        <p:spPr>
          <a:xfrm>
            <a:off x="6583680" y="2971800"/>
            <a:ext cx="365760" cy="201168"/>
          </a:xfrm>
          <a:prstGeom prst="rect">
            <a:avLst/>
          </a:prstGeom>
          <a:noFill/>
        </p:spPr>
        <p:txBody>
          <a:bodyPr wrap="none" lIns="0" tIns="0" rIns="0" bIns="0">
            <a:spAutoFit/>
          </a:bodyPr>
          <a:lstStyle/>
          <a:p>
            <a:pPr algn="ctr"/>
            <a:r>
              <a:rPr sz="900">
                <a:solidFill>
                  <a:srgbClr val="595959"/>
                </a:solidFill>
                <a:latin typeface="Arial"/>
              </a:rPr>
              <a:t>0</a:t>
            </a:r>
          </a:p>
        </p:txBody>
      </p:sp>
      <p:sp>
        <p:nvSpPr>
          <p:cNvPr id="339" name="NL label 1.0"/>
          <p:cNvSpPr txBox="1"/>
          <p:nvPr/>
        </p:nvSpPr>
        <p:spPr>
          <a:xfrm>
            <a:off x="8595360" y="2971800"/>
            <a:ext cx="365760" cy="201168"/>
          </a:xfrm>
          <a:prstGeom prst="rect">
            <a:avLst/>
          </a:prstGeom>
          <a:noFill/>
        </p:spPr>
        <p:txBody>
          <a:bodyPr wrap="none" lIns="0" tIns="0" rIns="0" bIns="0">
            <a:spAutoFit/>
          </a:bodyPr>
          <a:lstStyle/>
          <a:p>
            <a:pPr algn="ctr"/>
            <a:r>
              <a:rPr sz="900">
                <a:solidFill>
                  <a:srgbClr val="595959"/>
                </a:solidFill>
                <a:latin typeface="Arial"/>
              </a:rPr>
              <a:t>1</a:t>
            </a:r>
          </a:p>
        </p:txBody>
      </p:sp>
      <p:sp>
        <p:nvSpPr>
          <p:cNvPr id="340" name="TB nl anno"/>
          <p:cNvSpPr txBox="1"/>
          <p:nvPr/>
        </p:nvSpPr>
        <p:spPr>
          <a:xfrm>
            <a:off x="4754880" y="3429000"/>
            <a:ext cx="4023359" cy="256032"/>
          </a:xfrm>
          <a:prstGeom prst="rect">
            <a:avLst/>
          </a:prstGeom>
          <a:noFill/>
        </p:spPr>
        <p:txBody>
          <a:bodyPr wrap="square" lIns="0">
            <a:spAutoFit/>
          </a:bodyPr>
          <a:lstStyle/>
          <a:p>
            <a:pPr algn="ctr"/>
            <a:r>
              <a:rPr sz="1000" i="1">
                <a:solidFill>
                  <a:srgbClr val="595959"/>
                </a:solidFill>
                <a:latin typeface="Arial"/>
              </a:rPr>
              <a:t>← sparse tail        clustered near zero        sparse tail →</a:t>
            </a:r>
          </a:p>
        </p:txBody>
      </p:sp>
      <p:sp>
        <p:nvSpPr>
          <p:cNvPr id="341" name="TB nl why"/>
          <p:cNvSpPr txBox="1"/>
          <p:nvPr/>
        </p:nvSpPr>
        <p:spPr>
          <a:xfrm>
            <a:off x="4754880" y="3749039"/>
            <a:ext cx="4023359" cy="548640"/>
          </a:xfrm>
          <a:prstGeom prst="rect">
            <a:avLst/>
          </a:prstGeom>
          <a:noFill/>
        </p:spPr>
        <p:txBody>
          <a:bodyPr wrap="square" lIns="0">
            <a:spAutoFit/>
          </a:bodyPr>
          <a:lstStyle/>
          <a:p>
            <a:pPr algn="ctr"/>
            <a:r>
              <a:rPr sz="1100">
                <a:solidFill>
                  <a:srgbClr val="222222"/>
                </a:solidFill>
                <a:latin typeface="Arial"/>
              </a:rPr>
              <a:t>Each bin holds equal probability mass under 𝒩(0, 1).</a:t>
            </a:r>
          </a:p>
          <a:p>
            <a:pPr algn="ctr"/>
            <a:r>
              <a:rPr sz="1000" i="1">
                <a:solidFill>
                  <a:srgbClr val="595959"/>
                </a:solidFill>
                <a:latin typeface="Arial"/>
              </a:rPr>
              <a:t>Reconstruction error is minimized for normally-distributed weights.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B title"/>
          <p:cNvSpPr txBox="1"/>
          <p:nvPr/>
        </p:nvSpPr>
        <p:spPr>
          <a:xfrm>
            <a:off x="310896" y="320040"/>
            <a:ext cx="8522208" cy="731520"/>
          </a:xfrm>
          <a:prstGeom prst="rect">
            <a:avLst/>
          </a:prstGeom>
          <a:noFill/>
        </p:spPr>
        <p:txBody>
          <a:bodyPr wrap="square" lIns="0" tIns="0" rIns="0" bIns="0">
            <a:spAutoFit/>
          </a:bodyPr>
          <a:lstStyle/>
          <a:p>
            <a:r>
              <a:rPr sz="2200" b="1" i="0">
                <a:solidFill>
                  <a:srgbClr val="222222"/>
                </a:solidFill>
                <a:latin typeface="Arial"/>
              </a:rPr>
              <a:t>NF4 vs naive Int4 and FP4</a:t>
            </a:r>
          </a:p>
        </p:txBody>
      </p:sp>
      <p:sp>
        <p:nvSpPr>
          <p:cNvPr id="3" name="BG title rule"/>
          <p:cNvSpPr/>
          <p:nvPr/>
        </p:nvSpPr>
        <p:spPr>
          <a:xfrm>
            <a:off x="310896" y="1060704"/>
            <a:ext cx="548640" cy="27432"/>
          </a:xfrm>
          <a:prstGeom prst="rect">
            <a:avLst/>
          </a:prstGeom>
          <a:solidFill>
            <a:srgbClr val="428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B takeaway"/>
          <p:cNvSpPr txBox="1"/>
          <p:nvPr/>
        </p:nvSpPr>
        <p:spPr>
          <a:xfrm>
            <a:off x="310896" y="1133856"/>
            <a:ext cx="8522208" cy="292608"/>
          </a:xfrm>
          <a:prstGeom prst="rect">
            <a:avLst/>
          </a:prstGeom>
          <a:noFill/>
        </p:spPr>
        <p:txBody>
          <a:bodyPr wrap="square" lIns="0" tIns="0" rIns="0" bIns="0">
            <a:spAutoFit/>
          </a:bodyPr>
          <a:lstStyle/>
          <a:p>
            <a:r>
              <a:rPr sz="1300" i="1">
                <a:solidFill>
                  <a:srgbClr val="4285F4"/>
                </a:solidFill>
                <a:latin typeface="Arial"/>
              </a:rPr>
              <a:t>Where each format puts its 16 bins. NF4 aligns bins with where weights actually live.</a:t>
            </a:r>
          </a:p>
        </p:txBody>
      </p:sp>
      <p:sp>
        <p:nvSpPr>
          <p:cNvPr id="6" name="TB source"/>
          <p:cNvSpPr txBox="1"/>
          <p:nvPr/>
        </p:nvSpPr>
        <p:spPr>
          <a:xfrm>
            <a:off x="73152" y="4892040"/>
            <a:ext cx="7772400" cy="201168"/>
          </a:xfrm>
          <a:prstGeom prst="rect">
            <a:avLst/>
          </a:prstGeom>
          <a:noFill/>
        </p:spPr>
        <p:txBody>
          <a:bodyPr wrap="square" lIns="0">
            <a:spAutoFit/>
          </a:bodyPr>
          <a:lstStyle/>
          <a:p>
            <a:r>
              <a:rPr sz="900" u="sng">
                <a:solidFill>
                  <a:srgbClr val="595959"/>
                </a:solidFill>
                <a:latin typeface="Arial"/>
                <a:hlinkClick r:id="rId3"/>
              </a:rPr>
              <a:t>Dettmers et al. 2023</a:t>
            </a:r>
          </a:p>
        </p:txBody>
      </p:sp>
      <p:sp>
        <p:nvSpPr>
          <p:cNvPr id="7" name="PageNum 22"/>
          <p:cNvSpPr txBox="1"/>
          <p:nvPr/>
        </p:nvSpPr>
        <p:spPr>
          <a:xfrm>
            <a:off x="8595360" y="4892040"/>
            <a:ext cx="457200" cy="201168"/>
          </a:xfrm>
          <a:prstGeom prst="rect">
            <a:avLst/>
          </a:prstGeom>
          <a:noFill/>
        </p:spPr>
        <p:txBody>
          <a:bodyPr wrap="square" lIns="0" tIns="0" rIns="0" bIns="0">
            <a:spAutoFit/>
          </a:bodyPr>
          <a:lstStyle/>
          <a:p>
            <a:pPr algn="r"/>
            <a:r>
              <a:rPr sz="900">
                <a:solidFill>
                  <a:srgbClr val="595959"/>
                </a:solidFill>
                <a:latin typeface="Arial"/>
              </a:rPr>
              <a:t>19</a:t>
            </a:r>
          </a:p>
        </p:txBody>
      </p:sp>
      <p:sp>
        <p:nvSpPr>
          <p:cNvPr id="8" name="lbl Int4"/>
          <p:cNvSpPr txBox="1"/>
          <p:nvPr/>
        </p:nvSpPr>
        <p:spPr>
          <a:xfrm>
            <a:off x="310896" y="1828800"/>
            <a:ext cx="1554480" cy="274320"/>
          </a:xfrm>
          <a:prstGeom prst="rect">
            <a:avLst/>
          </a:prstGeom>
          <a:noFill/>
        </p:spPr>
        <p:txBody>
          <a:bodyPr wrap="square" lIns="0" tIns="0" rIns="0" bIns="0">
            <a:spAutoFit/>
          </a:bodyPr>
          <a:lstStyle/>
          <a:p>
            <a:r>
              <a:rPr sz="1400" b="1" i="0">
                <a:solidFill>
                  <a:srgbClr val="222222"/>
                </a:solidFill>
                <a:latin typeface="Arial"/>
              </a:rPr>
              <a:t>Int4</a:t>
            </a:r>
          </a:p>
        </p:txBody>
      </p:sp>
      <p:sp>
        <p:nvSpPr>
          <p:cNvPr id="9" name="line Int4"/>
          <p:cNvSpPr/>
          <p:nvPr/>
        </p:nvSpPr>
        <p:spPr>
          <a:xfrm>
            <a:off x="2011680" y="1920240"/>
            <a:ext cx="6035040" cy="18288"/>
          </a:xfrm>
          <a:prstGeom prst="rect">
            <a:avLst/>
          </a:prstGeom>
          <a:solidFill>
            <a:srgbClr val="2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ick Int4 -1.0"/>
          <p:cNvSpPr/>
          <p:nvPr/>
        </p:nvSpPr>
        <p:spPr>
          <a:xfrm>
            <a:off x="2004364" y="1819656"/>
            <a:ext cx="14630" cy="219456"/>
          </a:xfrm>
          <a:prstGeom prst="rect">
            <a:avLst/>
          </a:prstGeom>
          <a:solidFill>
            <a:srgbClr val="2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ick Int4 -0.8666666666666667"/>
          <p:cNvSpPr/>
          <p:nvPr/>
        </p:nvSpPr>
        <p:spPr>
          <a:xfrm>
            <a:off x="2406700" y="1819656"/>
            <a:ext cx="14630" cy="219456"/>
          </a:xfrm>
          <a:prstGeom prst="rect">
            <a:avLst/>
          </a:prstGeom>
          <a:solidFill>
            <a:srgbClr val="2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ick Int4 -0.7333333333333334"/>
          <p:cNvSpPr/>
          <p:nvPr/>
        </p:nvSpPr>
        <p:spPr>
          <a:xfrm>
            <a:off x="2809036" y="1819656"/>
            <a:ext cx="14630" cy="219456"/>
          </a:xfrm>
          <a:prstGeom prst="rect">
            <a:avLst/>
          </a:prstGeom>
          <a:solidFill>
            <a:srgbClr val="2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ick Int4 -0.6"/>
          <p:cNvSpPr/>
          <p:nvPr/>
        </p:nvSpPr>
        <p:spPr>
          <a:xfrm>
            <a:off x="3211372" y="1819656"/>
            <a:ext cx="14630" cy="219456"/>
          </a:xfrm>
          <a:prstGeom prst="rect">
            <a:avLst/>
          </a:prstGeom>
          <a:solidFill>
            <a:srgbClr val="2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ick Int4 -0.4666666666666667"/>
          <p:cNvSpPr/>
          <p:nvPr/>
        </p:nvSpPr>
        <p:spPr>
          <a:xfrm>
            <a:off x="3613708" y="1819656"/>
            <a:ext cx="14630" cy="219456"/>
          </a:xfrm>
          <a:prstGeom prst="rect">
            <a:avLst/>
          </a:prstGeom>
          <a:solidFill>
            <a:srgbClr val="2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ick Int4 -0.33333333333333337"/>
          <p:cNvSpPr/>
          <p:nvPr/>
        </p:nvSpPr>
        <p:spPr>
          <a:xfrm>
            <a:off x="4016044" y="1819656"/>
            <a:ext cx="14630" cy="219456"/>
          </a:xfrm>
          <a:prstGeom prst="rect">
            <a:avLst/>
          </a:prstGeom>
          <a:solidFill>
            <a:srgbClr val="2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ick Int4 -0.19999999999999996"/>
          <p:cNvSpPr/>
          <p:nvPr/>
        </p:nvSpPr>
        <p:spPr>
          <a:xfrm>
            <a:off x="4418380" y="1819656"/>
            <a:ext cx="14630" cy="219456"/>
          </a:xfrm>
          <a:prstGeom prst="rect">
            <a:avLst/>
          </a:prstGeom>
          <a:solidFill>
            <a:srgbClr val="2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ick Int4 -0.06666666666666665"/>
          <p:cNvSpPr/>
          <p:nvPr/>
        </p:nvSpPr>
        <p:spPr>
          <a:xfrm>
            <a:off x="4820716" y="1819656"/>
            <a:ext cx="14630" cy="219456"/>
          </a:xfrm>
          <a:prstGeom prst="rect">
            <a:avLst/>
          </a:prstGeom>
          <a:solidFill>
            <a:srgbClr val="2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ick Int4 0.06666666666666665"/>
          <p:cNvSpPr/>
          <p:nvPr/>
        </p:nvSpPr>
        <p:spPr>
          <a:xfrm>
            <a:off x="5223052" y="1819656"/>
            <a:ext cx="14630" cy="219456"/>
          </a:xfrm>
          <a:prstGeom prst="rect">
            <a:avLst/>
          </a:prstGeom>
          <a:solidFill>
            <a:srgbClr val="2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ick Int4 0.19999999999999996"/>
          <p:cNvSpPr/>
          <p:nvPr/>
        </p:nvSpPr>
        <p:spPr>
          <a:xfrm>
            <a:off x="5625388" y="1819656"/>
            <a:ext cx="14630" cy="219456"/>
          </a:xfrm>
          <a:prstGeom prst="rect">
            <a:avLst/>
          </a:prstGeom>
          <a:solidFill>
            <a:srgbClr val="2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ick Int4 0.33333333333333326"/>
          <p:cNvSpPr/>
          <p:nvPr/>
        </p:nvSpPr>
        <p:spPr>
          <a:xfrm>
            <a:off x="6027724" y="1819656"/>
            <a:ext cx="14630" cy="219456"/>
          </a:xfrm>
          <a:prstGeom prst="rect">
            <a:avLst/>
          </a:prstGeom>
          <a:solidFill>
            <a:srgbClr val="2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ick Int4 0.46666666666666656"/>
          <p:cNvSpPr/>
          <p:nvPr/>
        </p:nvSpPr>
        <p:spPr>
          <a:xfrm>
            <a:off x="6430060" y="1819656"/>
            <a:ext cx="14630" cy="219456"/>
          </a:xfrm>
          <a:prstGeom prst="rect">
            <a:avLst/>
          </a:prstGeom>
          <a:solidFill>
            <a:srgbClr val="2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ick Int4 0.6000000000000001"/>
          <p:cNvSpPr/>
          <p:nvPr/>
        </p:nvSpPr>
        <p:spPr>
          <a:xfrm>
            <a:off x="6832396" y="1819656"/>
            <a:ext cx="14630" cy="219456"/>
          </a:xfrm>
          <a:prstGeom prst="rect">
            <a:avLst/>
          </a:prstGeom>
          <a:solidFill>
            <a:srgbClr val="2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ick Int4 0.7333333333333334"/>
          <p:cNvSpPr/>
          <p:nvPr/>
        </p:nvSpPr>
        <p:spPr>
          <a:xfrm>
            <a:off x="7234732" y="1819656"/>
            <a:ext cx="14630" cy="219456"/>
          </a:xfrm>
          <a:prstGeom prst="rect">
            <a:avLst/>
          </a:prstGeom>
          <a:solidFill>
            <a:srgbClr val="2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ick Int4 0.8666666666666667"/>
          <p:cNvSpPr/>
          <p:nvPr/>
        </p:nvSpPr>
        <p:spPr>
          <a:xfrm>
            <a:off x="7637068" y="1819656"/>
            <a:ext cx="14630" cy="219456"/>
          </a:xfrm>
          <a:prstGeom prst="rect">
            <a:avLst/>
          </a:prstGeom>
          <a:solidFill>
            <a:srgbClr val="2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ick Int4 1.0"/>
          <p:cNvSpPr/>
          <p:nvPr/>
        </p:nvSpPr>
        <p:spPr>
          <a:xfrm>
            <a:off x="8039404" y="1819656"/>
            <a:ext cx="14630" cy="219456"/>
          </a:xfrm>
          <a:prstGeom prst="rect">
            <a:avLst/>
          </a:prstGeom>
          <a:solidFill>
            <a:srgbClr val="2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cap Int4"/>
          <p:cNvSpPr txBox="1"/>
          <p:nvPr/>
        </p:nvSpPr>
        <p:spPr>
          <a:xfrm>
            <a:off x="2011680" y="2103120"/>
            <a:ext cx="6035040" cy="219456"/>
          </a:xfrm>
          <a:prstGeom prst="rect">
            <a:avLst/>
          </a:prstGeom>
          <a:noFill/>
        </p:spPr>
        <p:txBody>
          <a:bodyPr wrap="square" lIns="0" tIns="0" rIns="0" bIns="0">
            <a:spAutoFit/>
          </a:bodyPr>
          <a:lstStyle/>
          <a:p>
            <a:pPr algn="ctr"/>
            <a:r>
              <a:rPr sz="1000" b="0" i="1">
                <a:solidFill>
                  <a:srgbClr val="595959"/>
                </a:solidFill>
                <a:latin typeface="Arial"/>
              </a:rPr>
              <a:t>Uniform spacing. Half the bins land in tails where weights rarely go.</a:t>
            </a:r>
          </a:p>
        </p:txBody>
      </p:sp>
      <p:sp>
        <p:nvSpPr>
          <p:cNvPr id="27" name="lbl FP4"/>
          <p:cNvSpPr txBox="1"/>
          <p:nvPr/>
        </p:nvSpPr>
        <p:spPr>
          <a:xfrm>
            <a:off x="310896" y="2697479"/>
            <a:ext cx="1554480" cy="274320"/>
          </a:xfrm>
          <a:prstGeom prst="rect">
            <a:avLst/>
          </a:prstGeom>
          <a:noFill/>
        </p:spPr>
        <p:txBody>
          <a:bodyPr wrap="square" lIns="0" tIns="0" rIns="0" bIns="0">
            <a:spAutoFit/>
          </a:bodyPr>
          <a:lstStyle/>
          <a:p>
            <a:r>
              <a:rPr sz="1400" b="1" i="0">
                <a:solidFill>
                  <a:srgbClr val="222222"/>
                </a:solidFill>
                <a:latin typeface="Arial"/>
              </a:rPr>
              <a:t>FP4</a:t>
            </a:r>
          </a:p>
        </p:txBody>
      </p:sp>
      <p:sp>
        <p:nvSpPr>
          <p:cNvPr id="28" name="line FP4"/>
          <p:cNvSpPr/>
          <p:nvPr/>
        </p:nvSpPr>
        <p:spPr>
          <a:xfrm>
            <a:off x="2011680" y="2788920"/>
            <a:ext cx="6035040" cy="18288"/>
          </a:xfrm>
          <a:prstGeom prst="rect">
            <a:avLst/>
          </a:prstGeom>
          <a:solidFill>
            <a:srgbClr val="2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ick FP4 -1.0"/>
          <p:cNvSpPr/>
          <p:nvPr/>
        </p:nvSpPr>
        <p:spPr>
          <a:xfrm>
            <a:off x="2004364" y="2688336"/>
            <a:ext cx="14630" cy="219456"/>
          </a:xfrm>
          <a:prstGeom prst="rect">
            <a:avLst/>
          </a:prstGeom>
          <a:solidFill>
            <a:srgbClr val="2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ick FP4 -0.667"/>
          <p:cNvSpPr/>
          <p:nvPr/>
        </p:nvSpPr>
        <p:spPr>
          <a:xfrm>
            <a:off x="3009198" y="2688336"/>
            <a:ext cx="14630" cy="219456"/>
          </a:xfrm>
          <a:prstGeom prst="rect">
            <a:avLst/>
          </a:prstGeom>
          <a:solidFill>
            <a:srgbClr val="2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ick FP4 -0.5"/>
          <p:cNvSpPr/>
          <p:nvPr/>
        </p:nvSpPr>
        <p:spPr>
          <a:xfrm>
            <a:off x="3513124" y="2688336"/>
            <a:ext cx="14630" cy="219456"/>
          </a:xfrm>
          <a:prstGeom prst="rect">
            <a:avLst/>
          </a:prstGeom>
          <a:solidFill>
            <a:srgbClr val="2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ick FP4 -0.333"/>
          <p:cNvSpPr/>
          <p:nvPr/>
        </p:nvSpPr>
        <p:spPr>
          <a:xfrm>
            <a:off x="4017050" y="2688336"/>
            <a:ext cx="14630" cy="219456"/>
          </a:xfrm>
          <a:prstGeom prst="rect">
            <a:avLst/>
          </a:prstGeom>
          <a:solidFill>
            <a:srgbClr val="2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ick FP4 -0.25"/>
          <p:cNvSpPr/>
          <p:nvPr/>
        </p:nvSpPr>
        <p:spPr>
          <a:xfrm>
            <a:off x="4267504" y="2688336"/>
            <a:ext cx="14630" cy="219456"/>
          </a:xfrm>
          <a:prstGeom prst="rect">
            <a:avLst/>
          </a:prstGeom>
          <a:solidFill>
            <a:srgbClr val="2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ick FP4 -0.167"/>
          <p:cNvSpPr/>
          <p:nvPr/>
        </p:nvSpPr>
        <p:spPr>
          <a:xfrm>
            <a:off x="4517958" y="2688336"/>
            <a:ext cx="14630" cy="219456"/>
          </a:xfrm>
          <a:prstGeom prst="rect">
            <a:avLst/>
          </a:prstGeom>
          <a:solidFill>
            <a:srgbClr val="2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ick FP4 -0.083"/>
          <p:cNvSpPr/>
          <p:nvPr/>
        </p:nvSpPr>
        <p:spPr>
          <a:xfrm>
            <a:off x="4771430" y="2688336"/>
            <a:ext cx="14630" cy="219456"/>
          </a:xfrm>
          <a:prstGeom prst="rect">
            <a:avLst/>
          </a:prstGeom>
          <a:solidFill>
            <a:srgbClr val="2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ick FP4 0.0"/>
          <p:cNvSpPr/>
          <p:nvPr/>
        </p:nvSpPr>
        <p:spPr>
          <a:xfrm>
            <a:off x="5021884" y="2688336"/>
            <a:ext cx="14630" cy="219456"/>
          </a:xfrm>
          <a:prstGeom prst="rect">
            <a:avLst/>
          </a:prstGeom>
          <a:solidFill>
            <a:srgbClr val="2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ick FP4 0.083"/>
          <p:cNvSpPr/>
          <p:nvPr/>
        </p:nvSpPr>
        <p:spPr>
          <a:xfrm>
            <a:off x="5272338" y="2688336"/>
            <a:ext cx="14630" cy="219456"/>
          </a:xfrm>
          <a:prstGeom prst="rect">
            <a:avLst/>
          </a:prstGeom>
          <a:solidFill>
            <a:srgbClr val="2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ick FP4 0.167"/>
          <p:cNvSpPr/>
          <p:nvPr/>
        </p:nvSpPr>
        <p:spPr>
          <a:xfrm>
            <a:off x="5525810" y="2688336"/>
            <a:ext cx="14630" cy="219456"/>
          </a:xfrm>
          <a:prstGeom prst="rect">
            <a:avLst/>
          </a:prstGeom>
          <a:solidFill>
            <a:srgbClr val="2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ick FP4 0.25"/>
          <p:cNvSpPr/>
          <p:nvPr/>
        </p:nvSpPr>
        <p:spPr>
          <a:xfrm>
            <a:off x="5776264" y="2688336"/>
            <a:ext cx="14630" cy="219456"/>
          </a:xfrm>
          <a:prstGeom prst="rect">
            <a:avLst/>
          </a:prstGeom>
          <a:solidFill>
            <a:srgbClr val="2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ick FP4 0.333"/>
          <p:cNvSpPr/>
          <p:nvPr/>
        </p:nvSpPr>
        <p:spPr>
          <a:xfrm>
            <a:off x="6026718" y="2688336"/>
            <a:ext cx="14630" cy="219456"/>
          </a:xfrm>
          <a:prstGeom prst="rect">
            <a:avLst/>
          </a:prstGeom>
          <a:solidFill>
            <a:srgbClr val="2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ick FP4 0.5"/>
          <p:cNvSpPr/>
          <p:nvPr/>
        </p:nvSpPr>
        <p:spPr>
          <a:xfrm>
            <a:off x="6530644" y="2688336"/>
            <a:ext cx="14630" cy="219456"/>
          </a:xfrm>
          <a:prstGeom prst="rect">
            <a:avLst/>
          </a:prstGeom>
          <a:solidFill>
            <a:srgbClr val="2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ick FP4 0.667"/>
          <p:cNvSpPr/>
          <p:nvPr/>
        </p:nvSpPr>
        <p:spPr>
          <a:xfrm>
            <a:off x="7034570" y="2688336"/>
            <a:ext cx="14630" cy="219456"/>
          </a:xfrm>
          <a:prstGeom prst="rect">
            <a:avLst/>
          </a:prstGeom>
          <a:solidFill>
            <a:srgbClr val="2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ick FP4 1.0"/>
          <p:cNvSpPr/>
          <p:nvPr/>
        </p:nvSpPr>
        <p:spPr>
          <a:xfrm>
            <a:off x="8039404" y="2688336"/>
            <a:ext cx="14630" cy="219456"/>
          </a:xfrm>
          <a:prstGeom prst="rect">
            <a:avLst/>
          </a:prstGeom>
          <a:solidFill>
            <a:srgbClr val="2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cap FP4"/>
          <p:cNvSpPr txBox="1"/>
          <p:nvPr/>
        </p:nvSpPr>
        <p:spPr>
          <a:xfrm>
            <a:off x="2011680" y="2971800"/>
            <a:ext cx="6035040" cy="219456"/>
          </a:xfrm>
          <a:prstGeom prst="rect">
            <a:avLst/>
          </a:prstGeom>
          <a:noFill/>
        </p:spPr>
        <p:txBody>
          <a:bodyPr wrap="square" lIns="0" tIns="0" rIns="0" bIns="0">
            <a:spAutoFit/>
          </a:bodyPr>
          <a:lstStyle/>
          <a:p>
            <a:pPr algn="ctr"/>
            <a:r>
              <a:rPr sz="1000" b="0" i="1">
                <a:solidFill>
                  <a:srgbClr val="595959"/>
                </a:solidFill>
                <a:latin typeface="Arial"/>
              </a:rPr>
              <a:t>Denser in mid-range (magnitude scale). Closer, but still not matched to a normal.</a:t>
            </a:r>
          </a:p>
        </p:txBody>
      </p:sp>
      <p:sp>
        <p:nvSpPr>
          <p:cNvPr id="45" name="lbl NF4"/>
          <p:cNvSpPr txBox="1"/>
          <p:nvPr/>
        </p:nvSpPr>
        <p:spPr>
          <a:xfrm>
            <a:off x="310896" y="3566160"/>
            <a:ext cx="1554480" cy="274320"/>
          </a:xfrm>
          <a:prstGeom prst="rect">
            <a:avLst/>
          </a:prstGeom>
          <a:noFill/>
        </p:spPr>
        <p:txBody>
          <a:bodyPr wrap="square" lIns="0" tIns="0" rIns="0" bIns="0">
            <a:spAutoFit/>
          </a:bodyPr>
          <a:lstStyle/>
          <a:p>
            <a:r>
              <a:rPr sz="1400" b="1" i="0">
                <a:solidFill>
                  <a:srgbClr val="4285F4"/>
                </a:solidFill>
                <a:latin typeface="Arial"/>
              </a:rPr>
              <a:t>NF4</a:t>
            </a:r>
          </a:p>
        </p:txBody>
      </p:sp>
      <p:sp>
        <p:nvSpPr>
          <p:cNvPr id="46" name="line NF4"/>
          <p:cNvSpPr/>
          <p:nvPr/>
        </p:nvSpPr>
        <p:spPr>
          <a:xfrm>
            <a:off x="2011680" y="3657600"/>
            <a:ext cx="6035040" cy="18288"/>
          </a:xfrm>
          <a:prstGeom prst="rect">
            <a:avLst/>
          </a:prstGeom>
          <a:solidFill>
            <a:srgbClr val="2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ick NF4 -1.0"/>
          <p:cNvSpPr/>
          <p:nvPr/>
        </p:nvSpPr>
        <p:spPr>
          <a:xfrm>
            <a:off x="2004364" y="3557016"/>
            <a:ext cx="14630" cy="219456"/>
          </a:xfrm>
          <a:prstGeom prst="rect">
            <a:avLst/>
          </a:prstGeom>
          <a:solidFill>
            <a:srgbClr val="428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ick NF4 -0.6962"/>
          <p:cNvSpPr/>
          <p:nvPr/>
        </p:nvSpPr>
        <p:spPr>
          <a:xfrm>
            <a:off x="2921087" y="3557016"/>
            <a:ext cx="14630" cy="219456"/>
          </a:xfrm>
          <a:prstGeom prst="rect">
            <a:avLst/>
          </a:prstGeom>
          <a:solidFill>
            <a:srgbClr val="428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ick NF4 -0.5251"/>
          <p:cNvSpPr/>
          <p:nvPr/>
        </p:nvSpPr>
        <p:spPr>
          <a:xfrm>
            <a:off x="3437385" y="3557016"/>
            <a:ext cx="14630" cy="219456"/>
          </a:xfrm>
          <a:prstGeom prst="rect">
            <a:avLst/>
          </a:prstGeom>
          <a:solidFill>
            <a:srgbClr val="428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ick NF4 -0.3949"/>
          <p:cNvSpPr/>
          <p:nvPr/>
        </p:nvSpPr>
        <p:spPr>
          <a:xfrm>
            <a:off x="3830266" y="3557016"/>
            <a:ext cx="14630" cy="219456"/>
          </a:xfrm>
          <a:prstGeom prst="rect">
            <a:avLst/>
          </a:prstGeom>
          <a:solidFill>
            <a:srgbClr val="428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ick NF4 -0.2844"/>
          <p:cNvSpPr/>
          <p:nvPr/>
        </p:nvSpPr>
        <p:spPr>
          <a:xfrm>
            <a:off x="4163702" y="3557016"/>
            <a:ext cx="14630" cy="219456"/>
          </a:xfrm>
          <a:prstGeom prst="rect">
            <a:avLst/>
          </a:prstGeom>
          <a:solidFill>
            <a:srgbClr val="428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ick NF4 -0.1848"/>
          <p:cNvSpPr/>
          <p:nvPr/>
        </p:nvSpPr>
        <p:spPr>
          <a:xfrm>
            <a:off x="4464247" y="3557016"/>
            <a:ext cx="14630" cy="219456"/>
          </a:xfrm>
          <a:prstGeom prst="rect">
            <a:avLst/>
          </a:prstGeom>
          <a:solidFill>
            <a:srgbClr val="428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ick NF4 -0.091"/>
          <p:cNvSpPr/>
          <p:nvPr/>
        </p:nvSpPr>
        <p:spPr>
          <a:xfrm>
            <a:off x="4747290" y="3557016"/>
            <a:ext cx="14630" cy="219456"/>
          </a:xfrm>
          <a:prstGeom prst="rect">
            <a:avLst/>
          </a:prstGeom>
          <a:solidFill>
            <a:srgbClr val="428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ick NF4 0.0"/>
          <p:cNvSpPr/>
          <p:nvPr/>
        </p:nvSpPr>
        <p:spPr>
          <a:xfrm>
            <a:off x="5021884" y="3557016"/>
            <a:ext cx="14630" cy="219456"/>
          </a:xfrm>
          <a:prstGeom prst="rect">
            <a:avLst/>
          </a:prstGeom>
          <a:solidFill>
            <a:srgbClr val="428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ick NF4 0.0796"/>
          <p:cNvSpPr/>
          <p:nvPr/>
        </p:nvSpPr>
        <p:spPr>
          <a:xfrm>
            <a:off x="5262079" y="3557016"/>
            <a:ext cx="14630" cy="219456"/>
          </a:xfrm>
          <a:prstGeom prst="rect">
            <a:avLst/>
          </a:prstGeom>
          <a:solidFill>
            <a:srgbClr val="428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ick NF4 0.1609"/>
          <p:cNvSpPr/>
          <p:nvPr/>
        </p:nvSpPr>
        <p:spPr>
          <a:xfrm>
            <a:off x="5507403" y="3557016"/>
            <a:ext cx="14630" cy="219456"/>
          </a:xfrm>
          <a:prstGeom prst="rect">
            <a:avLst/>
          </a:prstGeom>
          <a:solidFill>
            <a:srgbClr val="428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ick NF4 0.2461"/>
          <p:cNvSpPr/>
          <p:nvPr/>
        </p:nvSpPr>
        <p:spPr>
          <a:xfrm>
            <a:off x="5764496" y="3557016"/>
            <a:ext cx="14630" cy="219456"/>
          </a:xfrm>
          <a:prstGeom prst="rect">
            <a:avLst/>
          </a:prstGeom>
          <a:solidFill>
            <a:srgbClr val="428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ick NF4 0.3379"/>
          <p:cNvSpPr/>
          <p:nvPr/>
        </p:nvSpPr>
        <p:spPr>
          <a:xfrm>
            <a:off x="6041504" y="3557016"/>
            <a:ext cx="14630" cy="219456"/>
          </a:xfrm>
          <a:prstGeom prst="rect">
            <a:avLst/>
          </a:prstGeom>
          <a:solidFill>
            <a:srgbClr val="428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ick NF4 0.4407"/>
          <p:cNvSpPr/>
          <p:nvPr/>
        </p:nvSpPr>
        <p:spPr>
          <a:xfrm>
            <a:off x="6351705" y="3557016"/>
            <a:ext cx="14630" cy="219456"/>
          </a:xfrm>
          <a:prstGeom prst="rect">
            <a:avLst/>
          </a:prstGeom>
          <a:solidFill>
            <a:srgbClr val="428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ick NF4 0.5626"/>
          <p:cNvSpPr/>
          <p:nvPr/>
        </p:nvSpPr>
        <p:spPr>
          <a:xfrm>
            <a:off x="6719541" y="3557016"/>
            <a:ext cx="14630" cy="219456"/>
          </a:xfrm>
          <a:prstGeom prst="rect">
            <a:avLst/>
          </a:prstGeom>
          <a:solidFill>
            <a:srgbClr val="428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ick NF4 0.723"/>
          <p:cNvSpPr/>
          <p:nvPr/>
        </p:nvSpPr>
        <p:spPr>
          <a:xfrm>
            <a:off x="7203551" y="3557016"/>
            <a:ext cx="14630" cy="219456"/>
          </a:xfrm>
          <a:prstGeom prst="rect">
            <a:avLst/>
          </a:prstGeom>
          <a:solidFill>
            <a:srgbClr val="428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ick NF4 1.0"/>
          <p:cNvSpPr/>
          <p:nvPr/>
        </p:nvSpPr>
        <p:spPr>
          <a:xfrm>
            <a:off x="8039404" y="3557016"/>
            <a:ext cx="14630" cy="219456"/>
          </a:xfrm>
          <a:prstGeom prst="rect">
            <a:avLst/>
          </a:prstGeom>
          <a:solidFill>
            <a:srgbClr val="428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cap NF4"/>
          <p:cNvSpPr txBox="1"/>
          <p:nvPr/>
        </p:nvSpPr>
        <p:spPr>
          <a:xfrm>
            <a:off x="2011680" y="4041648"/>
            <a:ext cx="6035040" cy="219456"/>
          </a:xfrm>
          <a:prstGeom prst="rect">
            <a:avLst/>
          </a:prstGeom>
          <a:noFill/>
        </p:spPr>
        <p:txBody>
          <a:bodyPr wrap="square" lIns="0" tIns="0" rIns="0" bIns="0">
            <a:spAutoFit/>
          </a:bodyPr>
          <a:lstStyle/>
          <a:p>
            <a:pPr algn="ctr"/>
            <a:r>
              <a:rPr sz="1000" b="0" i="1">
                <a:solidFill>
                  <a:srgbClr val="595959"/>
                </a:solidFill>
                <a:latin typeface="Arial"/>
              </a:rPr>
              <a:t>Bins land where weights live. Equal-probability quantiles under 𝒩(0, 1).</a:t>
            </a:r>
          </a:p>
        </p:txBody>
      </p:sp>
      <p:sp>
        <p:nvSpPr>
          <p:cNvPr id="64" name="TB summary"/>
          <p:cNvSpPr txBox="1"/>
          <p:nvPr/>
        </p:nvSpPr>
        <p:spPr>
          <a:xfrm>
            <a:off x="310896" y="4434840"/>
            <a:ext cx="8522208" cy="365760"/>
          </a:xfrm>
          <a:prstGeom prst="rect">
            <a:avLst/>
          </a:prstGeom>
          <a:noFill/>
        </p:spPr>
        <p:txBody>
          <a:bodyPr wrap="square" lIns="0" tIns="0" rIns="0" bIns="0">
            <a:spAutoFit/>
          </a:bodyPr>
          <a:lstStyle/>
          <a:p>
            <a:pPr algn="ctr"/>
            <a:r>
              <a:rPr sz="1300" b="1" i="0">
                <a:solidFill>
                  <a:srgbClr val="222222"/>
                </a:solidFill>
                <a:latin typeface="Arial"/>
              </a:rPr>
              <a:t>Empirically: NF4 &gt; FP4 &gt; Int4 on perplexity across every model size.</a:t>
            </a:r>
          </a:p>
        </p:txBody>
      </p:sp>
      <p:sp>
        <p:nvSpPr>
          <p:cNvPr id="65" name="axis label -1"/>
          <p:cNvSpPr txBox="1"/>
          <p:nvPr/>
        </p:nvSpPr>
        <p:spPr>
          <a:xfrm>
            <a:off x="1828800" y="3794760"/>
            <a:ext cx="365760" cy="201168"/>
          </a:xfrm>
          <a:prstGeom prst="rect">
            <a:avLst/>
          </a:prstGeom>
          <a:noFill/>
        </p:spPr>
        <p:txBody>
          <a:bodyPr wrap="square" lIns="0" tIns="0" rIns="0" bIns="0">
            <a:spAutoFit/>
          </a:bodyPr>
          <a:lstStyle/>
          <a:p>
            <a:pPr algn="ctr"/>
            <a:r>
              <a:rPr sz="900" b="0" i="0">
                <a:solidFill>
                  <a:srgbClr val="595959"/>
                </a:solidFill>
                <a:latin typeface="Arial"/>
              </a:rPr>
              <a:t>-1</a:t>
            </a:r>
          </a:p>
        </p:txBody>
      </p:sp>
      <p:sp>
        <p:nvSpPr>
          <p:cNvPr id="66" name="axis label 0"/>
          <p:cNvSpPr txBox="1"/>
          <p:nvPr/>
        </p:nvSpPr>
        <p:spPr>
          <a:xfrm>
            <a:off x="4846320" y="3794760"/>
            <a:ext cx="365760" cy="201168"/>
          </a:xfrm>
          <a:prstGeom prst="rect">
            <a:avLst/>
          </a:prstGeom>
          <a:noFill/>
        </p:spPr>
        <p:txBody>
          <a:bodyPr wrap="square" lIns="0" tIns="0" rIns="0" bIns="0">
            <a:spAutoFit/>
          </a:bodyPr>
          <a:lstStyle/>
          <a:p>
            <a:pPr algn="ctr"/>
            <a:r>
              <a:rPr sz="900" b="0" i="0">
                <a:solidFill>
                  <a:srgbClr val="595959"/>
                </a:solidFill>
                <a:latin typeface="Arial"/>
              </a:rPr>
              <a:t>0</a:t>
            </a:r>
          </a:p>
        </p:txBody>
      </p:sp>
      <p:sp>
        <p:nvSpPr>
          <p:cNvPr id="67" name="axis label 1"/>
          <p:cNvSpPr txBox="1"/>
          <p:nvPr/>
        </p:nvSpPr>
        <p:spPr>
          <a:xfrm>
            <a:off x="7863840" y="3794760"/>
            <a:ext cx="365760" cy="201168"/>
          </a:xfrm>
          <a:prstGeom prst="rect">
            <a:avLst/>
          </a:prstGeom>
          <a:noFill/>
        </p:spPr>
        <p:txBody>
          <a:bodyPr wrap="square" lIns="0" tIns="0" rIns="0" bIns="0">
            <a:spAutoFit/>
          </a:bodyPr>
          <a:lstStyle/>
          <a:p>
            <a:pPr algn="ctr"/>
            <a:r>
              <a:rPr sz="900" b="0" i="0">
                <a:solidFill>
                  <a:srgbClr val="595959"/>
                </a:solidFill>
                <a:latin typeface="Arial"/>
              </a:rPr>
              <a:t>1</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B title"/>
          <p:cNvSpPr txBox="1"/>
          <p:nvPr/>
        </p:nvSpPr>
        <p:spPr>
          <a:xfrm>
            <a:off x="310896" y="448056"/>
            <a:ext cx="8522208" cy="576072"/>
          </a:xfrm>
          <a:prstGeom prst="rect">
            <a:avLst/>
          </a:prstGeom>
          <a:noFill/>
        </p:spPr>
        <p:txBody>
          <a:bodyPr wrap="square" lIns="0" tIns="0" rIns="0" bIns="0" anchor="t">
            <a:spAutoFit/>
          </a:bodyPr>
          <a:lstStyle/>
          <a:p>
            <a:r>
              <a:rPr sz="2200" b="1">
                <a:solidFill>
                  <a:srgbClr val="222222"/>
                </a:solidFill>
                <a:latin typeface="Arial"/>
              </a:rPr>
              <a:t>Two more memory tricks in QLoRA</a:t>
            </a:r>
          </a:p>
        </p:txBody>
      </p:sp>
      <p:sp>
        <p:nvSpPr>
          <p:cNvPr id="3" name="BG title rule"/>
          <p:cNvSpPr/>
          <p:nvPr/>
        </p:nvSpPr>
        <p:spPr>
          <a:xfrm>
            <a:off x="310896" y="1033271"/>
            <a:ext cx="548640" cy="27432"/>
          </a:xfrm>
          <a:prstGeom prst="rect">
            <a:avLst/>
          </a:prstGeom>
          <a:solidFill>
            <a:srgbClr val="428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B takeaway"/>
          <p:cNvSpPr txBox="1"/>
          <p:nvPr/>
        </p:nvSpPr>
        <p:spPr>
          <a:xfrm>
            <a:off x="310896" y="1143000"/>
            <a:ext cx="8522208" cy="365760"/>
          </a:xfrm>
          <a:prstGeom prst="rect">
            <a:avLst/>
          </a:prstGeom>
          <a:noFill/>
        </p:spPr>
        <p:txBody>
          <a:bodyPr wrap="square" lIns="0" tIns="0" rIns="0" bIns="0" anchor="t">
            <a:spAutoFit/>
          </a:bodyPr>
          <a:lstStyle/>
          <a:p>
            <a:pPr algn="l"/>
            <a:r>
              <a:rPr sz="1400" b="0" i="1">
                <a:solidFill>
                  <a:srgbClr val="4285F4"/>
                </a:solidFill>
                <a:latin typeface="Arial"/>
              </a:rPr>
              <a:t>Two smaller wins that keep single-GPU fine-tuning stable through memory spikes.</a:t>
            </a:r>
          </a:p>
        </p:txBody>
      </p:sp>
      <p:sp>
        <p:nvSpPr>
          <p:cNvPr id="5" name="SHP dq hdr"/>
          <p:cNvSpPr/>
          <p:nvPr/>
        </p:nvSpPr>
        <p:spPr>
          <a:xfrm>
            <a:off x="310896" y="1691640"/>
            <a:ext cx="4206240" cy="457200"/>
          </a:xfrm>
          <a:prstGeom prst="rect">
            <a:avLst/>
          </a:prstGeom>
          <a:solidFill>
            <a:srgbClr val="D2E3FC"/>
          </a:solidFill>
          <a:ln w="12700">
            <a:solidFill>
              <a:srgbClr val="4285F4"/>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500" b="1" i="0">
                <a:solidFill>
                  <a:srgbClr val="4285F4"/>
                </a:solidFill>
                <a:latin typeface="Arial"/>
              </a:rPr>
              <a:t>Double Quantization</a:t>
            </a:r>
          </a:p>
        </p:txBody>
      </p:sp>
      <p:sp>
        <p:nvSpPr>
          <p:cNvPr id="6" name="TextBox 5"/>
          <p:cNvSpPr txBox="1"/>
          <p:nvPr/>
        </p:nvSpPr>
        <p:spPr>
          <a:xfrm>
            <a:off x="310896" y="2286000"/>
            <a:ext cx="4206240" cy="2194560"/>
          </a:xfrm>
          <a:prstGeom prst="rect">
            <a:avLst/>
          </a:prstGeom>
          <a:noFill/>
        </p:spPr>
        <p:txBody>
          <a:bodyPr wrap="square" lIns="0" tIns="0" rIns="0" bIns="0" anchor="t">
            <a:spAutoFit/>
          </a:bodyPr>
          <a:lstStyle/>
          <a:p>
            <a:pPr algn="l">
              <a:spcAft>
                <a:spcPts val="1000"/>
              </a:spcAft>
              <a:buNone/>
            </a:pPr>
            <a:r>
              <a:rPr sz="1300" b="1" i="0">
                <a:solidFill>
                  <a:srgbClr val="222222"/>
                </a:solidFill>
                <a:latin typeface="Arial"/>
              </a:rPr>
              <a:t>Problem. </a:t>
            </a:r>
            <a:r>
              <a:rPr sz="1300" b="0" i="0">
                <a:solidFill>
                  <a:srgbClr val="222222"/>
                </a:solidFill>
                <a:latin typeface="Arial"/>
              </a:rPr>
              <a:t>32-bit constants per block = 0.5 bits/param on 65B.</a:t>
            </a:r>
          </a:p>
          <a:p>
            <a:pPr>
              <a:spcAft>
                <a:spcPts val="1000"/>
              </a:spcAft>
              <a:buNone/>
            </a:pPr>
            <a:r>
              <a:rPr sz="1300" b="1" i="0">
                <a:solidFill>
                  <a:srgbClr val="222222"/>
                </a:solidFill>
                <a:latin typeface="Arial"/>
              </a:rPr>
              <a:t>Fix. </a:t>
            </a:r>
            <a:r>
              <a:rPr sz="1300" b="0" i="0">
                <a:solidFill>
                  <a:srgbClr val="222222"/>
                </a:solidFill>
                <a:latin typeface="Arial"/>
              </a:rPr>
              <a:t>Quantize the constants too: 8-bit, blocked by 256.</a:t>
            </a:r>
          </a:p>
          <a:p>
            <a:pPr>
              <a:spcAft>
                <a:spcPts val="0"/>
              </a:spcAft>
              <a:buNone/>
            </a:pPr>
            <a:r>
              <a:rPr sz="1300" b="1" i="0">
                <a:solidFill>
                  <a:srgbClr val="222222"/>
                </a:solidFill>
                <a:latin typeface="Arial"/>
              </a:rPr>
              <a:t>Result. </a:t>
            </a:r>
            <a:r>
              <a:rPr sz="1300" b="0" i="0">
                <a:solidFill>
                  <a:srgbClr val="222222"/>
                </a:solidFill>
                <a:latin typeface="Arial"/>
              </a:rPr>
              <a:t>~0.37 bits/param saved ≈ ~3 GB on 65B.</a:t>
            </a:r>
          </a:p>
        </p:txBody>
      </p:sp>
      <p:sp>
        <p:nvSpPr>
          <p:cNvPr id="7" name="SHP paged hdr"/>
          <p:cNvSpPr/>
          <p:nvPr/>
        </p:nvSpPr>
        <p:spPr>
          <a:xfrm>
            <a:off x="4617720" y="1691640"/>
            <a:ext cx="4206240" cy="457200"/>
          </a:xfrm>
          <a:prstGeom prst="rect">
            <a:avLst/>
          </a:prstGeom>
          <a:solidFill>
            <a:srgbClr val="D2E3FC"/>
          </a:solidFill>
          <a:ln w="12700">
            <a:solidFill>
              <a:srgbClr val="4285F4"/>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500" b="1" i="0">
                <a:solidFill>
                  <a:srgbClr val="4285F4"/>
                </a:solidFill>
                <a:latin typeface="Arial"/>
              </a:rPr>
              <a:t>Paged Optimizers</a:t>
            </a:r>
          </a:p>
        </p:txBody>
      </p:sp>
      <p:sp>
        <p:nvSpPr>
          <p:cNvPr id="8" name="TextBox 7"/>
          <p:cNvSpPr txBox="1"/>
          <p:nvPr/>
        </p:nvSpPr>
        <p:spPr>
          <a:xfrm>
            <a:off x="4617720" y="2286000"/>
            <a:ext cx="4206240" cy="2194560"/>
          </a:xfrm>
          <a:prstGeom prst="rect">
            <a:avLst/>
          </a:prstGeom>
          <a:noFill/>
        </p:spPr>
        <p:txBody>
          <a:bodyPr wrap="square" lIns="0" tIns="0" rIns="0" bIns="0" anchor="t">
            <a:spAutoFit/>
          </a:bodyPr>
          <a:lstStyle/>
          <a:p>
            <a:pPr algn="l">
              <a:spcAft>
                <a:spcPts val="1000"/>
              </a:spcAft>
              <a:buNone/>
            </a:pPr>
            <a:r>
              <a:rPr sz="1300" b="1" i="0">
                <a:solidFill>
                  <a:srgbClr val="222222"/>
                </a:solidFill>
                <a:latin typeface="Arial"/>
              </a:rPr>
              <a:t>Problem. </a:t>
            </a:r>
            <a:r>
              <a:rPr sz="1300" b="0" i="0">
                <a:solidFill>
                  <a:srgbClr val="222222"/>
                </a:solidFill>
                <a:latin typeface="Arial"/>
              </a:rPr>
              <a:t>Long sequences cause transient memory spikes, then OOM.</a:t>
            </a:r>
          </a:p>
          <a:p>
            <a:pPr>
              <a:spcAft>
                <a:spcPts val="1000"/>
              </a:spcAft>
              <a:buNone/>
            </a:pPr>
            <a:r>
              <a:rPr sz="1300" b="1" i="0">
                <a:solidFill>
                  <a:srgbClr val="222222"/>
                </a:solidFill>
                <a:latin typeface="Arial"/>
              </a:rPr>
              <a:t>Fix. </a:t>
            </a:r>
            <a:r>
              <a:rPr sz="1300" b="0" i="0">
                <a:solidFill>
                  <a:srgbClr val="222222"/>
                </a:solidFill>
                <a:latin typeface="Arial"/>
              </a:rPr>
              <a:t>Unified memory spills optimizer state to CPU RAM during spikes.</a:t>
            </a:r>
          </a:p>
          <a:p>
            <a:pPr>
              <a:spcAft>
                <a:spcPts val="0"/>
              </a:spcAft>
              <a:buNone/>
            </a:pPr>
            <a:r>
              <a:rPr sz="1300" b="1" i="0">
                <a:solidFill>
                  <a:srgbClr val="222222"/>
                </a:solidFill>
                <a:latin typeface="Arial"/>
              </a:rPr>
              <a:t>Result. </a:t>
            </a:r>
            <a:r>
              <a:rPr sz="1300" b="0" i="0">
                <a:solidFill>
                  <a:srgbClr val="222222"/>
                </a:solidFill>
                <a:latin typeface="Arial"/>
              </a:rPr>
              <a:t>No batch-size cut, no user code change.</a:t>
            </a:r>
          </a:p>
        </p:txBody>
      </p:sp>
      <p:sp>
        <p:nvSpPr>
          <p:cNvPr id="10" name="PageNum 23"/>
          <p:cNvSpPr txBox="1"/>
          <p:nvPr/>
        </p:nvSpPr>
        <p:spPr>
          <a:xfrm>
            <a:off x="8595360" y="4892040"/>
            <a:ext cx="457200" cy="201168"/>
          </a:xfrm>
          <a:prstGeom prst="rect">
            <a:avLst/>
          </a:prstGeom>
          <a:noFill/>
        </p:spPr>
        <p:txBody>
          <a:bodyPr wrap="square" lIns="0" tIns="0" rIns="0" bIns="0">
            <a:spAutoFit/>
          </a:bodyPr>
          <a:lstStyle/>
          <a:p>
            <a:pPr algn="r"/>
            <a:r>
              <a:rPr sz="900">
                <a:solidFill>
                  <a:srgbClr val="595959"/>
                </a:solidFill>
                <a:latin typeface="Arial"/>
              </a:rPr>
              <a:t>20</a:t>
            </a:r>
          </a:p>
        </p:txBody>
      </p:sp>
      <p:sp>
        <p:nvSpPr>
          <p:cNvPr id="11" name="TB source"/>
          <p:cNvSpPr txBox="1"/>
          <p:nvPr/>
        </p:nvSpPr>
        <p:spPr>
          <a:xfrm>
            <a:off x="73152" y="4892040"/>
            <a:ext cx="7772400" cy="201168"/>
          </a:xfrm>
          <a:prstGeom prst="rect">
            <a:avLst/>
          </a:prstGeom>
          <a:noFill/>
        </p:spPr>
        <p:txBody>
          <a:bodyPr wrap="square" lIns="0" tIns="0" rIns="0" bIns="0">
            <a:spAutoFit/>
          </a:bodyPr>
          <a:lstStyle/>
          <a:p>
            <a:r>
              <a:rPr sz="900" u="sng">
                <a:solidFill>
                  <a:srgbClr val="595959"/>
                </a:solidFill>
                <a:latin typeface="Arial"/>
                <a:hlinkClick r:id="rId3"/>
              </a:rPr>
              <a:t>Dettmers et al. 2023</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5" name="Google Shape;415;p75"/>
          <p:cNvSpPr txBox="1">
            <a:spLocks noGrp="1"/>
          </p:cNvSpPr>
          <p:nvPr>
            <p:ph type="body" idx="1"/>
          </p:nvPr>
        </p:nvSpPr>
        <p:spPr>
          <a:xfrm>
            <a:off x="311700" y="1381075"/>
            <a:ext cx="4260300" cy="34164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1000"/>
              </a:spcAft>
              <a:buSzPts val="1800"/>
              <a:buNone/>
            </a:pPr>
            <a:r>
              <a:rPr sz="1300" b="1" i="0" dirty="0">
                <a:solidFill>
                  <a:srgbClr val="B85C00"/>
                </a:solidFill>
                <a:latin typeface="Arial"/>
              </a:rPr>
              <a:t>The cost. </a:t>
            </a:r>
            <a:r>
              <a:rPr sz="1300" b="0" i="0" dirty="0">
                <a:solidFill>
                  <a:srgbClr val="222222"/>
                </a:solidFill>
                <a:latin typeface="Arial"/>
              </a:rPr>
              <a:t>Every </a:t>
            </a:r>
            <a:r>
              <a:rPr sz="1300" b="0" i="0" dirty="0" err="1">
                <a:solidFill>
                  <a:srgbClr val="222222"/>
                </a:solidFill>
                <a:latin typeface="Arial"/>
              </a:rPr>
              <a:t>matmul</a:t>
            </a:r>
            <a:r>
              <a:rPr sz="1300" b="0" i="0" dirty="0">
                <a:solidFill>
                  <a:srgbClr val="222222"/>
                </a:solidFill>
                <a:latin typeface="Arial"/>
              </a:rPr>
              <a:t> dequantizes </a:t>
            </a:r>
            <a:r>
              <a:rPr sz="1300" b="1" i="0" dirty="0">
                <a:solidFill>
                  <a:srgbClr val="B85C00"/>
                </a:solidFill>
                <a:latin typeface="Arial"/>
              </a:rPr>
              <a:t>NF4</a:t>
            </a:r>
            <a:r>
              <a:rPr sz="1300" b="0" i="0" dirty="0">
                <a:solidFill>
                  <a:srgbClr val="222222"/>
                </a:solidFill>
                <a:latin typeface="Arial"/>
              </a:rPr>
              <a:t> to BF16, computes, then discards. Memory wins; compute suffers.</a:t>
            </a:r>
          </a:p>
          <a:p>
            <a:pPr>
              <a:spcAft>
                <a:spcPts val="1000"/>
              </a:spcAft>
              <a:buNone/>
            </a:pPr>
            <a:r>
              <a:rPr sz="1300" b="1" i="0" dirty="0">
                <a:solidFill>
                  <a:srgbClr val="4285F4"/>
                </a:solidFill>
                <a:latin typeface="Arial"/>
              </a:rPr>
              <a:t>The fix. Blackwell</a:t>
            </a:r>
            <a:r>
              <a:rPr sz="1300" b="0" i="0" dirty="0">
                <a:solidFill>
                  <a:srgbClr val="222222"/>
                </a:solidFill>
                <a:latin typeface="Arial"/>
              </a:rPr>
              <a:t> runs </a:t>
            </a:r>
            <a:r>
              <a:rPr sz="1300" b="1" i="0" dirty="0">
                <a:solidFill>
                  <a:srgbClr val="4285F4"/>
                </a:solidFill>
                <a:latin typeface="Arial"/>
              </a:rPr>
              <a:t>NVFP4</a:t>
            </a:r>
            <a:r>
              <a:rPr sz="1300" b="0" i="0" dirty="0">
                <a:solidFill>
                  <a:srgbClr val="222222"/>
                </a:solidFill>
                <a:latin typeface="Arial"/>
              </a:rPr>
              <a:t> </a:t>
            </a:r>
            <a:r>
              <a:rPr sz="1300" b="0" i="0" dirty="0" err="1">
                <a:solidFill>
                  <a:srgbClr val="222222"/>
                </a:solidFill>
                <a:latin typeface="Arial"/>
              </a:rPr>
              <a:t>matmul</a:t>
            </a:r>
            <a:r>
              <a:rPr sz="1300" b="0" i="0" dirty="0">
                <a:solidFill>
                  <a:srgbClr val="222222"/>
                </a:solidFill>
                <a:latin typeface="Arial"/>
              </a:rPr>
              <a:t> natively: 4-bit in, 4-bit out, no </a:t>
            </a:r>
            <a:r>
              <a:rPr sz="1300" b="0" i="0" dirty="0" err="1">
                <a:solidFill>
                  <a:srgbClr val="222222"/>
                </a:solidFill>
                <a:latin typeface="Arial"/>
              </a:rPr>
              <a:t>dequant</a:t>
            </a:r>
            <a:r>
              <a:rPr sz="1300" b="0" i="0" dirty="0">
                <a:solidFill>
                  <a:srgbClr val="222222"/>
                </a:solidFill>
                <a:latin typeface="Arial"/>
              </a:rPr>
              <a:t> round-trip.</a:t>
            </a:r>
          </a:p>
          <a:p>
            <a:pPr>
              <a:spcAft>
                <a:spcPts val="0"/>
              </a:spcAft>
              <a:buNone/>
            </a:pPr>
            <a:r>
              <a:rPr sz="1300" b="1" i="0" dirty="0">
                <a:solidFill>
                  <a:srgbClr val="222222"/>
                </a:solidFill>
                <a:latin typeface="Arial"/>
              </a:rPr>
              <a:t>Effect. </a:t>
            </a:r>
            <a:r>
              <a:rPr sz="1300" b="0" i="0" dirty="0" err="1">
                <a:solidFill>
                  <a:srgbClr val="222222"/>
                </a:solidFill>
                <a:latin typeface="Arial"/>
              </a:rPr>
              <a:t>QLoRA</a:t>
            </a:r>
            <a:r>
              <a:rPr sz="1300" b="0" i="0" dirty="0">
                <a:solidFill>
                  <a:srgbClr val="222222"/>
                </a:solidFill>
                <a:latin typeface="Arial"/>
              </a:rPr>
              <a:t>-at-inference has hardware built for its data type.</a:t>
            </a:r>
          </a:p>
        </p:txBody>
      </p:sp>
      <p:pic>
        <p:nvPicPr>
          <p:cNvPr id="417" name="Google Shape;417;p75"/>
          <p:cNvPicPr preferRelativeResize="0"/>
          <p:nvPr/>
        </p:nvPicPr>
        <p:blipFill>
          <a:blip r:embed="rId3">
            <a:alphaModFix/>
          </a:blip>
          <a:stretch>
            <a:fillRect/>
          </a:stretch>
        </p:blipFill>
        <p:spPr>
          <a:xfrm>
            <a:off x="4724400" y="1398725"/>
            <a:ext cx="4267203" cy="2298205"/>
          </a:xfrm>
          <a:prstGeom prst="rect">
            <a:avLst/>
          </a:prstGeom>
          <a:noFill/>
          <a:ln>
            <a:noFill/>
          </a:ln>
        </p:spPr>
      </p:pic>
      <p:sp>
        <p:nvSpPr>
          <p:cNvPr id="418" name="TB title"/>
          <p:cNvSpPr txBox="1"/>
          <p:nvPr/>
        </p:nvSpPr>
        <p:spPr>
          <a:xfrm>
            <a:off x="310896" y="320040"/>
            <a:ext cx="8522208" cy="731520"/>
          </a:xfrm>
          <a:prstGeom prst="rect">
            <a:avLst/>
          </a:prstGeom>
          <a:noFill/>
        </p:spPr>
        <p:txBody>
          <a:bodyPr wrap="square" lIns="0" tIns="0" rIns="0" bIns="0">
            <a:spAutoFit/>
          </a:bodyPr>
          <a:lstStyle/>
          <a:p>
            <a:r>
              <a:rPr sz="2200" b="1" i="0">
                <a:solidFill>
                  <a:srgbClr val="222222"/>
                </a:solidFill>
                <a:latin typeface="Arial"/>
              </a:rPr>
              <a:t>QLoRA is a training-memory tool, not an inference-latency tool</a:t>
            </a:r>
          </a:p>
        </p:txBody>
      </p:sp>
      <p:sp>
        <p:nvSpPr>
          <p:cNvPr id="419" name="BG title rule"/>
          <p:cNvSpPr/>
          <p:nvPr/>
        </p:nvSpPr>
        <p:spPr>
          <a:xfrm>
            <a:off x="310896" y="1060704"/>
            <a:ext cx="548640" cy="27432"/>
          </a:xfrm>
          <a:prstGeom prst="rect">
            <a:avLst/>
          </a:prstGeom>
          <a:solidFill>
            <a:srgbClr val="428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2" name="PageNum 26"/>
          <p:cNvSpPr txBox="1"/>
          <p:nvPr/>
        </p:nvSpPr>
        <p:spPr>
          <a:xfrm>
            <a:off x="8595360" y="4892040"/>
            <a:ext cx="457200" cy="201168"/>
          </a:xfrm>
          <a:prstGeom prst="rect">
            <a:avLst/>
          </a:prstGeom>
          <a:noFill/>
        </p:spPr>
        <p:txBody>
          <a:bodyPr wrap="square" lIns="0" tIns="0" rIns="0" bIns="0">
            <a:spAutoFit/>
          </a:bodyPr>
          <a:lstStyle/>
          <a:p>
            <a:pPr algn="r"/>
            <a:r>
              <a:rPr sz="900">
                <a:solidFill>
                  <a:srgbClr val="595959"/>
                </a:solidFill>
                <a:latin typeface="Arial"/>
              </a:rPr>
              <a:t>21</a:t>
            </a:r>
          </a:p>
        </p:txBody>
      </p:sp>
      <p:sp>
        <p:nvSpPr>
          <p:cNvPr id="423" name="TB source"/>
          <p:cNvSpPr txBox="1"/>
          <p:nvPr/>
        </p:nvSpPr>
        <p:spPr>
          <a:xfrm>
            <a:off x="73152" y="4892040"/>
            <a:ext cx="7772400" cy="201168"/>
          </a:xfrm>
          <a:prstGeom prst="rect">
            <a:avLst/>
          </a:prstGeom>
          <a:noFill/>
        </p:spPr>
        <p:txBody>
          <a:bodyPr wrap="square" lIns="0" tIns="0" rIns="0" bIns="0">
            <a:spAutoFit/>
          </a:bodyPr>
          <a:lstStyle/>
          <a:p>
            <a:r>
              <a:rPr sz="900" u="sng">
                <a:solidFill>
                  <a:srgbClr val="595959"/>
                </a:solidFill>
                <a:latin typeface="Arial"/>
                <a:hlinkClick r:id="rId4"/>
              </a:rPr>
              <a:t>AI Bites YouTube</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B title"/>
          <p:cNvSpPr txBox="1"/>
          <p:nvPr/>
        </p:nvSpPr>
        <p:spPr>
          <a:xfrm>
            <a:off x="310896" y="448056"/>
            <a:ext cx="8522208" cy="576072"/>
          </a:xfrm>
          <a:prstGeom prst="rect">
            <a:avLst/>
          </a:prstGeom>
          <a:noFill/>
        </p:spPr>
        <p:txBody>
          <a:bodyPr wrap="square" lIns="0" tIns="0" rIns="0" bIns="0" anchor="t">
            <a:spAutoFit/>
          </a:bodyPr>
          <a:lstStyle/>
          <a:p>
            <a:r>
              <a:rPr sz="2200" b="1">
                <a:solidFill>
                  <a:srgbClr val="222222"/>
                </a:solidFill>
                <a:latin typeface="Arial"/>
              </a:rPr>
              <a:t>Honest limits: "LoRA learns less and forgets less"</a:t>
            </a:r>
          </a:p>
        </p:txBody>
      </p:sp>
      <p:sp>
        <p:nvSpPr>
          <p:cNvPr id="3" name="BG title rule"/>
          <p:cNvSpPr/>
          <p:nvPr/>
        </p:nvSpPr>
        <p:spPr>
          <a:xfrm>
            <a:off x="310896" y="1033271"/>
            <a:ext cx="548640" cy="27432"/>
          </a:xfrm>
          <a:prstGeom prst="rect">
            <a:avLst/>
          </a:prstGeom>
          <a:solidFill>
            <a:srgbClr val="428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B takeaway"/>
          <p:cNvSpPr txBox="1"/>
          <p:nvPr/>
        </p:nvSpPr>
        <p:spPr>
          <a:xfrm>
            <a:off x="310896" y="1143000"/>
            <a:ext cx="8522208" cy="365760"/>
          </a:xfrm>
          <a:prstGeom prst="rect">
            <a:avLst/>
          </a:prstGeom>
          <a:noFill/>
        </p:spPr>
        <p:txBody>
          <a:bodyPr wrap="square" lIns="0" tIns="0" rIns="0" bIns="0" anchor="t">
            <a:spAutoFit/>
          </a:bodyPr>
          <a:lstStyle/>
          <a:p>
            <a:pPr algn="l"/>
            <a:r>
              <a:rPr sz="1400" i="1">
                <a:solidFill>
                  <a:srgbClr val="4285F4"/>
                </a:solidFill>
                <a:latin typeface="Arial"/>
              </a:rPr>
              <a:t>LoRA wins where the target task stays close to the base. Full FT still wins for big capability shifts.</a:t>
            </a:r>
          </a:p>
        </p:txBody>
      </p:sp>
      <p:sp>
        <p:nvSpPr>
          <p:cNvPr id="5" name="SHP loss header"/>
          <p:cNvSpPr/>
          <p:nvPr/>
        </p:nvSpPr>
        <p:spPr>
          <a:xfrm>
            <a:off x="310896" y="1783080"/>
            <a:ext cx="4206240" cy="457200"/>
          </a:xfrm>
          <a:prstGeom prst="rect">
            <a:avLst/>
          </a:prstGeom>
          <a:solidFill>
            <a:srgbClr val="F6E3D5"/>
          </a:solidFill>
          <a:ln w="12700">
            <a:solidFill>
              <a:srgbClr val="FFAB40"/>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500" b="1" i="0">
                <a:solidFill>
                  <a:srgbClr val="222222"/>
                </a:solidFill>
                <a:latin typeface="Arial"/>
              </a:rPr>
              <a:t>Where full FT still wins</a:t>
            </a:r>
          </a:p>
        </p:txBody>
      </p:sp>
      <p:sp>
        <p:nvSpPr>
          <p:cNvPr id="6" name="TB loss body"/>
          <p:cNvSpPr txBox="1"/>
          <p:nvPr/>
        </p:nvSpPr>
        <p:spPr>
          <a:xfrm>
            <a:off x="310896" y="2331720"/>
            <a:ext cx="4206240" cy="2011680"/>
          </a:xfrm>
          <a:prstGeom prst="rect">
            <a:avLst/>
          </a:prstGeom>
          <a:noFill/>
        </p:spPr>
        <p:txBody>
          <a:bodyPr wrap="square" lIns="0" tIns="0" rIns="0" bIns="0" anchor="t">
            <a:spAutoFit/>
          </a:bodyPr>
          <a:lstStyle/>
          <a:p>
            <a:pPr algn="l">
              <a:spcAft>
                <a:spcPts val="800"/>
              </a:spcAft>
              <a:buNone/>
            </a:pPr>
            <a:r>
              <a:rPr sz="1400" b="0" i="0">
                <a:solidFill>
                  <a:srgbClr val="222222"/>
                </a:solidFill>
                <a:latin typeface="Arial"/>
              </a:rPr>
              <a:t>· </a:t>
            </a:r>
            <a:r>
              <a:rPr sz="1400" b="1" i="0">
                <a:solidFill>
                  <a:srgbClr val="222222"/>
                </a:solidFill>
                <a:latin typeface="Arial"/>
              </a:rPr>
              <a:t>Continued pretraining</a:t>
            </a:r>
          </a:p>
          <a:p>
            <a:pPr>
              <a:spcAft>
                <a:spcPts val="800"/>
              </a:spcAft>
              <a:buNone/>
            </a:pPr>
            <a:r>
              <a:rPr sz="1400" b="0" i="0">
                <a:solidFill>
                  <a:srgbClr val="222222"/>
                </a:solidFill>
                <a:latin typeface="Arial"/>
              </a:rPr>
              <a:t>· </a:t>
            </a:r>
            <a:r>
              <a:rPr sz="1400" b="1" i="0">
                <a:solidFill>
                  <a:srgbClr val="222222"/>
                </a:solidFill>
                <a:latin typeface="Arial"/>
              </a:rPr>
              <a:t>Large capability shifts</a:t>
            </a:r>
          </a:p>
          <a:p>
            <a:pPr>
              <a:spcAft>
                <a:spcPts val="0"/>
              </a:spcAft>
              <a:buNone/>
            </a:pPr>
            <a:r>
              <a:rPr sz="1400" b="0" i="0">
                <a:solidFill>
                  <a:srgbClr val="222222"/>
                </a:solidFill>
                <a:latin typeface="Arial"/>
              </a:rPr>
              <a:t>· </a:t>
            </a:r>
            <a:r>
              <a:rPr sz="1400" b="1" i="0">
                <a:solidFill>
                  <a:srgbClr val="222222"/>
                </a:solidFill>
                <a:latin typeface="Arial"/>
              </a:rPr>
              <a:t>Long-form retraining</a:t>
            </a:r>
          </a:p>
        </p:txBody>
      </p:sp>
      <p:sp>
        <p:nvSpPr>
          <p:cNvPr id="7" name="SHP win header"/>
          <p:cNvSpPr/>
          <p:nvPr/>
        </p:nvSpPr>
        <p:spPr>
          <a:xfrm>
            <a:off x="4617720" y="1783080"/>
            <a:ext cx="4206240" cy="457200"/>
          </a:xfrm>
          <a:prstGeom prst="rect">
            <a:avLst/>
          </a:prstGeom>
          <a:solidFill>
            <a:srgbClr val="D2E3FC"/>
          </a:solidFill>
          <a:ln w="12700">
            <a:solidFill>
              <a:srgbClr val="4285F4"/>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500" b="1" i="0">
                <a:solidFill>
                  <a:srgbClr val="222222"/>
                </a:solidFill>
                <a:latin typeface="Arial"/>
              </a:rPr>
              <a:t>Where LoRA wins</a:t>
            </a:r>
          </a:p>
        </p:txBody>
      </p:sp>
      <p:sp>
        <p:nvSpPr>
          <p:cNvPr id="8" name="TB win body"/>
          <p:cNvSpPr txBox="1"/>
          <p:nvPr/>
        </p:nvSpPr>
        <p:spPr>
          <a:xfrm>
            <a:off x="4617720" y="2331720"/>
            <a:ext cx="4206240" cy="2011680"/>
          </a:xfrm>
          <a:prstGeom prst="rect">
            <a:avLst/>
          </a:prstGeom>
          <a:noFill/>
        </p:spPr>
        <p:txBody>
          <a:bodyPr wrap="square" lIns="0" tIns="0" rIns="0" bIns="0" anchor="t">
            <a:spAutoFit/>
          </a:bodyPr>
          <a:lstStyle/>
          <a:p>
            <a:pPr algn="l">
              <a:spcAft>
                <a:spcPts val="800"/>
              </a:spcAft>
              <a:buNone/>
            </a:pPr>
            <a:r>
              <a:rPr sz="1400" b="0" i="0">
                <a:solidFill>
                  <a:srgbClr val="222222"/>
                </a:solidFill>
                <a:latin typeface="Arial"/>
              </a:rPr>
              <a:t>· </a:t>
            </a:r>
            <a:r>
              <a:rPr sz="1400" b="1" i="0">
                <a:solidFill>
                  <a:srgbClr val="222222"/>
                </a:solidFill>
                <a:latin typeface="Arial"/>
              </a:rPr>
              <a:t>Instruction-tuning</a:t>
            </a:r>
          </a:p>
          <a:p>
            <a:pPr>
              <a:spcAft>
                <a:spcPts val="800"/>
              </a:spcAft>
              <a:buNone/>
            </a:pPr>
            <a:r>
              <a:rPr sz="1400" b="0" i="0">
                <a:solidFill>
                  <a:srgbClr val="222222"/>
                </a:solidFill>
                <a:latin typeface="Arial"/>
              </a:rPr>
              <a:t>· </a:t>
            </a:r>
            <a:r>
              <a:rPr sz="1400" b="1" i="0">
                <a:solidFill>
                  <a:srgbClr val="222222"/>
                </a:solidFill>
                <a:latin typeface="Arial"/>
              </a:rPr>
              <a:t>Domain adaptation</a:t>
            </a:r>
          </a:p>
          <a:p>
            <a:pPr>
              <a:spcAft>
                <a:spcPts val="800"/>
              </a:spcAft>
              <a:buNone/>
            </a:pPr>
            <a:r>
              <a:rPr sz="1400" b="0" i="0">
                <a:solidFill>
                  <a:srgbClr val="222222"/>
                </a:solidFill>
                <a:latin typeface="Arial"/>
              </a:rPr>
              <a:t>· </a:t>
            </a:r>
            <a:r>
              <a:rPr sz="1400" b="1" i="0">
                <a:solidFill>
                  <a:srgbClr val="222222"/>
                </a:solidFill>
                <a:latin typeface="Arial"/>
              </a:rPr>
              <a:t>Multi-tenant serving</a:t>
            </a:r>
          </a:p>
          <a:p>
            <a:pPr>
              <a:spcAft>
                <a:spcPts val="0"/>
              </a:spcAft>
              <a:buNone/>
            </a:pPr>
            <a:r>
              <a:rPr sz="1400" b="0" i="0">
                <a:solidFill>
                  <a:srgbClr val="222222"/>
                </a:solidFill>
                <a:latin typeface="Arial"/>
              </a:rPr>
              <a:t>· </a:t>
            </a:r>
            <a:r>
              <a:rPr sz="1400" b="1" i="0">
                <a:solidFill>
                  <a:srgbClr val="222222"/>
                </a:solidFill>
                <a:latin typeface="Arial"/>
              </a:rPr>
              <a:t>Preserving base behavior</a:t>
            </a:r>
          </a:p>
        </p:txBody>
      </p:sp>
      <p:sp>
        <p:nvSpPr>
          <p:cNvPr id="9" name="TB rule of thumb"/>
          <p:cNvSpPr txBox="1"/>
          <p:nvPr/>
        </p:nvSpPr>
        <p:spPr>
          <a:xfrm>
            <a:off x="310896" y="4434840"/>
            <a:ext cx="8522208" cy="320040"/>
          </a:xfrm>
          <a:prstGeom prst="rect">
            <a:avLst/>
          </a:prstGeom>
          <a:noFill/>
        </p:spPr>
        <p:txBody>
          <a:bodyPr wrap="square" lIns="0" tIns="0" rIns="0" bIns="0" anchor="t">
            <a:spAutoFit/>
          </a:bodyPr>
          <a:lstStyle/>
          <a:p>
            <a:pPr algn="ctr"/>
            <a:r>
              <a:rPr sz="1200" i="1">
                <a:solidFill>
                  <a:srgbClr val="595959"/>
                </a:solidFill>
                <a:latin typeface="Arial"/>
              </a:rPr>
              <a:t>Rule of thumb: LoRA by default; reach for full FT only when the target is genuinely a new capability.</a:t>
            </a:r>
          </a:p>
        </p:txBody>
      </p:sp>
      <p:sp>
        <p:nvSpPr>
          <p:cNvPr id="11" name="PageNum 27"/>
          <p:cNvSpPr txBox="1"/>
          <p:nvPr/>
        </p:nvSpPr>
        <p:spPr>
          <a:xfrm>
            <a:off x="8595360" y="4892040"/>
            <a:ext cx="457200" cy="201168"/>
          </a:xfrm>
          <a:prstGeom prst="rect">
            <a:avLst/>
          </a:prstGeom>
          <a:noFill/>
        </p:spPr>
        <p:txBody>
          <a:bodyPr wrap="square" lIns="0" tIns="0" rIns="0" bIns="0">
            <a:spAutoFit/>
          </a:bodyPr>
          <a:lstStyle/>
          <a:p>
            <a:pPr algn="r"/>
            <a:r>
              <a:rPr sz="900">
                <a:solidFill>
                  <a:srgbClr val="595959"/>
                </a:solidFill>
                <a:latin typeface="Arial"/>
              </a:rPr>
              <a:t>22</a:t>
            </a:r>
          </a:p>
        </p:txBody>
      </p:sp>
      <p:sp>
        <p:nvSpPr>
          <p:cNvPr id="12" name="TB source"/>
          <p:cNvSpPr txBox="1"/>
          <p:nvPr/>
        </p:nvSpPr>
        <p:spPr>
          <a:xfrm>
            <a:off x="73152" y="4892040"/>
            <a:ext cx="7772400" cy="201168"/>
          </a:xfrm>
          <a:prstGeom prst="rect">
            <a:avLst/>
          </a:prstGeom>
          <a:noFill/>
        </p:spPr>
        <p:txBody>
          <a:bodyPr wrap="square" lIns="0" tIns="0" rIns="0" bIns="0">
            <a:spAutoFit/>
          </a:bodyPr>
          <a:lstStyle/>
          <a:p>
            <a:r>
              <a:rPr sz="900" u="sng">
                <a:solidFill>
                  <a:srgbClr val="595959"/>
                </a:solidFill>
                <a:latin typeface="Arial"/>
                <a:hlinkClick r:id="rId3"/>
              </a:rPr>
              <a:t>Biderman et al. 2024</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B title"/>
          <p:cNvSpPr txBox="1"/>
          <p:nvPr/>
        </p:nvSpPr>
        <p:spPr>
          <a:xfrm>
            <a:off x="310896" y="320040"/>
            <a:ext cx="8522208" cy="731520"/>
          </a:xfrm>
          <a:prstGeom prst="rect">
            <a:avLst/>
          </a:prstGeom>
          <a:noFill/>
        </p:spPr>
        <p:txBody>
          <a:bodyPr wrap="square" lIns="0" tIns="0" rIns="0" bIns="0">
            <a:spAutoFit/>
          </a:bodyPr>
          <a:lstStyle/>
          <a:p>
            <a:r>
              <a:rPr sz="2200" b="1">
                <a:solidFill>
                  <a:srgbClr val="222222"/>
                </a:solidFill>
                <a:latin typeface="Arial"/>
              </a:rPr>
              <a:t>LoRA variants: one idea, many bottlenecks</a:t>
            </a:r>
          </a:p>
        </p:txBody>
      </p:sp>
      <p:sp>
        <p:nvSpPr>
          <p:cNvPr id="3" name="BG title rule"/>
          <p:cNvSpPr/>
          <p:nvPr/>
        </p:nvSpPr>
        <p:spPr>
          <a:xfrm>
            <a:off x="310896" y="1060704"/>
            <a:ext cx="548640" cy="27432"/>
          </a:xfrm>
          <a:prstGeom prst="rect">
            <a:avLst/>
          </a:prstGeom>
          <a:solidFill>
            <a:srgbClr val="428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PageNum 28"/>
          <p:cNvSpPr txBox="1"/>
          <p:nvPr/>
        </p:nvSpPr>
        <p:spPr>
          <a:xfrm>
            <a:off x="8595360" y="4892040"/>
            <a:ext cx="457200" cy="201168"/>
          </a:xfrm>
          <a:prstGeom prst="rect">
            <a:avLst/>
          </a:prstGeom>
          <a:noFill/>
        </p:spPr>
        <p:txBody>
          <a:bodyPr wrap="square" lIns="0" tIns="0" rIns="0" bIns="0">
            <a:spAutoFit/>
          </a:bodyPr>
          <a:lstStyle/>
          <a:p>
            <a:pPr algn="r"/>
            <a:r>
              <a:rPr sz="900">
                <a:solidFill>
                  <a:srgbClr val="595959"/>
                </a:solidFill>
                <a:latin typeface="Arial"/>
              </a:rPr>
              <a:t>23</a:t>
            </a:r>
          </a:p>
        </p:txBody>
      </p:sp>
      <p:sp>
        <p:nvSpPr>
          <p:cNvPr id="48" name="TB takeaway"/>
          <p:cNvSpPr txBox="1"/>
          <p:nvPr/>
        </p:nvSpPr>
        <p:spPr>
          <a:xfrm>
            <a:off x="310896" y="1133856"/>
            <a:ext cx="8522208" cy="329184"/>
          </a:xfrm>
          <a:prstGeom prst="rect">
            <a:avLst/>
          </a:prstGeom>
          <a:noFill/>
        </p:spPr>
        <p:txBody>
          <a:bodyPr wrap="square" lIns="0" rIns="0">
            <a:spAutoFit/>
          </a:bodyPr>
          <a:lstStyle/>
          <a:p>
            <a:r>
              <a:rPr sz="1300" i="1">
                <a:solidFill>
                  <a:srgbClr val="4285F4"/>
                </a:solidFill>
                <a:latin typeface="Arial"/>
              </a:rPr>
              <a:t>Same core recipe. Each variant relaxes a different assumption.</a:t>
            </a:r>
          </a:p>
        </p:txBody>
      </p:sp>
      <p:sp>
        <p:nvSpPr>
          <p:cNvPr id="49" name="panel bg Fix the math"/>
          <p:cNvSpPr/>
          <p:nvPr/>
        </p:nvSpPr>
        <p:spPr>
          <a:xfrm>
            <a:off x="310896" y="1600200"/>
            <a:ext cx="4160520" cy="1508760"/>
          </a:xfrm>
          <a:prstGeom prst="roundRect">
            <a:avLst/>
          </a:prstGeom>
          <a:solidFill>
            <a:srgbClr val="E8F0FE"/>
          </a:solidFill>
          <a:ln>
            <a:solidFill>
              <a:srgbClr val="1A7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panel hdr Fix the math"/>
          <p:cNvSpPr/>
          <p:nvPr/>
        </p:nvSpPr>
        <p:spPr>
          <a:xfrm>
            <a:off x="310896" y="1600200"/>
            <a:ext cx="4160520" cy="292608"/>
          </a:xfrm>
          <a:prstGeom prst="roundRect">
            <a:avLst/>
          </a:prstGeom>
          <a:solidFill>
            <a:srgbClr val="1A7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panel hdr strip Fix the math"/>
          <p:cNvSpPr/>
          <p:nvPr/>
        </p:nvSpPr>
        <p:spPr>
          <a:xfrm>
            <a:off x="310896" y="1801367"/>
            <a:ext cx="4160520" cy="91440"/>
          </a:xfrm>
          <a:prstGeom prst="rect">
            <a:avLst/>
          </a:prstGeom>
          <a:solidFill>
            <a:srgbClr val="1A7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B hdr Fix the math"/>
          <p:cNvSpPr txBox="1"/>
          <p:nvPr/>
        </p:nvSpPr>
        <p:spPr>
          <a:xfrm>
            <a:off x="438912" y="1645920"/>
            <a:ext cx="3904487" cy="201168"/>
          </a:xfrm>
          <a:prstGeom prst="rect">
            <a:avLst/>
          </a:prstGeom>
          <a:noFill/>
        </p:spPr>
        <p:txBody>
          <a:bodyPr wrap="square" lIns="0" tIns="0" rIns="0" bIns="0">
            <a:spAutoFit/>
          </a:bodyPr>
          <a:lstStyle/>
          <a:p>
            <a:pPr>
              <a:buNone/>
            </a:pPr>
            <a:r>
              <a:rPr sz="1300" b="1" i="0">
                <a:solidFill>
                  <a:srgbClr val="FFFFFF"/>
                </a:solidFill>
                <a:latin typeface="Arial"/>
              </a:rPr>
              <a:t>Fix the math</a:t>
            </a:r>
          </a:p>
        </p:txBody>
      </p:sp>
      <p:sp>
        <p:nvSpPr>
          <p:cNvPr id="53" name="TB m Fix the math/rsLoRA"/>
          <p:cNvSpPr txBox="1"/>
          <p:nvPr/>
        </p:nvSpPr>
        <p:spPr>
          <a:xfrm>
            <a:off x="438912" y="1965960"/>
            <a:ext cx="3904487" cy="182880"/>
          </a:xfrm>
          <a:prstGeom prst="rect">
            <a:avLst/>
          </a:prstGeom>
          <a:noFill/>
        </p:spPr>
        <p:txBody>
          <a:bodyPr wrap="square" lIns="0" tIns="0" rIns="0" bIns="0">
            <a:spAutoFit/>
          </a:bodyPr>
          <a:lstStyle/>
          <a:p>
            <a:pPr>
              <a:buNone/>
            </a:pPr>
            <a:r>
              <a:rPr sz="1200" b="1" i="0">
                <a:solidFill>
                  <a:srgbClr val="222222"/>
                </a:solidFill>
                <a:latin typeface="Arial"/>
              </a:rPr>
              <a:t>rsLoRA</a:t>
            </a:r>
            <a:r>
              <a:rPr sz="1000" b="0" i="0">
                <a:solidFill>
                  <a:srgbClr val="222222"/>
                </a:solidFill>
                <a:latin typeface="Arial"/>
              </a:rPr>
              <a:t>   </a:t>
            </a:r>
            <a:r>
              <a:rPr sz="1000" b="0" i="1">
                <a:solidFill>
                  <a:srgbClr val="595959"/>
                </a:solidFill>
                <a:latin typeface="Arial"/>
              </a:rPr>
              <a:t>Scaling with rank</a:t>
            </a:r>
          </a:p>
        </p:txBody>
      </p:sp>
      <p:sp>
        <p:nvSpPr>
          <p:cNvPr id="54" name="TB t Fix the math/rsLoRA"/>
          <p:cNvSpPr txBox="1"/>
          <p:nvPr/>
        </p:nvSpPr>
        <p:spPr>
          <a:xfrm>
            <a:off x="438912" y="2148840"/>
            <a:ext cx="3904487" cy="182880"/>
          </a:xfrm>
          <a:prstGeom prst="rect">
            <a:avLst/>
          </a:prstGeom>
          <a:noFill/>
        </p:spPr>
        <p:txBody>
          <a:bodyPr wrap="square" lIns="0" tIns="0" rIns="0" bIns="0">
            <a:spAutoFit/>
          </a:bodyPr>
          <a:lstStyle/>
          <a:p>
            <a:pPr>
              <a:buNone/>
            </a:pPr>
            <a:r>
              <a:rPr sz="1000" b="0" i="0">
                <a:solidFill>
                  <a:srgbClr val="222222"/>
                </a:solidFill>
                <a:latin typeface="Arial"/>
              </a:rPr>
              <a:t>α / √r replaces α / r; high-rank finally stable</a:t>
            </a:r>
          </a:p>
        </p:txBody>
      </p:sp>
      <p:sp>
        <p:nvSpPr>
          <p:cNvPr id="55" name="TB m Fix the math/LoRA+"/>
          <p:cNvSpPr txBox="1"/>
          <p:nvPr/>
        </p:nvSpPr>
        <p:spPr>
          <a:xfrm>
            <a:off x="438912" y="2350008"/>
            <a:ext cx="3904487" cy="182880"/>
          </a:xfrm>
          <a:prstGeom prst="rect">
            <a:avLst/>
          </a:prstGeom>
          <a:noFill/>
        </p:spPr>
        <p:txBody>
          <a:bodyPr wrap="square" lIns="0" tIns="0" rIns="0" bIns="0">
            <a:spAutoFit/>
          </a:bodyPr>
          <a:lstStyle/>
          <a:p>
            <a:pPr>
              <a:buNone/>
            </a:pPr>
            <a:r>
              <a:rPr sz="1200" b="1" i="0">
                <a:solidFill>
                  <a:srgbClr val="222222"/>
                </a:solidFill>
                <a:latin typeface="Arial"/>
              </a:rPr>
              <a:t>LoRA+</a:t>
            </a:r>
            <a:r>
              <a:rPr sz="1000" b="0" i="0">
                <a:solidFill>
                  <a:srgbClr val="222222"/>
                </a:solidFill>
                <a:latin typeface="Arial"/>
              </a:rPr>
              <a:t>   </a:t>
            </a:r>
            <a:r>
              <a:rPr sz="1000" b="0" i="1">
                <a:solidFill>
                  <a:srgbClr val="595959"/>
                </a:solidFill>
                <a:latin typeface="Arial"/>
              </a:rPr>
              <a:t>Optimizer</a:t>
            </a:r>
          </a:p>
        </p:txBody>
      </p:sp>
      <p:sp>
        <p:nvSpPr>
          <p:cNvPr id="56" name="TB t Fix the math/LoRA+"/>
          <p:cNvSpPr txBox="1"/>
          <p:nvPr/>
        </p:nvSpPr>
        <p:spPr>
          <a:xfrm>
            <a:off x="438912" y="2532888"/>
            <a:ext cx="3904487" cy="182880"/>
          </a:xfrm>
          <a:prstGeom prst="rect">
            <a:avLst/>
          </a:prstGeom>
          <a:noFill/>
        </p:spPr>
        <p:txBody>
          <a:bodyPr wrap="square" lIns="0" tIns="0" rIns="0" bIns="0">
            <a:spAutoFit/>
          </a:bodyPr>
          <a:lstStyle/>
          <a:p>
            <a:pPr>
              <a:buNone/>
            </a:pPr>
            <a:r>
              <a:rPr sz="1000" b="0" i="0">
                <a:solidFill>
                  <a:srgbClr val="222222"/>
                </a:solidFill>
                <a:latin typeface="Arial"/>
              </a:rPr>
              <a:t>Higher learning rate for B than A</a:t>
            </a:r>
          </a:p>
        </p:txBody>
      </p:sp>
      <p:sp>
        <p:nvSpPr>
          <p:cNvPr id="57" name="TB m Fix the math/LoRA-GA"/>
          <p:cNvSpPr txBox="1"/>
          <p:nvPr/>
        </p:nvSpPr>
        <p:spPr>
          <a:xfrm>
            <a:off x="438912" y="2734056"/>
            <a:ext cx="3904487" cy="182880"/>
          </a:xfrm>
          <a:prstGeom prst="rect">
            <a:avLst/>
          </a:prstGeom>
          <a:noFill/>
        </p:spPr>
        <p:txBody>
          <a:bodyPr wrap="square" lIns="0" tIns="0" rIns="0" bIns="0">
            <a:spAutoFit/>
          </a:bodyPr>
          <a:lstStyle/>
          <a:p>
            <a:pPr>
              <a:buNone/>
            </a:pPr>
            <a:r>
              <a:rPr sz="1200" b="1" i="0">
                <a:solidFill>
                  <a:srgbClr val="222222"/>
                </a:solidFill>
                <a:latin typeface="Arial"/>
              </a:rPr>
              <a:t>LoRA-GA</a:t>
            </a:r>
            <a:r>
              <a:rPr sz="1000" b="0" i="0">
                <a:solidFill>
                  <a:srgbClr val="222222"/>
                </a:solidFill>
                <a:latin typeface="Arial"/>
              </a:rPr>
              <a:t>   </a:t>
            </a:r>
            <a:r>
              <a:rPr sz="1000" b="0" i="1">
                <a:solidFill>
                  <a:srgbClr val="595959"/>
                </a:solidFill>
                <a:latin typeface="Arial"/>
              </a:rPr>
              <a:t>Initialization</a:t>
            </a:r>
          </a:p>
        </p:txBody>
      </p:sp>
      <p:sp>
        <p:nvSpPr>
          <p:cNvPr id="58" name="TB t Fix the math/LoRA-GA"/>
          <p:cNvSpPr txBox="1"/>
          <p:nvPr/>
        </p:nvSpPr>
        <p:spPr>
          <a:xfrm>
            <a:off x="438912" y="2916936"/>
            <a:ext cx="3904487" cy="182880"/>
          </a:xfrm>
          <a:prstGeom prst="rect">
            <a:avLst/>
          </a:prstGeom>
          <a:noFill/>
        </p:spPr>
        <p:txBody>
          <a:bodyPr wrap="square" lIns="0" tIns="0" rIns="0" bIns="0">
            <a:spAutoFit/>
          </a:bodyPr>
          <a:lstStyle/>
          <a:p>
            <a:pPr>
              <a:buNone/>
            </a:pPr>
            <a:r>
              <a:rPr sz="1000" b="0" i="0">
                <a:solidFill>
                  <a:srgbClr val="222222"/>
                </a:solidFill>
                <a:latin typeface="Arial"/>
              </a:rPr>
              <a:t>Init so first step matches full-FT gradient</a:t>
            </a:r>
          </a:p>
        </p:txBody>
      </p:sp>
      <p:sp>
        <p:nvSpPr>
          <p:cNvPr id="59" name="panel bg Choose the subspace"/>
          <p:cNvSpPr/>
          <p:nvPr/>
        </p:nvSpPr>
        <p:spPr>
          <a:xfrm>
            <a:off x="4672583" y="1600200"/>
            <a:ext cx="4160520" cy="1508760"/>
          </a:xfrm>
          <a:prstGeom prst="roundRect">
            <a:avLst/>
          </a:prstGeom>
          <a:solidFill>
            <a:srgbClr val="F3E8FD"/>
          </a:solidFill>
          <a:ln>
            <a:solidFill>
              <a:srgbClr val="8A2E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panel hdr Choose the subspace"/>
          <p:cNvSpPr/>
          <p:nvPr/>
        </p:nvSpPr>
        <p:spPr>
          <a:xfrm>
            <a:off x="4672583" y="1600200"/>
            <a:ext cx="4160520" cy="292608"/>
          </a:xfrm>
          <a:prstGeom prst="roundRect">
            <a:avLst/>
          </a:prstGeom>
          <a:solidFill>
            <a:srgbClr val="8A2E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panel hdr strip Choose the subspace"/>
          <p:cNvSpPr/>
          <p:nvPr/>
        </p:nvSpPr>
        <p:spPr>
          <a:xfrm>
            <a:off x="4672583" y="1801367"/>
            <a:ext cx="4160520" cy="91440"/>
          </a:xfrm>
          <a:prstGeom prst="rect">
            <a:avLst/>
          </a:prstGeom>
          <a:solidFill>
            <a:srgbClr val="8A2E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B hdr Choose the subspace"/>
          <p:cNvSpPr txBox="1"/>
          <p:nvPr/>
        </p:nvSpPr>
        <p:spPr>
          <a:xfrm>
            <a:off x="4800599" y="1645920"/>
            <a:ext cx="3904487" cy="201168"/>
          </a:xfrm>
          <a:prstGeom prst="rect">
            <a:avLst/>
          </a:prstGeom>
          <a:noFill/>
        </p:spPr>
        <p:txBody>
          <a:bodyPr wrap="square" lIns="0" tIns="0" rIns="0" bIns="0">
            <a:spAutoFit/>
          </a:bodyPr>
          <a:lstStyle/>
          <a:p>
            <a:pPr>
              <a:buNone/>
            </a:pPr>
            <a:r>
              <a:rPr sz="1300" b="1" i="0">
                <a:solidFill>
                  <a:srgbClr val="FFFFFF"/>
                </a:solidFill>
                <a:latin typeface="Arial"/>
              </a:rPr>
              <a:t>Choose the subspace</a:t>
            </a:r>
          </a:p>
        </p:txBody>
      </p:sp>
      <p:sp>
        <p:nvSpPr>
          <p:cNvPr id="63" name="TB m Choose the subspace/DoRA"/>
          <p:cNvSpPr txBox="1"/>
          <p:nvPr/>
        </p:nvSpPr>
        <p:spPr>
          <a:xfrm>
            <a:off x="4800599" y="1965960"/>
            <a:ext cx="3904487" cy="182880"/>
          </a:xfrm>
          <a:prstGeom prst="rect">
            <a:avLst/>
          </a:prstGeom>
          <a:noFill/>
        </p:spPr>
        <p:txBody>
          <a:bodyPr wrap="square" lIns="0" tIns="0" rIns="0" bIns="0">
            <a:spAutoFit/>
          </a:bodyPr>
          <a:lstStyle/>
          <a:p>
            <a:pPr>
              <a:buNone/>
            </a:pPr>
            <a:r>
              <a:rPr sz="1200" b="1" i="0">
                <a:solidFill>
                  <a:srgbClr val="222222"/>
                </a:solidFill>
                <a:latin typeface="Arial"/>
              </a:rPr>
              <a:t>DoRA</a:t>
            </a:r>
            <a:r>
              <a:rPr sz="1000" b="0" i="0">
                <a:solidFill>
                  <a:srgbClr val="222222"/>
                </a:solidFill>
                <a:latin typeface="Arial"/>
              </a:rPr>
              <a:t>   </a:t>
            </a:r>
            <a:r>
              <a:rPr sz="1000" b="0" i="1">
                <a:solidFill>
                  <a:srgbClr val="595959"/>
                </a:solidFill>
                <a:latin typeface="Arial"/>
              </a:rPr>
              <a:t>Weight geometry</a:t>
            </a:r>
          </a:p>
        </p:txBody>
      </p:sp>
      <p:sp>
        <p:nvSpPr>
          <p:cNvPr id="64" name="TB t Choose the subspace/DoRA"/>
          <p:cNvSpPr txBox="1"/>
          <p:nvPr/>
        </p:nvSpPr>
        <p:spPr>
          <a:xfrm>
            <a:off x="4800599" y="2148840"/>
            <a:ext cx="3904487" cy="182880"/>
          </a:xfrm>
          <a:prstGeom prst="rect">
            <a:avLst/>
          </a:prstGeom>
          <a:noFill/>
        </p:spPr>
        <p:txBody>
          <a:bodyPr wrap="square" lIns="0" tIns="0" rIns="0" bIns="0">
            <a:spAutoFit/>
          </a:bodyPr>
          <a:lstStyle/>
          <a:p>
            <a:pPr>
              <a:buNone/>
            </a:pPr>
            <a:r>
              <a:rPr sz="1000" b="0" i="0">
                <a:solidFill>
                  <a:srgbClr val="222222"/>
                </a:solidFill>
                <a:latin typeface="Arial"/>
              </a:rPr>
              <a:t>Magnitude + direction; LoRA the direction</a:t>
            </a:r>
          </a:p>
        </p:txBody>
      </p:sp>
      <p:sp>
        <p:nvSpPr>
          <p:cNvPr id="65" name="TB m Choose the subspace/PiSSA"/>
          <p:cNvSpPr txBox="1"/>
          <p:nvPr/>
        </p:nvSpPr>
        <p:spPr>
          <a:xfrm>
            <a:off x="4800599" y="2350008"/>
            <a:ext cx="3904487" cy="182880"/>
          </a:xfrm>
          <a:prstGeom prst="rect">
            <a:avLst/>
          </a:prstGeom>
          <a:noFill/>
        </p:spPr>
        <p:txBody>
          <a:bodyPr wrap="square" lIns="0" tIns="0" rIns="0" bIns="0">
            <a:spAutoFit/>
          </a:bodyPr>
          <a:lstStyle/>
          <a:p>
            <a:pPr>
              <a:buNone/>
            </a:pPr>
            <a:r>
              <a:rPr sz="1200" b="1" i="0">
                <a:solidFill>
                  <a:srgbClr val="222222"/>
                </a:solidFill>
                <a:latin typeface="Arial"/>
              </a:rPr>
              <a:t>PiSSA</a:t>
            </a:r>
            <a:r>
              <a:rPr sz="1000" b="0" i="0">
                <a:solidFill>
                  <a:srgbClr val="222222"/>
                </a:solidFill>
                <a:latin typeface="Arial"/>
              </a:rPr>
              <a:t>   </a:t>
            </a:r>
            <a:r>
              <a:rPr sz="1000" b="0" i="1">
                <a:solidFill>
                  <a:srgbClr val="595959"/>
                </a:solidFill>
                <a:latin typeface="Arial"/>
              </a:rPr>
              <a:t>Init from weights</a:t>
            </a:r>
          </a:p>
        </p:txBody>
      </p:sp>
      <p:sp>
        <p:nvSpPr>
          <p:cNvPr id="66" name="TB t Choose the subspace/PiSSA"/>
          <p:cNvSpPr txBox="1"/>
          <p:nvPr/>
        </p:nvSpPr>
        <p:spPr>
          <a:xfrm>
            <a:off x="4800599" y="2532888"/>
            <a:ext cx="3904487" cy="182880"/>
          </a:xfrm>
          <a:prstGeom prst="rect">
            <a:avLst/>
          </a:prstGeom>
          <a:noFill/>
        </p:spPr>
        <p:txBody>
          <a:bodyPr wrap="square" lIns="0" tIns="0" rIns="0" bIns="0">
            <a:spAutoFit/>
          </a:bodyPr>
          <a:lstStyle/>
          <a:p>
            <a:pPr>
              <a:buNone/>
            </a:pPr>
            <a:r>
              <a:rPr sz="1000" b="0" i="0">
                <a:solidFill>
                  <a:srgbClr val="222222"/>
                </a:solidFill>
                <a:latin typeface="Arial"/>
              </a:rPr>
              <a:t>Init from top-r SVD of W₀</a:t>
            </a:r>
          </a:p>
        </p:txBody>
      </p:sp>
      <p:sp>
        <p:nvSpPr>
          <p:cNvPr id="67" name="TB m Choose the subspace/EVA"/>
          <p:cNvSpPr txBox="1"/>
          <p:nvPr/>
        </p:nvSpPr>
        <p:spPr>
          <a:xfrm>
            <a:off x="4800599" y="2734056"/>
            <a:ext cx="3904487" cy="182880"/>
          </a:xfrm>
          <a:prstGeom prst="rect">
            <a:avLst/>
          </a:prstGeom>
          <a:noFill/>
        </p:spPr>
        <p:txBody>
          <a:bodyPr wrap="square" lIns="0" tIns="0" rIns="0" bIns="0">
            <a:spAutoFit/>
          </a:bodyPr>
          <a:lstStyle/>
          <a:p>
            <a:pPr>
              <a:buNone/>
            </a:pPr>
            <a:r>
              <a:rPr sz="1200" b="1" i="0">
                <a:solidFill>
                  <a:srgbClr val="222222"/>
                </a:solidFill>
                <a:latin typeface="Arial"/>
              </a:rPr>
              <a:t>EVA</a:t>
            </a:r>
            <a:r>
              <a:rPr sz="1000" b="0" i="0">
                <a:solidFill>
                  <a:srgbClr val="222222"/>
                </a:solidFill>
                <a:latin typeface="Arial"/>
              </a:rPr>
              <a:t>   </a:t>
            </a:r>
            <a:r>
              <a:rPr sz="1000" b="0" i="1">
                <a:solidFill>
                  <a:srgbClr val="595959"/>
                </a:solidFill>
                <a:latin typeface="Arial"/>
              </a:rPr>
              <a:t>Init from data</a:t>
            </a:r>
          </a:p>
        </p:txBody>
      </p:sp>
      <p:sp>
        <p:nvSpPr>
          <p:cNvPr id="68" name="TB t Choose the subspace/EVA"/>
          <p:cNvSpPr txBox="1"/>
          <p:nvPr/>
        </p:nvSpPr>
        <p:spPr>
          <a:xfrm>
            <a:off x="4800599" y="2916936"/>
            <a:ext cx="3904487" cy="182880"/>
          </a:xfrm>
          <a:prstGeom prst="rect">
            <a:avLst/>
          </a:prstGeom>
          <a:noFill/>
        </p:spPr>
        <p:txBody>
          <a:bodyPr wrap="square" lIns="0" tIns="0" rIns="0" bIns="0">
            <a:spAutoFit/>
          </a:bodyPr>
          <a:lstStyle/>
          <a:p>
            <a:pPr>
              <a:buNone/>
            </a:pPr>
            <a:r>
              <a:rPr sz="1000" b="0" i="0">
                <a:solidFill>
                  <a:srgbClr val="222222"/>
                </a:solidFill>
                <a:latin typeface="Arial"/>
              </a:rPr>
              <a:t>SVD of activations; rank by variance</a:t>
            </a:r>
          </a:p>
        </p:txBody>
      </p:sp>
      <p:sp>
        <p:nvSpPr>
          <p:cNvPr id="69" name="panel bg Shrink memory"/>
          <p:cNvSpPr/>
          <p:nvPr/>
        </p:nvSpPr>
        <p:spPr>
          <a:xfrm>
            <a:off x="310896" y="3200400"/>
            <a:ext cx="4160520" cy="1508760"/>
          </a:xfrm>
          <a:prstGeom prst="roundRect">
            <a:avLst/>
          </a:prstGeom>
          <a:solidFill>
            <a:srgbClr val="E6F4EA"/>
          </a:solidFill>
          <a:ln>
            <a:solidFill>
              <a:srgbClr val="0F9D5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panel hdr Shrink memory"/>
          <p:cNvSpPr/>
          <p:nvPr/>
        </p:nvSpPr>
        <p:spPr>
          <a:xfrm>
            <a:off x="310896" y="3200400"/>
            <a:ext cx="4160520" cy="292608"/>
          </a:xfrm>
          <a:prstGeom prst="roundRect">
            <a:avLst/>
          </a:prstGeom>
          <a:solidFill>
            <a:srgbClr val="0F9D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panel hdr strip Shrink memory"/>
          <p:cNvSpPr/>
          <p:nvPr/>
        </p:nvSpPr>
        <p:spPr>
          <a:xfrm>
            <a:off x="310896" y="3401568"/>
            <a:ext cx="4160520" cy="91440"/>
          </a:xfrm>
          <a:prstGeom prst="rect">
            <a:avLst/>
          </a:prstGeom>
          <a:solidFill>
            <a:srgbClr val="0F9D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TB hdr Shrink memory"/>
          <p:cNvSpPr txBox="1"/>
          <p:nvPr/>
        </p:nvSpPr>
        <p:spPr>
          <a:xfrm>
            <a:off x="438912" y="3246120"/>
            <a:ext cx="3904487" cy="201168"/>
          </a:xfrm>
          <a:prstGeom prst="rect">
            <a:avLst/>
          </a:prstGeom>
          <a:noFill/>
        </p:spPr>
        <p:txBody>
          <a:bodyPr wrap="square" lIns="0" tIns="0" rIns="0" bIns="0">
            <a:spAutoFit/>
          </a:bodyPr>
          <a:lstStyle/>
          <a:p>
            <a:pPr>
              <a:buNone/>
            </a:pPr>
            <a:r>
              <a:rPr sz="1300" b="1" i="0">
                <a:solidFill>
                  <a:srgbClr val="FFFFFF"/>
                </a:solidFill>
                <a:latin typeface="Arial"/>
              </a:rPr>
              <a:t>Shrink memory</a:t>
            </a:r>
          </a:p>
        </p:txBody>
      </p:sp>
      <p:sp>
        <p:nvSpPr>
          <p:cNvPr id="73" name="TB m Shrink memory/QLoRA"/>
          <p:cNvSpPr txBox="1"/>
          <p:nvPr/>
        </p:nvSpPr>
        <p:spPr>
          <a:xfrm>
            <a:off x="438912" y="3566160"/>
            <a:ext cx="3904487" cy="182880"/>
          </a:xfrm>
          <a:prstGeom prst="rect">
            <a:avLst/>
          </a:prstGeom>
          <a:noFill/>
        </p:spPr>
        <p:txBody>
          <a:bodyPr wrap="square" lIns="0" tIns="0" rIns="0" bIns="0">
            <a:spAutoFit/>
          </a:bodyPr>
          <a:lstStyle/>
          <a:p>
            <a:pPr>
              <a:buNone/>
            </a:pPr>
            <a:r>
              <a:rPr sz="1200" b="1" i="0">
                <a:solidFill>
                  <a:srgbClr val="222222"/>
                </a:solidFill>
                <a:latin typeface="Arial"/>
              </a:rPr>
              <a:t>QLoRA</a:t>
            </a:r>
            <a:r>
              <a:rPr sz="1000" b="0" i="0">
                <a:solidFill>
                  <a:srgbClr val="222222"/>
                </a:solidFill>
                <a:latin typeface="Arial"/>
              </a:rPr>
              <a:t>   </a:t>
            </a:r>
            <a:r>
              <a:rPr sz="1000" b="0" i="1">
                <a:solidFill>
                  <a:srgbClr val="595959"/>
                </a:solidFill>
                <a:latin typeface="Arial"/>
              </a:rPr>
              <a:t>Base memory</a:t>
            </a:r>
          </a:p>
        </p:txBody>
      </p:sp>
      <p:sp>
        <p:nvSpPr>
          <p:cNvPr id="74" name="TB t Shrink memory/QLoRA"/>
          <p:cNvSpPr txBox="1"/>
          <p:nvPr/>
        </p:nvSpPr>
        <p:spPr>
          <a:xfrm>
            <a:off x="438912" y="3749039"/>
            <a:ext cx="3904487" cy="182880"/>
          </a:xfrm>
          <a:prstGeom prst="rect">
            <a:avLst/>
          </a:prstGeom>
          <a:noFill/>
        </p:spPr>
        <p:txBody>
          <a:bodyPr wrap="square" lIns="0" tIns="0" rIns="0" bIns="0">
            <a:spAutoFit/>
          </a:bodyPr>
          <a:lstStyle/>
          <a:p>
            <a:pPr>
              <a:buNone/>
            </a:pPr>
            <a:r>
              <a:rPr sz="1000" b="0" i="0">
                <a:solidFill>
                  <a:srgbClr val="222222"/>
                </a:solidFill>
                <a:latin typeface="Arial"/>
              </a:rPr>
              <a:t>Freeze 4-bit NF4 backbone; backprop into LoRA</a:t>
            </a:r>
          </a:p>
        </p:txBody>
      </p:sp>
      <p:sp>
        <p:nvSpPr>
          <p:cNvPr id="75" name="TB m Shrink memory/VeRA / LoRA-XS"/>
          <p:cNvSpPr txBox="1"/>
          <p:nvPr/>
        </p:nvSpPr>
        <p:spPr>
          <a:xfrm>
            <a:off x="438912" y="3950207"/>
            <a:ext cx="3904487" cy="182880"/>
          </a:xfrm>
          <a:prstGeom prst="rect">
            <a:avLst/>
          </a:prstGeom>
          <a:noFill/>
        </p:spPr>
        <p:txBody>
          <a:bodyPr wrap="square" lIns="0" tIns="0" rIns="0" bIns="0">
            <a:spAutoFit/>
          </a:bodyPr>
          <a:lstStyle/>
          <a:p>
            <a:pPr>
              <a:buNone/>
            </a:pPr>
            <a:r>
              <a:rPr sz="1200" b="1" i="0">
                <a:solidFill>
                  <a:srgbClr val="222222"/>
                </a:solidFill>
                <a:latin typeface="Arial"/>
              </a:rPr>
              <a:t>VeRA / LoRA-XS</a:t>
            </a:r>
            <a:r>
              <a:rPr sz="1000" b="0" i="0">
                <a:solidFill>
                  <a:srgbClr val="222222"/>
                </a:solidFill>
                <a:latin typeface="Arial"/>
              </a:rPr>
              <a:t>   </a:t>
            </a:r>
            <a:r>
              <a:rPr sz="1000" b="0" i="1">
                <a:solidFill>
                  <a:srgbClr val="595959"/>
                </a:solidFill>
                <a:latin typeface="Arial"/>
              </a:rPr>
              <a:t>Tiny adapters</a:t>
            </a:r>
          </a:p>
        </p:txBody>
      </p:sp>
      <p:sp>
        <p:nvSpPr>
          <p:cNvPr id="76" name="TB t Shrink memory/VeRA / LoRA-XS"/>
          <p:cNvSpPr txBox="1"/>
          <p:nvPr/>
        </p:nvSpPr>
        <p:spPr>
          <a:xfrm>
            <a:off x="438912" y="4133087"/>
            <a:ext cx="3904487" cy="182880"/>
          </a:xfrm>
          <a:prstGeom prst="rect">
            <a:avLst/>
          </a:prstGeom>
          <a:noFill/>
        </p:spPr>
        <p:txBody>
          <a:bodyPr wrap="square" lIns="0" tIns="0" rIns="0" bIns="0">
            <a:spAutoFit/>
          </a:bodyPr>
          <a:lstStyle/>
          <a:p>
            <a:pPr>
              <a:buNone/>
            </a:pPr>
            <a:r>
              <a:rPr sz="1000" b="0" i="0">
                <a:solidFill>
                  <a:srgbClr val="222222"/>
                </a:solidFill>
                <a:latin typeface="Arial"/>
              </a:rPr>
              <a:t>Freeze basis; learn only tiny scales</a:t>
            </a:r>
          </a:p>
        </p:txBody>
      </p:sp>
      <p:sp>
        <p:nvSpPr>
          <p:cNvPr id="77" name="panel bg Escape low-rank"/>
          <p:cNvSpPr/>
          <p:nvPr/>
        </p:nvSpPr>
        <p:spPr>
          <a:xfrm>
            <a:off x="4672583" y="3200400"/>
            <a:ext cx="4160520" cy="1508760"/>
          </a:xfrm>
          <a:prstGeom prst="roundRect">
            <a:avLst/>
          </a:prstGeom>
          <a:solidFill>
            <a:srgbClr val="FEF3E0"/>
          </a:solidFill>
          <a:ln>
            <a:solidFill>
              <a:srgbClr val="F49E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panel hdr Escape low-rank"/>
          <p:cNvSpPr/>
          <p:nvPr/>
        </p:nvSpPr>
        <p:spPr>
          <a:xfrm>
            <a:off x="4672583" y="3200400"/>
            <a:ext cx="4160520" cy="292608"/>
          </a:xfrm>
          <a:prstGeom prst="roundRect">
            <a:avLst/>
          </a:prstGeom>
          <a:solidFill>
            <a:srgbClr val="F49E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 name="panel hdr strip Escape low-rank"/>
          <p:cNvSpPr/>
          <p:nvPr/>
        </p:nvSpPr>
        <p:spPr>
          <a:xfrm>
            <a:off x="4672583" y="3401568"/>
            <a:ext cx="4160520" cy="91440"/>
          </a:xfrm>
          <a:prstGeom prst="rect">
            <a:avLst/>
          </a:prstGeom>
          <a:solidFill>
            <a:srgbClr val="F49E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 name="TB hdr Escape low-rank"/>
          <p:cNvSpPr txBox="1"/>
          <p:nvPr/>
        </p:nvSpPr>
        <p:spPr>
          <a:xfrm>
            <a:off x="4800599" y="3246120"/>
            <a:ext cx="3904487" cy="201168"/>
          </a:xfrm>
          <a:prstGeom prst="rect">
            <a:avLst/>
          </a:prstGeom>
          <a:noFill/>
        </p:spPr>
        <p:txBody>
          <a:bodyPr wrap="square" lIns="0" tIns="0" rIns="0" bIns="0">
            <a:spAutoFit/>
          </a:bodyPr>
          <a:lstStyle/>
          <a:p>
            <a:pPr>
              <a:buNone/>
            </a:pPr>
            <a:r>
              <a:rPr sz="1300" b="1" i="0">
                <a:solidFill>
                  <a:srgbClr val="FFFFFF"/>
                </a:solidFill>
                <a:latin typeface="Arial"/>
              </a:rPr>
              <a:t>Escape low-rank</a:t>
            </a:r>
          </a:p>
        </p:txBody>
      </p:sp>
      <p:sp>
        <p:nvSpPr>
          <p:cNvPr id="81" name="TB m Escape low-rank/MoRA / RandLoRA / GraLoRA"/>
          <p:cNvSpPr txBox="1"/>
          <p:nvPr/>
        </p:nvSpPr>
        <p:spPr>
          <a:xfrm>
            <a:off x="4800599" y="3566160"/>
            <a:ext cx="3904487" cy="182880"/>
          </a:xfrm>
          <a:prstGeom prst="rect">
            <a:avLst/>
          </a:prstGeom>
          <a:noFill/>
        </p:spPr>
        <p:txBody>
          <a:bodyPr wrap="square" lIns="0" tIns="0" rIns="0" bIns="0">
            <a:spAutoFit/>
          </a:bodyPr>
          <a:lstStyle/>
          <a:p>
            <a:pPr>
              <a:buNone/>
            </a:pPr>
            <a:r>
              <a:rPr sz="1200" b="1" i="0">
                <a:solidFill>
                  <a:srgbClr val="222222"/>
                </a:solidFill>
                <a:latin typeface="Arial"/>
              </a:rPr>
              <a:t>MoRA / RandLoRA / GraLoRA</a:t>
            </a:r>
            <a:r>
              <a:rPr sz="1000" b="0" i="0">
                <a:solidFill>
                  <a:srgbClr val="222222"/>
                </a:solidFill>
                <a:latin typeface="Arial"/>
              </a:rPr>
              <a:t>   </a:t>
            </a:r>
            <a:r>
              <a:rPr sz="1000" b="0" i="1">
                <a:solidFill>
                  <a:srgbClr val="595959"/>
                </a:solidFill>
                <a:latin typeface="Arial"/>
              </a:rPr>
              <a:t>Beyond low-rank</a:t>
            </a:r>
          </a:p>
        </p:txBody>
      </p:sp>
      <p:sp>
        <p:nvSpPr>
          <p:cNvPr id="82" name="TB t Escape low-rank/MoRA / RandLoRA / GraLoRA"/>
          <p:cNvSpPr txBox="1"/>
          <p:nvPr/>
        </p:nvSpPr>
        <p:spPr>
          <a:xfrm>
            <a:off x="4800599" y="3749039"/>
            <a:ext cx="3904487" cy="182880"/>
          </a:xfrm>
          <a:prstGeom prst="rect">
            <a:avLst/>
          </a:prstGeom>
          <a:noFill/>
        </p:spPr>
        <p:txBody>
          <a:bodyPr wrap="square" lIns="0" tIns="0" rIns="0" bIns="0">
            <a:spAutoFit/>
          </a:bodyPr>
          <a:lstStyle/>
          <a:p>
            <a:pPr>
              <a:buNone/>
            </a:pPr>
            <a:r>
              <a:rPr sz="1000" b="0" i="0">
                <a:solidFill>
                  <a:srgbClr val="222222"/>
                </a:solidFill>
                <a:latin typeface="Arial"/>
              </a:rPr>
              <a:t>Higher or full effective rank at LoRA cost</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B section title"/>
          <p:cNvSpPr txBox="1"/>
          <p:nvPr/>
        </p:nvSpPr>
        <p:spPr>
          <a:xfrm>
            <a:off x="457200" y="2194560"/>
            <a:ext cx="8229600" cy="1097280"/>
          </a:xfrm>
          <a:prstGeom prst="rect">
            <a:avLst/>
          </a:prstGeom>
          <a:noFill/>
        </p:spPr>
        <p:txBody>
          <a:bodyPr wrap="square" lIns="0" tIns="0" rIns="0" bIns="0" anchor="t">
            <a:spAutoFit/>
          </a:bodyPr>
          <a:lstStyle/>
          <a:p>
            <a:pPr algn="l"/>
            <a:r>
              <a:rPr sz="3200" b="1">
                <a:solidFill>
                  <a:srgbClr val="222222"/>
                </a:solidFill>
                <a:latin typeface="Arial"/>
              </a:rPr>
              <a:t>Using PEFT</a:t>
            </a:r>
          </a:p>
        </p:txBody>
      </p:sp>
      <p:sp>
        <p:nvSpPr>
          <p:cNvPr id="4" name="BG rule"/>
          <p:cNvSpPr/>
          <p:nvPr/>
        </p:nvSpPr>
        <p:spPr>
          <a:xfrm>
            <a:off x="457200" y="3383280"/>
            <a:ext cx="1097280" cy="36576"/>
          </a:xfrm>
          <a:prstGeom prst="rect">
            <a:avLst/>
          </a:prstGeom>
          <a:solidFill>
            <a:srgbClr val="428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PageNum 29"/>
          <p:cNvSpPr txBox="1"/>
          <p:nvPr/>
        </p:nvSpPr>
        <p:spPr>
          <a:xfrm>
            <a:off x="8595360" y="4892040"/>
            <a:ext cx="457200" cy="201168"/>
          </a:xfrm>
          <a:prstGeom prst="rect">
            <a:avLst/>
          </a:prstGeom>
          <a:noFill/>
        </p:spPr>
        <p:txBody>
          <a:bodyPr wrap="square" lIns="0" tIns="0" rIns="0" bIns="0">
            <a:spAutoFit/>
          </a:bodyPr>
          <a:lstStyle/>
          <a:p>
            <a:pPr algn="r"/>
            <a:r>
              <a:rPr sz="900">
                <a:solidFill>
                  <a:srgbClr val="595959"/>
                </a:solidFill>
                <a:latin typeface="Arial"/>
              </a:rPr>
              <a:t>24</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B title"/>
          <p:cNvSpPr txBox="1"/>
          <p:nvPr/>
        </p:nvSpPr>
        <p:spPr>
          <a:xfrm>
            <a:off x="310896" y="448056"/>
            <a:ext cx="8522208" cy="576072"/>
          </a:xfrm>
          <a:prstGeom prst="rect">
            <a:avLst/>
          </a:prstGeom>
          <a:noFill/>
        </p:spPr>
        <p:txBody>
          <a:bodyPr wrap="square" lIns="0" tIns="0" rIns="0" bIns="0" anchor="t">
            <a:spAutoFit/>
          </a:bodyPr>
          <a:lstStyle/>
          <a:p>
            <a:pPr algn="l"/>
            <a:r>
              <a:rPr sz="2600" b="1" i="0">
                <a:solidFill>
                  <a:srgbClr val="222222"/>
                </a:solidFill>
                <a:latin typeface="Arial"/>
              </a:rPr>
              <a:t>How teams use PEFT in practice</a:t>
            </a:r>
          </a:p>
        </p:txBody>
      </p:sp>
      <p:sp>
        <p:nvSpPr>
          <p:cNvPr id="3" name="BG title rule"/>
          <p:cNvSpPr/>
          <p:nvPr/>
        </p:nvSpPr>
        <p:spPr>
          <a:xfrm>
            <a:off x="310896" y="1033271"/>
            <a:ext cx="548640" cy="27432"/>
          </a:xfrm>
          <a:prstGeom prst="rect">
            <a:avLst/>
          </a:prstGeom>
          <a:solidFill>
            <a:srgbClr val="428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BG accent bar 0"/>
          <p:cNvSpPr/>
          <p:nvPr/>
        </p:nvSpPr>
        <p:spPr>
          <a:xfrm>
            <a:off x="310896" y="1371600"/>
            <a:ext cx="73152" cy="960120"/>
          </a:xfrm>
          <a:prstGeom prst="rect">
            <a:avLst/>
          </a:prstGeom>
          <a:solidFill>
            <a:srgbClr val="428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B block title 0"/>
          <p:cNvSpPr txBox="1"/>
          <p:nvPr/>
        </p:nvSpPr>
        <p:spPr>
          <a:xfrm>
            <a:off x="539496" y="1417320"/>
            <a:ext cx="8202168" cy="365760"/>
          </a:xfrm>
          <a:prstGeom prst="rect">
            <a:avLst/>
          </a:prstGeom>
          <a:noFill/>
        </p:spPr>
        <p:txBody>
          <a:bodyPr wrap="square" lIns="0" tIns="0" rIns="0" bIns="0" anchor="t">
            <a:spAutoFit/>
          </a:bodyPr>
          <a:lstStyle/>
          <a:p>
            <a:pPr algn="l"/>
            <a:r>
              <a:rPr sz="1600" b="1" i="0">
                <a:solidFill>
                  <a:srgbClr val="222222"/>
                </a:solidFill>
                <a:latin typeface="Arial"/>
              </a:rPr>
              <a:t>Task- or tenant-specific adapters</a:t>
            </a:r>
          </a:p>
        </p:txBody>
      </p:sp>
      <p:sp>
        <p:nvSpPr>
          <p:cNvPr id="6" name="TB block desc 0"/>
          <p:cNvSpPr txBox="1"/>
          <p:nvPr/>
        </p:nvSpPr>
        <p:spPr>
          <a:xfrm>
            <a:off x="539496" y="1828800"/>
            <a:ext cx="8202168" cy="457200"/>
          </a:xfrm>
          <a:prstGeom prst="rect">
            <a:avLst/>
          </a:prstGeom>
          <a:noFill/>
        </p:spPr>
        <p:txBody>
          <a:bodyPr wrap="square" lIns="0" tIns="0" rIns="0" bIns="0" anchor="t">
            <a:spAutoFit/>
          </a:bodyPr>
          <a:lstStyle/>
          <a:p>
            <a:pPr algn="l">
              <a:buNone/>
            </a:pPr>
            <a:r>
              <a:rPr sz="1300" b="1">
                <a:solidFill>
                  <a:srgbClr val="222222"/>
                </a:solidFill>
                <a:latin typeface="Arial"/>
              </a:rPr>
              <a:t>One base model</a:t>
            </a:r>
            <a:r>
              <a:rPr sz="1300" b="0">
                <a:solidFill>
                  <a:srgbClr val="595959"/>
                </a:solidFill>
                <a:latin typeface="Arial"/>
              </a:rPr>
              <a:t>. Small </a:t>
            </a:r>
            <a:r>
              <a:rPr sz="1300" b="1">
                <a:solidFill>
                  <a:srgbClr val="222222"/>
                </a:solidFill>
                <a:latin typeface="Arial"/>
              </a:rPr>
              <a:t>LoRA adapters per task, domain, or customer</a:t>
            </a:r>
            <a:r>
              <a:rPr sz="1300" b="0">
                <a:solidFill>
                  <a:srgbClr val="595959"/>
                </a:solidFill>
                <a:latin typeface="Arial"/>
              </a:rPr>
              <a:t>, updated without touching the base.</a:t>
            </a:r>
          </a:p>
        </p:txBody>
      </p:sp>
      <p:sp>
        <p:nvSpPr>
          <p:cNvPr id="7" name="BG accent bar 1"/>
          <p:cNvSpPr/>
          <p:nvPr/>
        </p:nvSpPr>
        <p:spPr>
          <a:xfrm>
            <a:off x="310896" y="2468880"/>
            <a:ext cx="73152" cy="960120"/>
          </a:xfrm>
          <a:prstGeom prst="rect">
            <a:avLst/>
          </a:prstGeom>
          <a:solidFill>
            <a:srgbClr val="0097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B block title 1"/>
          <p:cNvSpPr txBox="1"/>
          <p:nvPr/>
        </p:nvSpPr>
        <p:spPr>
          <a:xfrm>
            <a:off x="539496" y="2514600"/>
            <a:ext cx="8202168" cy="365760"/>
          </a:xfrm>
          <a:prstGeom prst="rect">
            <a:avLst/>
          </a:prstGeom>
          <a:noFill/>
        </p:spPr>
        <p:txBody>
          <a:bodyPr wrap="square" lIns="0" tIns="0" rIns="0" bIns="0" anchor="t">
            <a:spAutoFit/>
          </a:bodyPr>
          <a:lstStyle/>
          <a:p>
            <a:pPr algn="l"/>
            <a:r>
              <a:rPr sz="1600" b="1" i="0">
                <a:solidFill>
                  <a:srgbClr val="222222"/>
                </a:solidFill>
                <a:latin typeface="Arial"/>
              </a:rPr>
              <a:t>Multi-LoRA serving with vLLM</a:t>
            </a:r>
          </a:p>
        </p:txBody>
      </p:sp>
      <p:sp>
        <p:nvSpPr>
          <p:cNvPr id="9" name="TB block desc 1"/>
          <p:cNvSpPr txBox="1"/>
          <p:nvPr/>
        </p:nvSpPr>
        <p:spPr>
          <a:xfrm>
            <a:off x="539496" y="2926080"/>
            <a:ext cx="8202168" cy="457200"/>
          </a:xfrm>
          <a:prstGeom prst="rect">
            <a:avLst/>
          </a:prstGeom>
          <a:noFill/>
        </p:spPr>
        <p:txBody>
          <a:bodyPr wrap="square" lIns="0" tIns="0" rIns="0" bIns="0" anchor="t">
            <a:spAutoFit/>
          </a:bodyPr>
          <a:lstStyle/>
          <a:p>
            <a:pPr algn="l">
              <a:buNone/>
            </a:pPr>
            <a:r>
              <a:rPr sz="1300" b="1">
                <a:solidFill>
                  <a:srgbClr val="222222"/>
                </a:solidFill>
                <a:latin typeface="Arial"/>
              </a:rPr>
              <a:t>One base-model deployment</a:t>
            </a:r>
            <a:r>
              <a:rPr sz="1300" b="0">
                <a:solidFill>
                  <a:srgbClr val="595959"/>
                </a:solidFill>
                <a:latin typeface="Arial"/>
              </a:rPr>
              <a:t> shared across many adapters. The right adapter is </a:t>
            </a:r>
            <a:r>
              <a:rPr sz="1300" b="1">
                <a:solidFill>
                  <a:srgbClr val="222222"/>
                </a:solidFill>
                <a:latin typeface="Arial"/>
              </a:rPr>
              <a:t>chosen per request</a:t>
            </a:r>
            <a:r>
              <a:rPr sz="1300" b="0">
                <a:solidFill>
                  <a:srgbClr val="595959"/>
                </a:solidFill>
                <a:latin typeface="Arial"/>
              </a:rPr>
              <a:t>, not per model.</a:t>
            </a:r>
          </a:p>
        </p:txBody>
      </p:sp>
      <p:sp>
        <p:nvSpPr>
          <p:cNvPr id="10" name="BG accent bar 2"/>
          <p:cNvSpPr/>
          <p:nvPr/>
        </p:nvSpPr>
        <p:spPr>
          <a:xfrm>
            <a:off x="310896" y="3566160"/>
            <a:ext cx="73152" cy="960120"/>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B block title 2"/>
          <p:cNvSpPr txBox="1"/>
          <p:nvPr/>
        </p:nvSpPr>
        <p:spPr>
          <a:xfrm>
            <a:off x="539496" y="3611879"/>
            <a:ext cx="8202168" cy="365760"/>
          </a:xfrm>
          <a:prstGeom prst="rect">
            <a:avLst/>
          </a:prstGeom>
          <a:noFill/>
        </p:spPr>
        <p:txBody>
          <a:bodyPr wrap="square" lIns="0" tIns="0" rIns="0" bIns="0" anchor="t">
            <a:spAutoFit/>
          </a:bodyPr>
          <a:lstStyle/>
          <a:p>
            <a:pPr algn="l"/>
            <a:r>
              <a:rPr sz="1600" b="1" i="0">
                <a:solidFill>
                  <a:srgbClr val="222222"/>
                </a:solidFill>
                <a:latin typeface="Arial"/>
              </a:rPr>
              <a:t>PEFT across the post-training stack</a:t>
            </a:r>
          </a:p>
        </p:txBody>
      </p:sp>
      <p:sp>
        <p:nvSpPr>
          <p:cNvPr id="12" name="TB block desc 2"/>
          <p:cNvSpPr txBox="1"/>
          <p:nvPr/>
        </p:nvSpPr>
        <p:spPr>
          <a:xfrm>
            <a:off x="539496" y="4023360"/>
            <a:ext cx="8202168" cy="200055"/>
          </a:xfrm>
          <a:prstGeom prst="rect">
            <a:avLst/>
          </a:prstGeom>
          <a:noFill/>
        </p:spPr>
        <p:txBody>
          <a:bodyPr wrap="square" lIns="0" tIns="0" rIns="0" bIns="0" anchor="t">
            <a:spAutoFit/>
          </a:bodyPr>
          <a:lstStyle/>
          <a:p>
            <a:pPr algn="l">
              <a:buNone/>
            </a:pPr>
            <a:r>
              <a:rPr sz="1300" b="1" dirty="0">
                <a:solidFill>
                  <a:srgbClr val="222222"/>
                </a:solidFill>
                <a:latin typeface="Arial"/>
              </a:rPr>
              <a:t>The same </a:t>
            </a:r>
            <a:r>
              <a:rPr sz="1300" b="1" dirty="0" err="1">
                <a:solidFill>
                  <a:srgbClr val="222222"/>
                </a:solidFill>
                <a:latin typeface="Arial"/>
              </a:rPr>
              <a:t>LoRA</a:t>
            </a:r>
            <a:r>
              <a:rPr sz="1300" b="1" dirty="0">
                <a:solidFill>
                  <a:srgbClr val="222222"/>
                </a:solidFill>
                <a:latin typeface="Arial"/>
              </a:rPr>
              <a:t> mechanism</a:t>
            </a:r>
            <a:r>
              <a:rPr sz="1300" b="0" dirty="0">
                <a:solidFill>
                  <a:srgbClr val="595959"/>
                </a:solidFill>
                <a:latin typeface="Arial"/>
              </a:rPr>
              <a:t> backs both supervised fine-tuning and preference optimization (</a:t>
            </a:r>
            <a:r>
              <a:rPr sz="1300" b="1" dirty="0">
                <a:solidFill>
                  <a:srgbClr val="222222"/>
                </a:solidFill>
                <a:latin typeface="Arial"/>
              </a:rPr>
              <a:t>DPO</a:t>
            </a:r>
            <a:r>
              <a:rPr sz="1300" b="0" dirty="0">
                <a:solidFill>
                  <a:srgbClr val="595959"/>
                </a:solidFill>
                <a:latin typeface="Arial"/>
              </a:rPr>
              <a:t>).</a:t>
            </a:r>
          </a:p>
        </p:txBody>
      </p:sp>
      <p:sp>
        <p:nvSpPr>
          <p:cNvPr id="14" name="PageNum 30"/>
          <p:cNvSpPr txBox="1"/>
          <p:nvPr/>
        </p:nvSpPr>
        <p:spPr>
          <a:xfrm>
            <a:off x="8595360" y="4892040"/>
            <a:ext cx="457200" cy="201168"/>
          </a:xfrm>
          <a:prstGeom prst="rect">
            <a:avLst/>
          </a:prstGeom>
          <a:noFill/>
        </p:spPr>
        <p:txBody>
          <a:bodyPr wrap="square" lIns="0" tIns="0" rIns="0" bIns="0">
            <a:spAutoFit/>
          </a:bodyPr>
          <a:lstStyle/>
          <a:p>
            <a:pPr algn="r"/>
            <a:r>
              <a:rPr sz="900">
                <a:solidFill>
                  <a:srgbClr val="595959"/>
                </a:solidFill>
                <a:latin typeface="Arial"/>
              </a:rPr>
              <a:t>25</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B title"/>
          <p:cNvSpPr txBox="1"/>
          <p:nvPr/>
        </p:nvSpPr>
        <p:spPr>
          <a:xfrm>
            <a:off x="310896" y="448056"/>
            <a:ext cx="8522208" cy="576072"/>
          </a:xfrm>
          <a:prstGeom prst="rect">
            <a:avLst/>
          </a:prstGeom>
          <a:noFill/>
        </p:spPr>
        <p:txBody>
          <a:bodyPr wrap="square" lIns="0" tIns="0" rIns="0" bIns="0" anchor="t">
            <a:spAutoFit/>
          </a:bodyPr>
          <a:lstStyle/>
          <a:p>
            <a:pPr algn="l"/>
            <a:r>
              <a:rPr sz="2600" b="1" i="0">
                <a:solidFill>
                  <a:srgbClr val="222222"/>
                </a:solidFill>
                <a:latin typeface="Arial"/>
              </a:rPr>
              <a:t>What a real fine-tune looks like today</a:t>
            </a:r>
          </a:p>
        </p:txBody>
      </p:sp>
      <p:sp>
        <p:nvSpPr>
          <p:cNvPr id="3" name="BG title rule"/>
          <p:cNvSpPr/>
          <p:nvPr/>
        </p:nvSpPr>
        <p:spPr>
          <a:xfrm>
            <a:off x="310896" y="1033271"/>
            <a:ext cx="548640" cy="27432"/>
          </a:xfrm>
          <a:prstGeom prst="rect">
            <a:avLst/>
          </a:prstGeom>
          <a:solidFill>
            <a:srgbClr val="428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B takeaway"/>
          <p:cNvSpPr txBox="1"/>
          <p:nvPr/>
        </p:nvSpPr>
        <p:spPr>
          <a:xfrm>
            <a:off x="310896" y="1143000"/>
            <a:ext cx="8522208" cy="215444"/>
          </a:xfrm>
          <a:prstGeom prst="rect">
            <a:avLst/>
          </a:prstGeom>
          <a:noFill/>
        </p:spPr>
        <p:txBody>
          <a:bodyPr wrap="square" lIns="0" tIns="0" rIns="0" bIns="0" anchor="t">
            <a:spAutoFit/>
          </a:bodyPr>
          <a:lstStyle/>
          <a:p>
            <a:pPr algn="l"/>
            <a:r>
              <a:rPr sz="1400" b="0" i="1">
                <a:solidFill>
                  <a:srgbClr val="4285F4"/>
                </a:solidFill>
                <a:latin typeface="Arial"/>
              </a:rPr>
              <a:t>Hugging Face PEFT + bitsandbytes: the QLoRA setup we ran on Nemotron 3 Nano 4B.</a:t>
            </a:r>
          </a:p>
        </p:txBody>
      </p:sp>
      <p:sp>
        <p:nvSpPr>
          <p:cNvPr id="5" name="BG code panel"/>
          <p:cNvSpPr/>
          <p:nvPr/>
        </p:nvSpPr>
        <p:spPr>
          <a:xfrm>
            <a:off x="310896" y="1645920"/>
            <a:ext cx="8522208" cy="3017520"/>
          </a:xfrm>
          <a:prstGeom prst="rect">
            <a:avLst/>
          </a:prstGeom>
          <a:solidFill>
            <a:srgbClr val="F6F8FA"/>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B code"/>
          <p:cNvSpPr txBox="1"/>
          <p:nvPr/>
        </p:nvSpPr>
        <p:spPr>
          <a:xfrm>
            <a:off x="457200" y="1691640"/>
            <a:ext cx="8229600" cy="2926080"/>
          </a:xfrm>
          <a:prstGeom prst="rect">
            <a:avLst/>
          </a:prstGeom>
          <a:noFill/>
        </p:spPr>
        <p:txBody>
          <a:bodyPr wrap="square" lIns="0" tIns="0" rIns="0" bIns="0" anchor="t">
            <a:spAutoFit/>
          </a:bodyPr>
          <a:lstStyle/>
          <a:p>
            <a:pPr algn="l"/>
            <a:r>
              <a:rPr sz="1100" dirty="0">
                <a:solidFill>
                  <a:srgbClr val="222222"/>
                </a:solidFill>
                <a:latin typeface="Courier New"/>
              </a:rPr>
              <a:t>from peft import LoraConfig, get_peft_model</a:t>
            </a:r>
            <a:endParaRPr sz="1100" dirty="0">
              <a:solidFill>
                <a:srgbClr val="222222"/>
              </a:solidFill>
              <a:latin typeface="Courier New"/>
            </a:endParaRPr>
          </a:p>
          <a:p>
            <a:pPr algn="l"/>
            <a:r>
              <a:rPr sz="1100" dirty="0">
                <a:solidFill>
                  <a:srgbClr val="222222"/>
                </a:solidFill>
                <a:latin typeface="Courier New"/>
              </a:rPr>
              <a:t>from transformers import AutoModelForCausalLM, BitsAndBytesConfig</a:t>
            </a:r>
            <a:endParaRPr sz="1100" dirty="0">
              <a:solidFill>
                <a:srgbClr val="222222"/>
              </a:solidFill>
              <a:latin typeface="Courier New"/>
            </a:endParaRPr>
          </a:p>
          <a:p>
            <a:pPr algn="l"/>
            <a:endParaRPr sz="1100" dirty="0">
              <a:solidFill>
                <a:srgbClr val="222222"/>
              </a:solidFill>
              <a:latin typeface="Courier New"/>
            </a:endParaRPr>
          </a:p>
          <a:p>
            <a:pPr algn="l"/>
            <a:r>
              <a:rPr sz="1100" dirty="0">
                <a:solidFill>
                  <a:srgbClr val="222222"/>
                </a:solidFill>
                <a:latin typeface="Courier New"/>
              </a:rPr>
              <a:t># 4-bit NF4 base. Plain LoRA: drop quantization_config, load in bf16.</a:t>
            </a:r>
            <a:endParaRPr sz="1100" dirty="0">
              <a:solidFill>
                <a:srgbClr val="222222"/>
              </a:solidFill>
              <a:latin typeface="Courier New"/>
            </a:endParaRPr>
          </a:p>
          <a:p>
            <a:pPr algn="l"/>
            <a:r>
              <a:rPr sz="1100" dirty="0">
                <a:solidFill>
                  <a:srgbClr val="222222"/>
                </a:solidFill>
                <a:latin typeface="Courier New"/>
              </a:rPr>
              <a:t>bnb = BitsAndBytesConfig(load_in_4bit=True, bnb_4bit_quant_type="nf4",</a:t>
            </a:r>
            <a:endParaRPr sz="1100" dirty="0">
              <a:solidFill>
                <a:srgbClr val="222222"/>
              </a:solidFill>
              <a:latin typeface="Courier New"/>
            </a:endParaRPr>
          </a:p>
          <a:p>
            <a:pPr algn="l"/>
            <a:r>
              <a:rPr sz="1100" dirty="0">
                <a:solidFill>
                  <a:srgbClr val="222222"/>
                </a:solidFill>
                <a:latin typeface="Courier New"/>
              </a:rPr>
              <a:t>                         bnb_4bit_use_double_quant=True,</a:t>
            </a:r>
            <a:endParaRPr sz="1100" dirty="0">
              <a:solidFill>
                <a:srgbClr val="222222"/>
              </a:solidFill>
              <a:latin typeface="Courier New"/>
            </a:endParaRPr>
          </a:p>
          <a:p>
            <a:pPr algn="l"/>
            <a:r>
              <a:rPr sz="1100" dirty="0">
                <a:solidFill>
                  <a:srgbClr val="222222"/>
                </a:solidFill>
                <a:latin typeface="Courier New"/>
              </a:rPr>
              <a:t>                         bnb_4bit_compute_dtype="bfloat16",</a:t>
            </a:r>
            <a:endParaRPr sz="1100" dirty="0">
              <a:solidFill>
                <a:srgbClr val="222222"/>
              </a:solidFill>
              <a:latin typeface="Courier New"/>
            </a:endParaRPr>
          </a:p>
          <a:p>
            <a:pPr algn="l"/>
            <a:r>
              <a:rPr sz="1100" dirty="0">
                <a:solidFill>
                  <a:srgbClr val="222222"/>
                </a:solidFill>
                <a:latin typeface="Courier New"/>
              </a:rPr>
              <a:t>                         llm_int8_skip_modules=["lm_head", "out_proj"])</a:t>
            </a:r>
            <a:endParaRPr sz="1100" dirty="0">
              <a:solidFill>
                <a:srgbClr val="222222"/>
              </a:solidFill>
              <a:latin typeface="Courier New"/>
            </a:endParaRPr>
          </a:p>
          <a:p>
            <a:pPr algn="l"/>
            <a:r>
              <a:rPr sz="1100" dirty="0">
                <a:solidFill>
                  <a:srgbClr val="222222"/>
                </a:solidFill>
                <a:latin typeface="Courier New"/>
              </a:rPr>
              <a:t>base = AutoModelForCausalLM.from_pretrained(</a:t>
            </a:r>
            <a:endParaRPr sz="1100" dirty="0">
              <a:solidFill>
                <a:srgbClr val="222222"/>
              </a:solidFill>
              <a:latin typeface="Courier New"/>
            </a:endParaRPr>
          </a:p>
          <a:p>
            <a:pPr algn="l"/>
            <a:r>
              <a:rPr sz="1100" dirty="0">
                <a:solidFill>
                  <a:srgbClr val="222222"/>
                </a:solidFill>
                <a:latin typeface="Courier New"/>
              </a:rPr>
              <a:t>    "nvidia/NVIDIA-Nemotron-3-Nano-4B-BF16", quantization_config=bnb)</a:t>
            </a:r>
            <a:endParaRPr sz="1100" dirty="0">
              <a:solidFill>
                <a:srgbClr val="222222"/>
              </a:solidFill>
              <a:latin typeface="Courier New"/>
            </a:endParaRPr>
          </a:p>
          <a:p>
            <a:pPr algn="l"/>
            <a:endParaRPr sz="1100" dirty="0">
              <a:solidFill>
                <a:srgbClr val="222222"/>
              </a:solidFill>
              <a:latin typeface="Courier New"/>
            </a:endParaRPr>
          </a:p>
          <a:p>
            <a:pPr algn="l"/>
            <a:r>
              <a:rPr sz="1100" dirty="0">
                <a:solidFill>
                  <a:srgbClr val="222222"/>
                </a:solidFill>
                <a:latin typeface="Courier New"/>
              </a:rPr>
              <a:t>model = get_peft_model(base, LoraConfig(r=64, lora_alpha=128,</a:t>
            </a:r>
            <a:endParaRPr sz="1100" dirty="0">
              <a:solidFill>
                <a:srgbClr val="222222"/>
              </a:solidFill>
              <a:latin typeface="Courier New"/>
            </a:endParaRPr>
          </a:p>
          <a:p>
            <a:pPr algn="l"/>
            <a:r>
              <a:rPr sz="1100" dirty="0">
                <a:solidFill>
                  <a:srgbClr val="222222"/>
                </a:solidFill>
                <a:latin typeface="Courier New"/>
              </a:rPr>
              <a:t>    target_modules=["q_proj", "k_proj", "v_proj", "o_proj",</a:t>
            </a:r>
            <a:endParaRPr sz="1100" dirty="0">
              <a:solidFill>
                <a:srgbClr val="222222"/>
              </a:solidFill>
              <a:latin typeface="Courier New"/>
            </a:endParaRPr>
          </a:p>
          <a:p>
            <a:pPr algn="l"/>
            <a:r>
              <a:rPr sz="1100" dirty="0">
                <a:solidFill>
                  <a:srgbClr val="222222"/>
                </a:solidFill>
                <a:latin typeface="Courier New"/>
              </a:rPr>
              <a:t>                    "up_proj", "down_proj", "in_proj"]))</a:t>
            </a:r>
            <a:endParaRPr sz="1100" dirty="0">
              <a:solidFill>
                <a:srgbClr val="222222"/>
              </a:solidFill>
              <a:latin typeface="Courier New"/>
            </a:endParaRPr>
          </a:p>
        </p:txBody>
      </p:sp>
      <p:sp>
        <p:nvSpPr>
          <p:cNvPr id="8" name="PageNum 31"/>
          <p:cNvSpPr txBox="1"/>
          <p:nvPr/>
        </p:nvSpPr>
        <p:spPr>
          <a:xfrm>
            <a:off x="8595360" y="4892040"/>
            <a:ext cx="457200" cy="201168"/>
          </a:xfrm>
          <a:prstGeom prst="rect">
            <a:avLst/>
          </a:prstGeom>
          <a:noFill/>
        </p:spPr>
        <p:txBody>
          <a:bodyPr wrap="square" lIns="0" tIns="0" rIns="0" bIns="0">
            <a:spAutoFit/>
          </a:bodyPr>
          <a:lstStyle/>
          <a:p>
            <a:pPr algn="r"/>
            <a:r>
              <a:rPr sz="900">
                <a:solidFill>
                  <a:srgbClr val="595959"/>
                </a:solidFill>
                <a:latin typeface="Arial"/>
              </a:rPr>
              <a:t>26</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B title"/>
          <p:cNvSpPr txBox="1"/>
          <p:nvPr/>
        </p:nvSpPr>
        <p:spPr>
          <a:xfrm>
            <a:off x="310896" y="448056"/>
            <a:ext cx="8522208" cy="576072"/>
          </a:xfrm>
          <a:prstGeom prst="rect">
            <a:avLst/>
          </a:prstGeom>
          <a:noFill/>
        </p:spPr>
        <p:txBody>
          <a:bodyPr wrap="square" lIns="0" tIns="0" rIns="0" bIns="0" anchor="t">
            <a:spAutoFit/>
          </a:bodyPr>
          <a:lstStyle/>
          <a:p>
            <a:pPr algn="l"/>
            <a:r>
              <a:rPr sz="2600" b="1" i="0">
                <a:solidFill>
                  <a:srgbClr val="222222"/>
                </a:solidFill>
                <a:latin typeface="Arial"/>
              </a:rPr>
              <a:t>Worked example: hawkish or dovish?</a:t>
            </a:r>
          </a:p>
        </p:txBody>
      </p:sp>
      <p:sp>
        <p:nvSpPr>
          <p:cNvPr id="3" name="BG title rule"/>
          <p:cNvSpPr/>
          <p:nvPr/>
        </p:nvSpPr>
        <p:spPr>
          <a:xfrm>
            <a:off x="310896" y="1033271"/>
            <a:ext cx="548640" cy="27432"/>
          </a:xfrm>
          <a:prstGeom prst="rect">
            <a:avLst/>
          </a:prstGeom>
          <a:solidFill>
            <a:srgbClr val="428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B takeaway"/>
          <p:cNvSpPr txBox="1"/>
          <p:nvPr/>
        </p:nvSpPr>
        <p:spPr>
          <a:xfrm>
            <a:off x="310896" y="1143000"/>
            <a:ext cx="8522208" cy="215444"/>
          </a:xfrm>
          <a:prstGeom prst="rect">
            <a:avLst/>
          </a:prstGeom>
          <a:noFill/>
        </p:spPr>
        <p:txBody>
          <a:bodyPr wrap="square" lIns="0" tIns="0" rIns="0" bIns="0" anchor="t">
            <a:spAutoFit/>
          </a:bodyPr>
          <a:lstStyle/>
          <a:p>
            <a:pPr algn="l"/>
            <a:r>
              <a:rPr sz="1400" b="0" i="1">
                <a:solidFill>
                  <a:srgbClr val="4285F4"/>
                </a:solidFill>
                <a:latin typeface="Arial"/>
              </a:rPr>
              <a:t>Classify Fed (FOMC) sentences by policy tone. Data, splits, and metric from Shah et al. 2023.</a:t>
            </a:r>
          </a:p>
        </p:txBody>
      </p:sp>
      <p:sp>
        <p:nvSpPr>
          <p:cNvPr id="5" name="PageNum 32"/>
          <p:cNvSpPr txBox="1"/>
          <p:nvPr/>
        </p:nvSpPr>
        <p:spPr>
          <a:xfrm>
            <a:off x="8595360" y="4892040"/>
            <a:ext cx="457200" cy="201168"/>
          </a:xfrm>
          <a:prstGeom prst="rect">
            <a:avLst/>
          </a:prstGeom>
          <a:noFill/>
        </p:spPr>
        <p:txBody>
          <a:bodyPr wrap="square" lIns="0" rIns="0" tIns="0" bIns="0" anchor="t">
            <a:spAutoFit/>
          </a:bodyPr>
          <a:lstStyle/>
          <a:p>
            <a:pPr algn="r"/>
            <a:r>
              <a:rPr sz="900" b="0" i="0">
                <a:solidFill>
                  <a:srgbClr val="595959"/>
                </a:solidFill>
                <a:latin typeface="Arial"/>
              </a:rPr>
              <a:t>27</a:t>
            </a:r>
          </a:p>
        </p:txBody>
      </p:sp>
      <p:sp>
        <p:nvSpPr>
          <p:cNvPr id="6" name="BG accent bar 0"/>
          <p:cNvSpPr/>
          <p:nvPr/>
        </p:nvSpPr>
        <p:spPr>
          <a:xfrm>
            <a:off x="310896" y="1600200"/>
            <a:ext cx="73152" cy="694944"/>
          </a:xfrm>
          <a:prstGeom prst="rect">
            <a:avLst/>
          </a:prstGeom>
          <a:solidFill>
            <a:srgbClr val="4285F4"/>
          </a:solidFill>
          <a:ln>
            <a:noFill/>
          </a:ln>
          <a:effectLst/>
        </p:spPr>
        <p:txBody>
          <a:bodyPr rtlCol="0" anchor="ctr"/>
          <a:lstStyle/>
          <a:p/>
        </p:txBody>
      </p:sp>
      <p:sp>
        <p:nvSpPr>
          <p:cNvPr id="7" name="TB block title 0"/>
          <p:cNvSpPr txBox="1"/>
          <p:nvPr/>
        </p:nvSpPr>
        <p:spPr>
          <a:xfrm>
            <a:off x="539496" y="1618488"/>
            <a:ext cx="8202168" cy="274320"/>
          </a:xfrm>
          <a:prstGeom prst="rect">
            <a:avLst/>
          </a:prstGeom>
          <a:noFill/>
        </p:spPr>
        <p:txBody>
          <a:bodyPr wrap="square" lIns="0" rIns="0" tIns="0" bIns="0" anchor="t">
            <a:spAutoFit/>
          </a:bodyPr>
          <a:lstStyle/>
          <a:p>
            <a:pPr algn="l"/>
            <a:r>
              <a:rPr sz="1500" b="1" i="0">
                <a:solidFill>
                  <a:srgbClr val="222222"/>
                </a:solidFill>
                <a:latin typeface="Arial"/>
              </a:rPr>
              <a:t>The task</a:t>
            </a:r>
          </a:p>
        </p:txBody>
      </p:sp>
      <p:sp>
        <p:nvSpPr>
          <p:cNvPr id="8" name="TB block desc 0"/>
          <p:cNvSpPr txBox="1"/>
          <p:nvPr/>
        </p:nvSpPr>
        <p:spPr>
          <a:xfrm>
            <a:off x="539496" y="1929384"/>
            <a:ext cx="8202168" cy="365760"/>
          </a:xfrm>
          <a:prstGeom prst="rect">
            <a:avLst/>
          </a:prstGeom>
          <a:noFill/>
        </p:spPr>
        <p:txBody>
          <a:bodyPr wrap="square" lIns="0" rIns="0" tIns="0" bIns="0" anchor="t">
            <a:spAutoFit/>
          </a:bodyPr>
          <a:lstStyle/>
          <a:p>
            <a:pPr algn="l"/>
            <a:r>
              <a:rPr sz="1200" b="0" i="0">
                <a:solidFill>
                  <a:srgbClr val="595959"/>
                </a:solidFill>
                <a:latin typeface="Arial"/>
              </a:rPr>
              <a:t>Label each sentence </a:t>
            </a:r>
            <a:r>
              <a:rPr sz="1200" b="1" i="0">
                <a:solidFill>
                  <a:srgbClr val="222222"/>
                </a:solidFill>
                <a:latin typeface="Arial"/>
              </a:rPr>
              <a:t>hawkish</a:t>
            </a:r>
            <a:r>
              <a:rPr sz="1200" b="0" i="0">
                <a:solidFill>
                  <a:srgbClr val="595959"/>
                </a:solidFill>
                <a:latin typeface="Arial"/>
              </a:rPr>
              <a:t> (toward raising rates), </a:t>
            </a:r>
            <a:r>
              <a:rPr sz="1200" b="1" i="0">
                <a:solidFill>
                  <a:srgbClr val="222222"/>
                </a:solidFill>
                <a:latin typeface="Arial"/>
              </a:rPr>
              <a:t>dovish</a:t>
            </a:r>
            <a:r>
              <a:rPr sz="1200" b="0" i="0">
                <a:solidFill>
                  <a:srgbClr val="595959"/>
                </a:solidFill>
                <a:latin typeface="Arial"/>
              </a:rPr>
              <a:t> (toward cutting), or </a:t>
            </a:r>
            <a:r>
              <a:rPr sz="1200" b="1" i="0">
                <a:solidFill>
                  <a:srgbClr val="222222"/>
                </a:solidFill>
                <a:latin typeface="Arial"/>
              </a:rPr>
              <a:t>neutral</a:t>
            </a:r>
            <a:r>
              <a:rPr sz="1200" b="0" i="0">
                <a:solidFill>
                  <a:srgbClr val="595959"/>
                </a:solidFill>
                <a:latin typeface="Arial"/>
              </a:rPr>
              <a:t>. ~2,400 labeled sentences, scored by weighted F1.</a:t>
            </a:r>
          </a:p>
        </p:txBody>
      </p:sp>
      <p:sp>
        <p:nvSpPr>
          <p:cNvPr id="9" name="BG accent bar 1"/>
          <p:cNvSpPr/>
          <p:nvPr/>
        </p:nvSpPr>
        <p:spPr>
          <a:xfrm>
            <a:off x="310896" y="2386584"/>
            <a:ext cx="73152" cy="694944"/>
          </a:xfrm>
          <a:prstGeom prst="rect">
            <a:avLst/>
          </a:prstGeom>
          <a:solidFill>
            <a:srgbClr val="0097A7"/>
          </a:solidFill>
          <a:ln>
            <a:noFill/>
          </a:ln>
          <a:effectLst/>
        </p:spPr>
        <p:txBody>
          <a:bodyPr rtlCol="0" anchor="ctr"/>
          <a:lstStyle/>
          <a:p/>
        </p:txBody>
      </p:sp>
      <p:sp>
        <p:nvSpPr>
          <p:cNvPr id="10" name="TB block title 1"/>
          <p:cNvSpPr txBox="1"/>
          <p:nvPr/>
        </p:nvSpPr>
        <p:spPr>
          <a:xfrm>
            <a:off x="539496" y="2404872"/>
            <a:ext cx="8202168" cy="274320"/>
          </a:xfrm>
          <a:prstGeom prst="rect">
            <a:avLst/>
          </a:prstGeom>
          <a:noFill/>
        </p:spPr>
        <p:txBody>
          <a:bodyPr wrap="square" lIns="0" rIns="0" tIns="0" bIns="0" anchor="t">
            <a:spAutoFit/>
          </a:bodyPr>
          <a:lstStyle/>
          <a:p>
            <a:pPr algn="l"/>
            <a:r>
              <a:rPr sz="1500" b="1" i="0">
                <a:solidFill>
                  <a:srgbClr val="222222"/>
                </a:solidFill>
                <a:latin typeface="Arial"/>
              </a:rPr>
              <a:t>Three models</a:t>
            </a:r>
          </a:p>
        </p:txBody>
      </p:sp>
      <p:sp>
        <p:nvSpPr>
          <p:cNvPr id="11" name="TB block desc 1"/>
          <p:cNvSpPr txBox="1"/>
          <p:nvPr/>
        </p:nvSpPr>
        <p:spPr>
          <a:xfrm>
            <a:off x="539496" y="2715768"/>
            <a:ext cx="8202168" cy="365760"/>
          </a:xfrm>
          <a:prstGeom prst="rect">
            <a:avLst/>
          </a:prstGeom>
          <a:noFill/>
        </p:spPr>
        <p:txBody>
          <a:bodyPr wrap="square" lIns="0" rIns="0" tIns="0" bIns="0" anchor="t">
            <a:spAutoFit/>
          </a:bodyPr>
          <a:lstStyle/>
          <a:p>
            <a:pPr algn="l"/>
            <a:r>
              <a:rPr sz="1200" b="1" i="0">
                <a:solidFill>
                  <a:srgbClr val="222222"/>
                </a:solidFill>
                <a:latin typeface="Arial"/>
              </a:rPr>
              <a:t>RoBERTa-base (125M)</a:t>
            </a:r>
            <a:r>
              <a:rPr sz="1200" b="0" i="0">
                <a:solidFill>
                  <a:srgbClr val="595959"/>
                </a:solidFill>
                <a:latin typeface="Arial"/>
              </a:rPr>
              <a:t> and </a:t>
            </a:r>
            <a:r>
              <a:rPr sz="1200" b="1" i="0">
                <a:solidFill>
                  <a:srgbClr val="222222"/>
                </a:solidFill>
                <a:latin typeface="Arial"/>
              </a:rPr>
              <a:t>RoBERTa-large (355M)</a:t>
            </a:r>
            <a:r>
              <a:rPr sz="1200" b="0" i="0">
                <a:solidFill>
                  <a:srgbClr val="595959"/>
                </a:solidFill>
                <a:latin typeface="Arial"/>
              </a:rPr>
              <a:t> from the paper, plus </a:t>
            </a:r>
            <a:r>
              <a:rPr sz="1200" b="1" i="0">
                <a:solidFill>
                  <a:srgbClr val="222222"/>
                </a:solidFill>
                <a:latin typeface="Arial"/>
              </a:rPr>
              <a:t>Nemotron 3 Nano 4B</a:t>
            </a:r>
            <a:r>
              <a:rPr sz="1200" b="0" i="0">
                <a:solidFill>
                  <a:srgbClr val="595959"/>
                </a:solidFill>
                <a:latin typeface="Arial"/>
              </a:rPr>
              <a:t>, an LLM scored on the label words.</a:t>
            </a:r>
          </a:p>
        </p:txBody>
      </p:sp>
      <p:sp>
        <p:nvSpPr>
          <p:cNvPr id="12" name="BG accent bar 2"/>
          <p:cNvSpPr/>
          <p:nvPr/>
        </p:nvSpPr>
        <p:spPr>
          <a:xfrm>
            <a:off x="310896" y="3172968"/>
            <a:ext cx="73152" cy="694944"/>
          </a:xfrm>
          <a:prstGeom prst="rect">
            <a:avLst/>
          </a:prstGeom>
          <a:solidFill>
            <a:srgbClr val="FFAB40"/>
          </a:solidFill>
          <a:ln>
            <a:noFill/>
          </a:ln>
          <a:effectLst/>
        </p:spPr>
        <p:txBody>
          <a:bodyPr rtlCol="0" anchor="ctr"/>
          <a:lstStyle/>
          <a:p/>
        </p:txBody>
      </p:sp>
      <p:sp>
        <p:nvSpPr>
          <p:cNvPr id="13" name="TB block title 2"/>
          <p:cNvSpPr txBox="1"/>
          <p:nvPr/>
        </p:nvSpPr>
        <p:spPr>
          <a:xfrm>
            <a:off x="539496" y="3191256"/>
            <a:ext cx="8202168" cy="274320"/>
          </a:xfrm>
          <a:prstGeom prst="rect">
            <a:avLst/>
          </a:prstGeom>
          <a:noFill/>
        </p:spPr>
        <p:txBody>
          <a:bodyPr wrap="square" lIns="0" rIns="0" tIns="0" bIns="0" anchor="t">
            <a:spAutoFit/>
          </a:bodyPr>
          <a:lstStyle/>
          <a:p>
            <a:pPr algn="l"/>
            <a:r>
              <a:rPr sz="1500" b="1" i="0">
                <a:solidFill>
                  <a:srgbClr val="222222"/>
                </a:solidFill>
                <a:latin typeface="Arial"/>
              </a:rPr>
              <a:t>33 runs</a:t>
            </a:r>
          </a:p>
        </p:txBody>
      </p:sp>
      <p:sp>
        <p:nvSpPr>
          <p:cNvPr id="14" name="TB block desc 2"/>
          <p:cNvSpPr txBox="1"/>
          <p:nvPr/>
        </p:nvSpPr>
        <p:spPr>
          <a:xfrm>
            <a:off x="539496" y="3502151"/>
            <a:ext cx="8202168" cy="365760"/>
          </a:xfrm>
          <a:prstGeom prst="rect">
            <a:avLst/>
          </a:prstGeom>
          <a:noFill/>
        </p:spPr>
        <p:txBody>
          <a:bodyPr wrap="square" lIns="0" rIns="0" tIns="0" bIns="0" anchor="t">
            <a:spAutoFit/>
          </a:bodyPr>
          <a:lstStyle/>
          <a:p>
            <a:pPr algn="l"/>
            <a:r>
              <a:rPr sz="1200" b="1" i="0">
                <a:solidFill>
                  <a:srgbClr val="222222"/>
                </a:solidFill>
                <a:latin typeface="Arial"/>
              </a:rPr>
              <a:t>No fine-tuning, full fine-tuning, LoRA, QLoRA</a:t>
            </a:r>
            <a:r>
              <a:rPr sz="1200" b="0" i="0">
                <a:solidFill>
                  <a:srgbClr val="595959"/>
                </a:solidFill>
                <a:latin typeface="Arial"/>
              </a:rPr>
              <a:t>, three seeds each. Nemotron full fine-tuning does not fit in 24 GB (slide 3).</a:t>
            </a:r>
          </a:p>
        </p:txBody>
      </p:sp>
      <p:sp>
        <p:nvSpPr>
          <p:cNvPr id="15" name="BG accent bar 3"/>
          <p:cNvSpPr/>
          <p:nvPr/>
        </p:nvSpPr>
        <p:spPr>
          <a:xfrm>
            <a:off x="310896" y="3959352"/>
            <a:ext cx="73152" cy="694944"/>
          </a:xfrm>
          <a:prstGeom prst="rect">
            <a:avLst/>
          </a:prstGeom>
          <a:solidFill>
            <a:srgbClr val="78909C"/>
          </a:solidFill>
          <a:ln>
            <a:noFill/>
          </a:ln>
          <a:effectLst/>
        </p:spPr>
        <p:txBody>
          <a:bodyPr rtlCol="0" anchor="ctr"/>
          <a:lstStyle/>
          <a:p/>
        </p:txBody>
      </p:sp>
      <p:sp>
        <p:nvSpPr>
          <p:cNvPr id="16" name="TB block title 3"/>
          <p:cNvSpPr txBox="1"/>
          <p:nvPr/>
        </p:nvSpPr>
        <p:spPr>
          <a:xfrm>
            <a:off x="539496" y="3977639"/>
            <a:ext cx="8202168" cy="274320"/>
          </a:xfrm>
          <a:prstGeom prst="rect">
            <a:avLst/>
          </a:prstGeom>
          <a:noFill/>
        </p:spPr>
        <p:txBody>
          <a:bodyPr wrap="square" lIns="0" rIns="0" tIns="0" bIns="0" anchor="t">
            <a:spAutoFit/>
          </a:bodyPr>
          <a:lstStyle/>
          <a:p>
            <a:pPr algn="l"/>
            <a:r>
              <a:rPr sz="1500" b="1" i="0">
                <a:solidFill>
                  <a:srgbClr val="222222"/>
                </a:solidFill>
                <a:latin typeface="Arial"/>
              </a:rPr>
              <a:t>One laptop GPU</a:t>
            </a:r>
          </a:p>
        </p:txBody>
      </p:sp>
      <p:sp>
        <p:nvSpPr>
          <p:cNvPr id="17" name="TB block desc 3"/>
          <p:cNvSpPr txBox="1"/>
          <p:nvPr/>
        </p:nvSpPr>
        <p:spPr>
          <a:xfrm>
            <a:off x="539496" y="4288536"/>
            <a:ext cx="8202168" cy="365760"/>
          </a:xfrm>
          <a:prstGeom prst="rect">
            <a:avLst/>
          </a:prstGeom>
          <a:noFill/>
        </p:spPr>
        <p:txBody>
          <a:bodyPr wrap="square" lIns="0" rIns="0" tIns="0" bIns="0" anchor="t">
            <a:spAutoFit/>
          </a:bodyPr>
          <a:lstStyle/>
          <a:p>
            <a:pPr algn="l"/>
            <a:r>
              <a:rPr sz="1200" b="1" i="0">
                <a:solidFill>
                  <a:srgbClr val="222222"/>
                </a:solidFill>
                <a:latin typeface="Arial"/>
              </a:rPr>
              <a:t>Dell Pro Max 16 Plus</a:t>
            </a:r>
            <a:r>
              <a:rPr sz="1200" b="0" i="0">
                <a:solidFill>
                  <a:srgbClr val="595959"/>
                </a:solidFill>
                <a:latin typeface="Arial"/>
              </a:rPr>
              <a:t> with an </a:t>
            </a:r>
            <a:r>
              <a:rPr sz="1200" b="1" i="0">
                <a:solidFill>
                  <a:srgbClr val="222222"/>
                </a:solidFill>
                <a:latin typeface="Arial"/>
              </a:rPr>
              <a:t>NVIDIA RTX PRO 5000 Blackwell</a:t>
            </a:r>
            <a:r>
              <a:rPr sz="1200" b="0" i="0">
                <a:solidFill>
                  <a:srgbClr val="595959"/>
                </a:solidFill>
                <a:latin typeface="Arial"/>
              </a:rPr>
              <a:t> laptop GPU (24 GB).</a:t>
            </a:r>
          </a:p>
        </p:txBody>
      </p:sp>
      <p:sp>
        <p:nvSpPr>
          <p:cNvPr id="18" name="TB source"/>
          <p:cNvSpPr txBox="1"/>
          <p:nvPr/>
        </p:nvSpPr>
        <p:spPr>
          <a:xfrm>
            <a:off x="73152" y="4892040"/>
            <a:ext cx="8229600" cy="201168"/>
          </a:xfrm>
          <a:prstGeom prst="rect">
            <a:avLst/>
          </a:prstGeom>
          <a:noFill/>
        </p:spPr>
        <p:txBody>
          <a:bodyPr wrap="square" lIns="0" rIns="0" tIns="0" bIns="0" anchor="t">
            <a:spAutoFit/>
          </a:bodyPr>
          <a:lstStyle/>
          <a:p>
            <a:pPr algn="l"/>
            <a:r>
              <a:rPr sz="900" b="0" i="0">
                <a:solidFill>
                  <a:srgbClr val="595959"/>
                </a:solidFill>
                <a:latin typeface="Arial"/>
              </a:rPr>
              <a:t>Task and data: </a:t>
            </a:r>
            <a:r>
              <a:rPr sz="900" b="0" i="0" u="sng">
                <a:solidFill>
                  <a:srgbClr val="595959"/>
                </a:solidFill>
                <a:latin typeface="Arial"/>
                <a:hlinkClick r:id="rId2"/>
              </a:rPr>
              <a:t>Shah et al. 2023</a:t>
            </a:r>
            <a:r>
              <a:rPr sz="900" b="0" i="0">
                <a:solidFill>
                  <a:srgbClr val="595959"/>
                </a:solidFill>
                <a:latin typeface="Arial"/>
              </a:rPr>
              <a:t> (Combined-S split, seeds 5768, 78516, 944601).</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B title"/>
          <p:cNvSpPr txBox="1"/>
          <p:nvPr/>
        </p:nvSpPr>
        <p:spPr>
          <a:xfrm>
            <a:off x="310896" y="448056"/>
            <a:ext cx="8522208" cy="576072"/>
          </a:xfrm>
          <a:prstGeom prst="rect">
            <a:avLst/>
          </a:prstGeom>
          <a:noFill/>
        </p:spPr>
        <p:txBody>
          <a:bodyPr wrap="square" lIns="0" tIns="0" rIns="0" bIns="0" anchor="t">
            <a:spAutoFit/>
          </a:bodyPr>
          <a:lstStyle/>
          <a:p>
            <a:pPr algn="l"/>
            <a:r>
              <a:rPr sz="2600" b="1" i="0">
                <a:solidFill>
                  <a:srgbClr val="222222"/>
                </a:solidFill>
                <a:latin typeface="Arial"/>
              </a:rPr>
              <a:t>Did the fine-tune actually help?</a:t>
            </a:r>
          </a:p>
        </p:txBody>
      </p:sp>
      <p:sp>
        <p:nvSpPr>
          <p:cNvPr id="3" name="BG title rule"/>
          <p:cNvSpPr/>
          <p:nvPr/>
        </p:nvSpPr>
        <p:spPr>
          <a:xfrm>
            <a:off x="310896" y="1033271"/>
            <a:ext cx="548640" cy="27432"/>
          </a:xfrm>
          <a:prstGeom prst="rect">
            <a:avLst/>
          </a:prstGeom>
          <a:solidFill>
            <a:srgbClr val="428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B takeaway"/>
          <p:cNvSpPr txBox="1"/>
          <p:nvPr/>
        </p:nvSpPr>
        <p:spPr>
          <a:xfrm>
            <a:off x="310896" y="1143000"/>
            <a:ext cx="8522208" cy="215444"/>
          </a:xfrm>
          <a:prstGeom prst="rect">
            <a:avLst/>
          </a:prstGeom>
          <a:noFill/>
        </p:spPr>
        <p:txBody>
          <a:bodyPr wrap="square" lIns="0" tIns="0" rIns="0" bIns="0" anchor="t">
            <a:spAutoFit/>
          </a:bodyPr>
          <a:lstStyle/>
          <a:p>
            <a:pPr algn="l"/>
            <a:r>
              <a:rPr sz="1400" b="0" i="1">
                <a:solidFill>
                  <a:srgbClr val="4285F4"/>
                </a:solidFill>
                <a:latin typeface="Arial"/>
              </a:rPr>
              <a:t>Test weighted F1 (0 to 1, higher is better), mean of three seeds.</a:t>
            </a:r>
          </a:p>
        </p:txBody>
      </p:sp>
      <p:sp>
        <p:nvSpPr>
          <p:cNvPr id="5" name="PageNum 33"/>
          <p:cNvSpPr txBox="1"/>
          <p:nvPr/>
        </p:nvSpPr>
        <p:spPr>
          <a:xfrm>
            <a:off x="8595360" y="4892040"/>
            <a:ext cx="457200" cy="201168"/>
          </a:xfrm>
          <a:prstGeom prst="rect">
            <a:avLst/>
          </a:prstGeom>
          <a:noFill/>
        </p:spPr>
        <p:txBody>
          <a:bodyPr wrap="square" lIns="0" rIns="0" tIns="0" bIns="0" anchor="t">
            <a:spAutoFit/>
          </a:bodyPr>
          <a:lstStyle/>
          <a:p>
            <a:pPr algn="r"/>
            <a:r>
              <a:rPr sz="900" b="0" i="0">
                <a:solidFill>
                  <a:srgbClr val="595959"/>
                </a:solidFill>
                <a:latin typeface="Arial"/>
              </a:rPr>
              <a:t>28</a:t>
            </a:r>
          </a:p>
        </p:txBody>
      </p:sp>
      <p:sp>
        <p:nvSpPr>
          <p:cNvPr id="6" name="BG hdr"/>
          <p:cNvSpPr/>
          <p:nvPr/>
        </p:nvSpPr>
        <p:spPr>
          <a:xfrm>
            <a:off x="310896" y="1572768"/>
            <a:ext cx="8375904" cy="365760"/>
          </a:xfrm>
          <a:prstGeom prst="rect">
            <a:avLst/>
          </a:prstGeom>
          <a:solidFill>
            <a:srgbClr val="E8F0FE"/>
          </a:solidFill>
          <a:ln>
            <a:noFill/>
          </a:ln>
          <a:effectLst/>
        </p:spPr>
        <p:txBody>
          <a:bodyPr rtlCol="0" anchor="ctr"/>
          <a:lstStyle/>
          <a:p/>
        </p:txBody>
      </p:sp>
      <p:sp>
        <p:nvSpPr>
          <p:cNvPr id="7" name="TB hdr 0"/>
          <p:cNvSpPr txBox="1"/>
          <p:nvPr/>
        </p:nvSpPr>
        <p:spPr>
          <a:xfrm>
            <a:off x="384048" y="1572768"/>
            <a:ext cx="2231136" cy="365760"/>
          </a:xfrm>
          <a:prstGeom prst="rect">
            <a:avLst/>
          </a:prstGeom>
          <a:noFill/>
        </p:spPr>
        <p:txBody>
          <a:bodyPr wrap="square" lIns="0" rIns="0" tIns="0" bIns="0" anchor="ctr">
            <a:spAutoFit/>
          </a:bodyPr>
          <a:lstStyle/>
          <a:p>
            <a:pPr algn="l"/>
            <a:r>
              <a:rPr sz="1200" b="1" i="0">
                <a:solidFill>
                  <a:srgbClr val="4285F4"/>
                </a:solidFill>
                <a:latin typeface="Arial"/>
              </a:rPr>
              <a:t>Model</a:t>
            </a:r>
          </a:p>
        </p:txBody>
      </p:sp>
      <p:sp>
        <p:nvSpPr>
          <p:cNvPr id="8" name="TB hdr 1"/>
          <p:cNvSpPr txBox="1"/>
          <p:nvPr/>
        </p:nvSpPr>
        <p:spPr>
          <a:xfrm>
            <a:off x="2761488" y="1572768"/>
            <a:ext cx="1353312" cy="365760"/>
          </a:xfrm>
          <a:prstGeom prst="rect">
            <a:avLst/>
          </a:prstGeom>
          <a:noFill/>
        </p:spPr>
        <p:txBody>
          <a:bodyPr wrap="square" lIns="0" rIns="0" tIns="0" bIns="0" anchor="ctr">
            <a:spAutoFit/>
          </a:bodyPr>
          <a:lstStyle/>
          <a:p>
            <a:pPr algn="l"/>
            <a:r>
              <a:rPr sz="1200" b="1" i="0">
                <a:solidFill>
                  <a:srgbClr val="4285F4"/>
                </a:solidFill>
                <a:latin typeface="Arial"/>
              </a:rPr>
              <a:t>No fine-tuning</a:t>
            </a:r>
          </a:p>
        </p:txBody>
      </p:sp>
      <p:sp>
        <p:nvSpPr>
          <p:cNvPr id="9" name="TB hdr 2"/>
          <p:cNvSpPr txBox="1"/>
          <p:nvPr/>
        </p:nvSpPr>
        <p:spPr>
          <a:xfrm>
            <a:off x="4261104" y="1572768"/>
            <a:ext cx="1353312" cy="365760"/>
          </a:xfrm>
          <a:prstGeom prst="rect">
            <a:avLst/>
          </a:prstGeom>
          <a:noFill/>
        </p:spPr>
        <p:txBody>
          <a:bodyPr wrap="square" lIns="0" rIns="0" tIns="0" bIns="0" anchor="ctr">
            <a:spAutoFit/>
          </a:bodyPr>
          <a:lstStyle/>
          <a:p>
            <a:pPr algn="l"/>
            <a:r>
              <a:rPr sz="1200" b="1" i="0">
                <a:solidFill>
                  <a:srgbClr val="4285F4"/>
                </a:solidFill>
                <a:latin typeface="Arial"/>
              </a:rPr>
              <a:t>Full FT</a:t>
            </a:r>
          </a:p>
        </p:txBody>
      </p:sp>
      <p:sp>
        <p:nvSpPr>
          <p:cNvPr id="10" name="TB hdr 3"/>
          <p:cNvSpPr txBox="1"/>
          <p:nvPr/>
        </p:nvSpPr>
        <p:spPr>
          <a:xfrm>
            <a:off x="5760720" y="1572768"/>
            <a:ext cx="1353312" cy="365760"/>
          </a:xfrm>
          <a:prstGeom prst="rect">
            <a:avLst/>
          </a:prstGeom>
          <a:noFill/>
        </p:spPr>
        <p:txBody>
          <a:bodyPr wrap="square" lIns="0" rIns="0" tIns="0" bIns="0" anchor="ctr">
            <a:spAutoFit/>
          </a:bodyPr>
          <a:lstStyle/>
          <a:p>
            <a:pPr algn="l"/>
            <a:r>
              <a:rPr sz="1200" b="1" i="0">
                <a:solidFill>
                  <a:srgbClr val="4285F4"/>
                </a:solidFill>
                <a:latin typeface="Arial"/>
              </a:rPr>
              <a:t>LoRA</a:t>
            </a:r>
          </a:p>
        </p:txBody>
      </p:sp>
      <p:sp>
        <p:nvSpPr>
          <p:cNvPr id="11" name="TB hdr 4"/>
          <p:cNvSpPr txBox="1"/>
          <p:nvPr/>
        </p:nvSpPr>
        <p:spPr>
          <a:xfrm>
            <a:off x="7260336" y="1572768"/>
            <a:ext cx="1353312" cy="365760"/>
          </a:xfrm>
          <a:prstGeom prst="rect">
            <a:avLst/>
          </a:prstGeom>
          <a:noFill/>
        </p:spPr>
        <p:txBody>
          <a:bodyPr wrap="square" lIns="0" rIns="0" tIns="0" bIns="0" anchor="ctr">
            <a:spAutoFit/>
          </a:bodyPr>
          <a:lstStyle/>
          <a:p>
            <a:pPr algn="l"/>
            <a:r>
              <a:rPr sz="1200" b="1" i="0">
                <a:solidFill>
                  <a:srgbClr val="4285F4"/>
                </a:solidFill>
                <a:latin typeface="Arial"/>
              </a:rPr>
              <a:t>QLoRA</a:t>
            </a:r>
          </a:p>
        </p:txBody>
      </p:sp>
      <p:sp>
        <p:nvSpPr>
          <p:cNvPr id="13" name="BG nemotron lora"/>
          <p:cNvSpPr/>
          <p:nvPr/>
        </p:nvSpPr>
        <p:spPr>
          <a:xfrm>
            <a:off x="5760720" y="2779776"/>
            <a:ext cx="1353312" cy="420624"/>
          </a:xfrm>
          <a:prstGeom prst="rect">
            <a:avLst/>
          </a:prstGeom>
          <a:solidFill>
            <a:srgbClr val="A5D6A7"/>
          </a:solidFill>
          <a:ln>
            <a:noFill/>
          </a:ln>
          <a:effectLst/>
        </p:spPr>
        <p:txBody>
          <a:bodyPr rtlCol="0" anchor="ctr"/>
          <a:lstStyle/>
          <a:p/>
        </p:txBody>
      </p:sp>
      <p:sp>
        <p:nvSpPr>
          <p:cNvPr id="14" name="TB c0 r0"/>
          <p:cNvSpPr txBox="1"/>
          <p:nvPr/>
        </p:nvSpPr>
        <p:spPr>
          <a:xfrm>
            <a:off x="384048" y="1938528"/>
            <a:ext cx="2231136" cy="420624"/>
          </a:xfrm>
          <a:prstGeom prst="rect">
            <a:avLst/>
          </a:prstGeom>
          <a:noFill/>
        </p:spPr>
        <p:txBody>
          <a:bodyPr wrap="square" lIns="0" rIns="0" tIns="0" bIns="0" anchor="ctr">
            <a:spAutoFit/>
          </a:bodyPr>
          <a:lstStyle/>
          <a:p>
            <a:pPr algn="l"/>
            <a:r>
              <a:rPr sz="1300" b="1" i="0">
                <a:solidFill>
                  <a:srgbClr val="222222"/>
                </a:solidFill>
                <a:latin typeface="Arial"/>
              </a:rPr>
              <a:t>RoBERTa-base (125M)</a:t>
            </a:r>
          </a:p>
        </p:txBody>
      </p:sp>
      <p:sp>
        <p:nvSpPr>
          <p:cNvPr id="15" name="TB c1 r0"/>
          <p:cNvSpPr txBox="1"/>
          <p:nvPr/>
        </p:nvSpPr>
        <p:spPr>
          <a:xfrm>
            <a:off x="2761488" y="1938528"/>
            <a:ext cx="1353312" cy="420624"/>
          </a:xfrm>
          <a:prstGeom prst="rect">
            <a:avLst/>
          </a:prstGeom>
          <a:noFill/>
        </p:spPr>
        <p:txBody>
          <a:bodyPr wrap="square" lIns="0" rIns="0" tIns="0" bIns="0" anchor="ctr">
            <a:spAutoFit/>
          </a:bodyPr>
          <a:lstStyle/>
          <a:p>
            <a:pPr algn="l"/>
            <a:r>
              <a:rPr sz="1300" b="0" i="0">
                <a:solidFill>
                  <a:srgbClr val="222222"/>
                </a:solidFill>
                <a:latin typeface="Arial"/>
              </a:rPr>
              <a:t>0.188</a:t>
            </a:r>
          </a:p>
        </p:txBody>
      </p:sp>
      <p:sp>
        <p:nvSpPr>
          <p:cNvPr id="16" name="TB c2 r0"/>
          <p:cNvSpPr txBox="1"/>
          <p:nvPr/>
        </p:nvSpPr>
        <p:spPr>
          <a:xfrm>
            <a:off x="4261104" y="1938528"/>
            <a:ext cx="1353312" cy="420624"/>
          </a:xfrm>
          <a:prstGeom prst="rect">
            <a:avLst/>
          </a:prstGeom>
          <a:noFill/>
        </p:spPr>
        <p:txBody>
          <a:bodyPr wrap="square" lIns="0" rIns="0" tIns="0" bIns="0" anchor="ctr">
            <a:spAutoFit/>
          </a:bodyPr>
          <a:lstStyle/>
          <a:p>
            <a:pPr algn="l"/>
            <a:r>
              <a:rPr sz="1300" b="0" i="0">
                <a:solidFill>
                  <a:srgbClr val="222222"/>
                </a:solidFill>
                <a:latin typeface="Arial"/>
              </a:rPr>
              <a:t>0.667</a:t>
            </a:r>
          </a:p>
        </p:txBody>
      </p:sp>
      <p:sp>
        <p:nvSpPr>
          <p:cNvPr id="17" name="TB c3 r0"/>
          <p:cNvSpPr txBox="1"/>
          <p:nvPr/>
        </p:nvSpPr>
        <p:spPr>
          <a:xfrm>
            <a:off x="5760720" y="1938528"/>
            <a:ext cx="1353312" cy="420624"/>
          </a:xfrm>
          <a:prstGeom prst="rect">
            <a:avLst/>
          </a:prstGeom>
          <a:noFill/>
        </p:spPr>
        <p:txBody>
          <a:bodyPr wrap="square" lIns="0" rIns="0" tIns="0" bIns="0" anchor="ctr">
            <a:spAutoFit/>
          </a:bodyPr>
          <a:lstStyle/>
          <a:p>
            <a:pPr algn="l"/>
            <a:r>
              <a:rPr sz="1300" b="0" i="0">
                <a:solidFill>
                  <a:srgbClr val="222222"/>
                </a:solidFill>
                <a:latin typeface="Arial"/>
              </a:rPr>
              <a:t>0.684</a:t>
            </a:r>
          </a:p>
        </p:txBody>
      </p:sp>
      <p:sp>
        <p:nvSpPr>
          <p:cNvPr id="18" name="TB c4 r0"/>
          <p:cNvSpPr txBox="1"/>
          <p:nvPr/>
        </p:nvSpPr>
        <p:spPr>
          <a:xfrm>
            <a:off x="7260336" y="1938528"/>
            <a:ext cx="1353312" cy="420624"/>
          </a:xfrm>
          <a:prstGeom prst="rect">
            <a:avLst/>
          </a:prstGeom>
          <a:noFill/>
        </p:spPr>
        <p:txBody>
          <a:bodyPr wrap="square" lIns="0" rIns="0" tIns="0" bIns="0" anchor="ctr">
            <a:spAutoFit/>
          </a:bodyPr>
          <a:lstStyle/>
          <a:p>
            <a:pPr algn="l"/>
            <a:r>
              <a:rPr sz="1300" b="0" i="0">
                <a:solidFill>
                  <a:srgbClr val="222222"/>
                </a:solidFill>
                <a:latin typeface="Arial"/>
              </a:rPr>
              <a:t>0.685</a:t>
            </a:r>
          </a:p>
        </p:txBody>
      </p:sp>
      <p:sp>
        <p:nvSpPr>
          <p:cNvPr id="19" name="TB c0 r1"/>
          <p:cNvSpPr txBox="1"/>
          <p:nvPr/>
        </p:nvSpPr>
        <p:spPr>
          <a:xfrm>
            <a:off x="384048" y="2359152"/>
            <a:ext cx="2231136" cy="420624"/>
          </a:xfrm>
          <a:prstGeom prst="rect">
            <a:avLst/>
          </a:prstGeom>
          <a:noFill/>
        </p:spPr>
        <p:txBody>
          <a:bodyPr wrap="square" lIns="0" rIns="0" tIns="0" bIns="0" anchor="ctr">
            <a:spAutoFit/>
          </a:bodyPr>
          <a:lstStyle/>
          <a:p>
            <a:pPr algn="l"/>
            <a:r>
              <a:rPr sz="1300" b="1" i="0">
                <a:solidFill>
                  <a:srgbClr val="222222"/>
                </a:solidFill>
                <a:latin typeface="Arial"/>
              </a:rPr>
              <a:t>RoBERTa-large (355M)</a:t>
            </a:r>
          </a:p>
        </p:txBody>
      </p:sp>
      <p:sp>
        <p:nvSpPr>
          <p:cNvPr id="20" name="TB c1 r1"/>
          <p:cNvSpPr txBox="1"/>
          <p:nvPr/>
        </p:nvSpPr>
        <p:spPr>
          <a:xfrm>
            <a:off x="2761488" y="2359152"/>
            <a:ext cx="1353312" cy="420624"/>
          </a:xfrm>
          <a:prstGeom prst="rect">
            <a:avLst/>
          </a:prstGeom>
          <a:noFill/>
        </p:spPr>
        <p:txBody>
          <a:bodyPr wrap="square" lIns="0" rIns="0" tIns="0" bIns="0" anchor="ctr">
            <a:spAutoFit/>
          </a:bodyPr>
          <a:lstStyle/>
          <a:p>
            <a:pPr algn="l"/>
            <a:r>
              <a:rPr sz="1300" b="0" i="0">
                <a:solidFill>
                  <a:srgbClr val="222222"/>
                </a:solidFill>
                <a:latin typeface="Arial"/>
              </a:rPr>
              <a:t>0.173</a:t>
            </a:r>
          </a:p>
        </p:txBody>
      </p:sp>
      <p:sp>
        <p:nvSpPr>
          <p:cNvPr id="21" name="TB c2 r1"/>
          <p:cNvSpPr txBox="1"/>
          <p:nvPr/>
        </p:nvSpPr>
        <p:spPr>
          <a:xfrm>
            <a:off x="4261104" y="2359152"/>
            <a:ext cx="1353312" cy="420624"/>
          </a:xfrm>
          <a:prstGeom prst="rect">
            <a:avLst/>
          </a:prstGeom>
          <a:noFill/>
        </p:spPr>
        <p:txBody>
          <a:bodyPr wrap="square" lIns="0" rIns="0" tIns="0" bIns="0" anchor="ctr">
            <a:spAutoFit/>
          </a:bodyPr>
          <a:lstStyle/>
          <a:p>
            <a:pPr algn="l"/>
            <a:r>
              <a:rPr sz="1300" b="0" i="0">
                <a:solidFill>
                  <a:srgbClr val="222222"/>
                </a:solidFill>
                <a:latin typeface="Arial"/>
              </a:rPr>
              <a:t>0.716</a:t>
            </a:r>
          </a:p>
        </p:txBody>
      </p:sp>
      <p:sp>
        <p:nvSpPr>
          <p:cNvPr id="22" name="TB c3 r1"/>
          <p:cNvSpPr txBox="1"/>
          <p:nvPr/>
        </p:nvSpPr>
        <p:spPr>
          <a:xfrm>
            <a:off x="5760720" y="2359152"/>
            <a:ext cx="1353312" cy="420624"/>
          </a:xfrm>
          <a:prstGeom prst="rect">
            <a:avLst/>
          </a:prstGeom>
          <a:noFill/>
        </p:spPr>
        <p:txBody>
          <a:bodyPr wrap="square" lIns="0" rIns="0" tIns="0" bIns="0" anchor="ctr">
            <a:spAutoFit/>
          </a:bodyPr>
          <a:lstStyle/>
          <a:p>
            <a:pPr algn="l"/>
            <a:r>
              <a:rPr sz="1300" b="0" i="0">
                <a:solidFill>
                  <a:srgbClr val="222222"/>
                </a:solidFill>
                <a:latin typeface="Arial"/>
              </a:rPr>
              <a:t>0.720</a:t>
            </a:r>
          </a:p>
        </p:txBody>
      </p:sp>
      <p:sp>
        <p:nvSpPr>
          <p:cNvPr id="23" name="TB c4 r1"/>
          <p:cNvSpPr txBox="1"/>
          <p:nvPr/>
        </p:nvSpPr>
        <p:spPr>
          <a:xfrm>
            <a:off x="7260336" y="2359152"/>
            <a:ext cx="1353312" cy="420624"/>
          </a:xfrm>
          <a:prstGeom prst="rect">
            <a:avLst/>
          </a:prstGeom>
          <a:noFill/>
        </p:spPr>
        <p:txBody>
          <a:bodyPr wrap="square" lIns="0" rIns="0" tIns="0" bIns="0" anchor="ctr">
            <a:spAutoFit/>
          </a:bodyPr>
          <a:lstStyle/>
          <a:p>
            <a:pPr algn="l"/>
            <a:r>
              <a:rPr sz="1300" b="0" i="0">
                <a:solidFill>
                  <a:srgbClr val="222222"/>
                </a:solidFill>
                <a:latin typeface="Arial"/>
              </a:rPr>
              <a:t>0.705</a:t>
            </a:r>
          </a:p>
        </p:txBody>
      </p:sp>
      <p:sp>
        <p:nvSpPr>
          <p:cNvPr id="24" name="TB c0 r2"/>
          <p:cNvSpPr txBox="1"/>
          <p:nvPr/>
        </p:nvSpPr>
        <p:spPr>
          <a:xfrm>
            <a:off x="384048" y="2779776"/>
            <a:ext cx="2231136" cy="420624"/>
          </a:xfrm>
          <a:prstGeom prst="rect">
            <a:avLst/>
          </a:prstGeom>
          <a:noFill/>
        </p:spPr>
        <p:txBody>
          <a:bodyPr wrap="square" lIns="0" rIns="0" tIns="0" bIns="0" anchor="ctr">
            <a:spAutoFit/>
          </a:bodyPr>
          <a:lstStyle/>
          <a:p>
            <a:pPr algn="l"/>
            <a:r>
              <a:rPr sz="1300" b="1" i="0">
                <a:solidFill>
                  <a:srgbClr val="222222"/>
                </a:solidFill>
                <a:latin typeface="Arial"/>
              </a:rPr>
              <a:t>Nemotron 3 Nano 4B</a:t>
            </a:r>
          </a:p>
        </p:txBody>
      </p:sp>
      <p:sp>
        <p:nvSpPr>
          <p:cNvPr id="25" name="TB c1 r2"/>
          <p:cNvSpPr txBox="1"/>
          <p:nvPr/>
        </p:nvSpPr>
        <p:spPr>
          <a:xfrm>
            <a:off x="2761488" y="2779776"/>
            <a:ext cx="1353312" cy="420624"/>
          </a:xfrm>
          <a:prstGeom prst="rect">
            <a:avLst/>
          </a:prstGeom>
          <a:noFill/>
        </p:spPr>
        <p:txBody>
          <a:bodyPr wrap="square" lIns="0" rIns="0" tIns="0" bIns="0" anchor="ctr">
            <a:spAutoFit/>
          </a:bodyPr>
          <a:lstStyle/>
          <a:p>
            <a:pPr algn="l"/>
            <a:r>
              <a:rPr sz="1300" b="0" i="0">
                <a:solidFill>
                  <a:srgbClr val="222222"/>
                </a:solidFill>
                <a:latin typeface="Arial"/>
              </a:rPr>
              <a:t>0.622</a:t>
            </a:r>
          </a:p>
        </p:txBody>
      </p:sp>
      <p:sp>
        <p:nvSpPr>
          <p:cNvPr id="26" name="TB c2 r2"/>
          <p:cNvSpPr txBox="1"/>
          <p:nvPr/>
        </p:nvSpPr>
        <p:spPr>
          <a:xfrm>
            <a:off x="4261104" y="2779776"/>
            <a:ext cx="1353312" cy="420624"/>
          </a:xfrm>
          <a:prstGeom prst="rect">
            <a:avLst/>
          </a:prstGeom>
          <a:noFill/>
        </p:spPr>
        <p:txBody>
          <a:bodyPr wrap="square" lIns="0" rIns="0" tIns="0" bIns="0" anchor="ctr">
            <a:spAutoFit/>
          </a:bodyPr>
          <a:lstStyle/>
          <a:p>
            <a:pPr algn="l"/>
            <a:r>
              <a:rPr sz="1100" b="0" i="1">
                <a:solidFill>
                  <a:srgbClr val="595959"/>
                </a:solidFill>
                <a:latin typeface="Arial"/>
              </a:rPr>
              <a:t>does not fit</a:t>
            </a:r>
          </a:p>
        </p:txBody>
      </p:sp>
      <p:sp>
        <p:nvSpPr>
          <p:cNvPr id="27" name="TB c3 r2"/>
          <p:cNvSpPr txBox="1"/>
          <p:nvPr/>
        </p:nvSpPr>
        <p:spPr>
          <a:xfrm>
            <a:off x="5760720" y="2779776"/>
            <a:ext cx="1353312" cy="420624"/>
          </a:xfrm>
          <a:prstGeom prst="rect">
            <a:avLst/>
          </a:prstGeom>
          <a:noFill/>
        </p:spPr>
        <p:txBody>
          <a:bodyPr wrap="square" lIns="0" rIns="0" tIns="0" bIns="0" anchor="ctr">
            <a:spAutoFit/>
          </a:bodyPr>
          <a:lstStyle/>
          <a:p>
            <a:pPr algn="l"/>
            <a:r>
              <a:rPr sz="1300" b="1" i="0">
                <a:solidFill>
                  <a:srgbClr val="222222"/>
                </a:solidFill>
                <a:latin typeface="Arial"/>
              </a:rPr>
              <a:t>0.727</a:t>
            </a:r>
          </a:p>
        </p:txBody>
      </p:sp>
      <p:sp>
        <p:nvSpPr>
          <p:cNvPr id="28" name="TB c4 r2"/>
          <p:cNvSpPr txBox="1"/>
          <p:nvPr/>
        </p:nvSpPr>
        <p:spPr>
          <a:xfrm>
            <a:off x="7260336" y="2779776"/>
            <a:ext cx="1353312" cy="420624"/>
          </a:xfrm>
          <a:prstGeom prst="rect">
            <a:avLst/>
          </a:prstGeom>
          <a:noFill/>
        </p:spPr>
        <p:txBody>
          <a:bodyPr wrap="square" lIns="0" rIns="0" tIns="0" bIns="0" anchor="ctr">
            <a:spAutoFit/>
          </a:bodyPr>
          <a:lstStyle/>
          <a:p>
            <a:pPr algn="l"/>
            <a:r>
              <a:rPr sz="1300" b="0" i="0">
                <a:solidFill>
                  <a:srgbClr val="222222"/>
                </a:solidFill>
                <a:latin typeface="Arial"/>
              </a:rPr>
              <a:t>0.716</a:t>
            </a:r>
          </a:p>
        </p:txBody>
      </p:sp>
      <p:sp>
        <p:nvSpPr>
          <p:cNvPr id="39" name="TB source"/>
          <p:cNvSpPr txBox="1"/>
          <p:nvPr/>
        </p:nvSpPr>
        <p:spPr>
          <a:xfrm>
            <a:off x="73152" y="4892040"/>
            <a:ext cx="8229600" cy="201168"/>
          </a:xfrm>
          <a:prstGeom prst="rect">
            <a:avLst/>
          </a:prstGeom>
          <a:noFill/>
        </p:spPr>
        <p:txBody>
          <a:bodyPr wrap="square" lIns="0" rIns="0" tIns="0" bIns="0" anchor="t">
            <a:spAutoFit/>
          </a:bodyPr>
          <a:lstStyle/>
          <a:p>
            <a:pPr algn="l"/>
            <a:r>
              <a:rPr sz="900" b="0" i="0">
                <a:solidFill>
                  <a:srgbClr val="595959"/>
                </a:solidFill>
                <a:latin typeface="Arial"/>
              </a:rPr>
              <a:t>All runs ours, RTX PRO 5000 Blackwell laptop GPU. Data and splits: </a:t>
            </a:r>
            <a:r>
              <a:rPr sz="900" b="0" i="0" u="sng">
                <a:solidFill>
                  <a:srgbClr val="595959"/>
                </a:solidFill>
                <a:latin typeface="Arial"/>
                <a:hlinkClick r:id="rId2"/>
              </a:rPr>
              <a:t>Shah et al. 2023</a:t>
            </a:r>
            <a:r>
              <a:rPr sz="900" b="0" i="0">
                <a:solidFill>
                  <a:srgbClr val="595959"/>
                </a:solidFill>
                <a:latin typeface="Arial"/>
              </a:rPr>
              <a:t> (Combined-S).</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B title"/>
          <p:cNvSpPr txBox="1"/>
          <p:nvPr/>
        </p:nvSpPr>
        <p:spPr>
          <a:xfrm>
            <a:off x="310896" y="448056"/>
            <a:ext cx="8522208" cy="576072"/>
          </a:xfrm>
          <a:prstGeom prst="rect">
            <a:avLst/>
          </a:prstGeom>
          <a:noFill/>
        </p:spPr>
        <p:txBody>
          <a:bodyPr wrap="square" lIns="0" tIns="0" rIns="0" bIns="0" anchor="t">
            <a:spAutoFit/>
          </a:bodyPr>
          <a:lstStyle/>
          <a:p>
            <a:pPr algn="l"/>
            <a:r>
              <a:rPr sz="2600" b="1" i="0">
                <a:solidFill>
                  <a:srgbClr val="222222"/>
                </a:solidFill>
                <a:latin typeface="Arial"/>
              </a:rPr>
              <a:t>The QLoRA tradeoff on one laptop GPU</a:t>
            </a:r>
          </a:p>
        </p:txBody>
      </p:sp>
      <p:sp>
        <p:nvSpPr>
          <p:cNvPr id="3" name="BG title rule"/>
          <p:cNvSpPr/>
          <p:nvPr/>
        </p:nvSpPr>
        <p:spPr>
          <a:xfrm>
            <a:off x="310896" y="1033271"/>
            <a:ext cx="548640" cy="27432"/>
          </a:xfrm>
          <a:prstGeom prst="rect">
            <a:avLst/>
          </a:prstGeom>
          <a:solidFill>
            <a:srgbClr val="428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B takeaway"/>
          <p:cNvSpPr txBox="1"/>
          <p:nvPr/>
        </p:nvSpPr>
        <p:spPr>
          <a:xfrm>
            <a:off x="310896" y="1143000"/>
            <a:ext cx="8522208" cy="215444"/>
          </a:xfrm>
          <a:prstGeom prst="rect">
            <a:avLst/>
          </a:prstGeom>
          <a:noFill/>
        </p:spPr>
        <p:txBody>
          <a:bodyPr wrap="square" lIns="0" tIns="0" rIns="0" bIns="0" anchor="t">
            <a:spAutoFit/>
          </a:bodyPr>
          <a:lstStyle/>
          <a:p>
            <a:pPr algn="l"/>
            <a:r>
              <a:rPr sz="1400" b="0" i="1">
                <a:solidFill>
                  <a:srgbClr val="4285F4"/>
                </a:solidFill>
                <a:latin typeface="Arial"/>
              </a:rPr>
              <a:t>Peak training memory, Nemotron 3 Nano 4B. QLoRA gives up ~0.01 F1 for 40% less memory.</a:t>
            </a:r>
          </a:p>
        </p:txBody>
      </p:sp>
      <p:sp>
        <p:nvSpPr>
          <p:cNvPr id="5" name="PageNum 34"/>
          <p:cNvSpPr txBox="1"/>
          <p:nvPr/>
        </p:nvSpPr>
        <p:spPr>
          <a:xfrm>
            <a:off x="8595360" y="4892040"/>
            <a:ext cx="457200" cy="201168"/>
          </a:xfrm>
          <a:prstGeom prst="rect">
            <a:avLst/>
          </a:prstGeom>
          <a:noFill/>
        </p:spPr>
        <p:txBody>
          <a:bodyPr wrap="square" lIns="0" rIns="0" tIns="0" bIns="0" anchor="t">
            <a:spAutoFit/>
          </a:bodyPr>
          <a:lstStyle/>
          <a:p>
            <a:pPr algn="r"/>
            <a:r>
              <a:rPr sz="900" b="0" i="0">
                <a:solidFill>
                  <a:srgbClr val="595959"/>
                </a:solidFill>
                <a:latin typeface="Arial"/>
              </a:rPr>
              <a:t>29</a:t>
            </a:r>
          </a:p>
        </p:txBody>
      </p:sp>
      <p:sp>
        <p:nvSpPr>
          <p:cNvPr id="6" name="TB bar label 0"/>
          <p:cNvSpPr txBox="1"/>
          <p:nvPr/>
        </p:nvSpPr>
        <p:spPr>
          <a:xfrm>
            <a:off x="310896" y="1965960"/>
            <a:ext cx="1664208" cy="457200"/>
          </a:xfrm>
          <a:prstGeom prst="rect">
            <a:avLst/>
          </a:prstGeom>
          <a:noFill/>
        </p:spPr>
        <p:txBody>
          <a:bodyPr wrap="square" lIns="0" rIns="0" tIns="0" bIns="0" anchor="ctr">
            <a:spAutoFit/>
          </a:bodyPr>
          <a:lstStyle/>
          <a:p>
            <a:pPr algn="r"/>
            <a:r>
              <a:rPr sz="1300" b="1" i="0">
                <a:solidFill>
                  <a:srgbClr val="222222"/>
                </a:solidFill>
                <a:latin typeface="Arial"/>
              </a:rPr>
              <a:t>Full fine-tuning</a:t>
            </a:r>
          </a:p>
        </p:txBody>
      </p:sp>
      <p:sp>
        <p:nvSpPr>
          <p:cNvPr id="7" name="BG bar 0 fits"/>
          <p:cNvSpPr/>
          <p:nvPr/>
        </p:nvSpPr>
        <p:spPr>
          <a:xfrm>
            <a:off x="2103120" y="1965960"/>
            <a:ext cx="3182111" cy="457200"/>
          </a:xfrm>
          <a:prstGeom prst="rect">
            <a:avLst/>
          </a:prstGeom>
          <a:solidFill>
            <a:srgbClr val="FFCCBC"/>
          </a:solidFill>
          <a:ln>
            <a:noFill/>
          </a:ln>
          <a:effectLst/>
        </p:spPr>
        <p:txBody>
          <a:bodyPr rtlCol="0" anchor="ctr"/>
          <a:lstStyle/>
          <a:p/>
        </p:txBody>
      </p:sp>
      <p:sp>
        <p:nvSpPr>
          <p:cNvPr id="8" name="BG bar 0 oom"/>
          <p:cNvSpPr/>
          <p:nvPr/>
        </p:nvSpPr>
        <p:spPr>
          <a:xfrm>
            <a:off x="5285231" y="1965960"/>
            <a:ext cx="1856231" cy="457200"/>
          </a:xfrm>
          <a:prstGeom prst="rect">
            <a:avLst/>
          </a:prstGeom>
          <a:solidFill>
            <a:srgbClr val="C00000"/>
          </a:solidFill>
          <a:ln>
            <a:noFill/>
          </a:ln>
          <a:effectLst/>
        </p:spPr>
        <p:txBody>
          <a:bodyPr rtlCol="0" anchor="ctr"/>
          <a:lstStyle/>
          <a:p/>
        </p:txBody>
      </p:sp>
      <p:sp>
        <p:nvSpPr>
          <p:cNvPr id="9" name="TB bar value 0"/>
          <p:cNvSpPr txBox="1"/>
          <p:nvPr/>
        </p:nvSpPr>
        <p:spPr>
          <a:xfrm>
            <a:off x="7232903" y="1965960"/>
            <a:ext cx="1600200" cy="457200"/>
          </a:xfrm>
          <a:prstGeom prst="rect">
            <a:avLst/>
          </a:prstGeom>
          <a:noFill/>
        </p:spPr>
        <p:txBody>
          <a:bodyPr wrap="square" lIns="0" rIns="0" tIns="0" bIns="0" anchor="ctr">
            <a:spAutoFit/>
          </a:bodyPr>
          <a:lstStyle/>
          <a:p>
            <a:pPr algn="l"/>
            <a:r>
              <a:rPr sz="1200" b="1" i="0">
                <a:solidFill>
                  <a:srgbClr val="C00000"/>
                </a:solidFill>
                <a:latin typeface="Arial"/>
              </a:rPr>
              <a:t>~38 GB · does not fit</a:t>
            </a:r>
          </a:p>
        </p:txBody>
      </p:sp>
      <p:sp>
        <p:nvSpPr>
          <p:cNvPr id="10" name="TB bar label 1"/>
          <p:cNvSpPr txBox="1"/>
          <p:nvPr/>
        </p:nvSpPr>
        <p:spPr>
          <a:xfrm>
            <a:off x="310896" y="2715768"/>
            <a:ext cx="1664208" cy="457200"/>
          </a:xfrm>
          <a:prstGeom prst="rect">
            <a:avLst/>
          </a:prstGeom>
          <a:noFill/>
        </p:spPr>
        <p:txBody>
          <a:bodyPr wrap="square" lIns="0" rIns="0" tIns="0" bIns="0" anchor="ctr">
            <a:spAutoFit/>
          </a:bodyPr>
          <a:lstStyle/>
          <a:p>
            <a:pPr algn="r"/>
            <a:r>
              <a:rPr sz="1300" b="1" i="0">
                <a:solidFill>
                  <a:srgbClr val="222222"/>
                </a:solidFill>
                <a:latin typeface="Arial"/>
              </a:rPr>
              <a:t>LoRA (bf16 base)</a:t>
            </a:r>
          </a:p>
        </p:txBody>
      </p:sp>
      <p:sp>
        <p:nvSpPr>
          <p:cNvPr id="11" name="BG bar 1"/>
          <p:cNvSpPr/>
          <p:nvPr/>
        </p:nvSpPr>
        <p:spPr>
          <a:xfrm>
            <a:off x="2103120" y="2715768"/>
            <a:ext cx="1193292" cy="457200"/>
          </a:xfrm>
          <a:prstGeom prst="rect">
            <a:avLst/>
          </a:prstGeom>
          <a:solidFill>
            <a:srgbClr val="4285F4"/>
          </a:solidFill>
          <a:ln>
            <a:noFill/>
          </a:ln>
          <a:effectLst/>
        </p:spPr>
        <p:txBody>
          <a:bodyPr rtlCol="0" anchor="ctr"/>
          <a:lstStyle/>
          <a:p/>
        </p:txBody>
      </p:sp>
      <p:sp>
        <p:nvSpPr>
          <p:cNvPr id="12" name="TB bar value 1"/>
          <p:cNvSpPr txBox="1"/>
          <p:nvPr/>
        </p:nvSpPr>
        <p:spPr>
          <a:xfrm>
            <a:off x="3406139" y="2715768"/>
            <a:ext cx="2743200" cy="457200"/>
          </a:xfrm>
          <a:prstGeom prst="rect">
            <a:avLst/>
          </a:prstGeom>
          <a:noFill/>
        </p:spPr>
        <p:txBody>
          <a:bodyPr wrap="square" lIns="0" rIns="0" tIns="0" bIns="0" anchor="ctr">
            <a:spAutoFit/>
          </a:bodyPr>
          <a:lstStyle/>
          <a:p>
            <a:pPr algn="l"/>
            <a:r>
              <a:rPr sz="1200" b="1" i="0">
                <a:solidFill>
                  <a:srgbClr val="222222"/>
                </a:solidFill>
                <a:latin typeface="Arial"/>
              </a:rPr>
              <a:t>9.0 GB · F1 0.727</a:t>
            </a:r>
          </a:p>
        </p:txBody>
      </p:sp>
      <p:sp>
        <p:nvSpPr>
          <p:cNvPr id="13" name="TB bar label 2"/>
          <p:cNvSpPr txBox="1"/>
          <p:nvPr/>
        </p:nvSpPr>
        <p:spPr>
          <a:xfrm>
            <a:off x="310896" y="3465576"/>
            <a:ext cx="1664208" cy="457200"/>
          </a:xfrm>
          <a:prstGeom prst="rect">
            <a:avLst/>
          </a:prstGeom>
          <a:noFill/>
        </p:spPr>
        <p:txBody>
          <a:bodyPr wrap="square" lIns="0" rIns="0" tIns="0" bIns="0" anchor="ctr">
            <a:spAutoFit/>
          </a:bodyPr>
          <a:lstStyle/>
          <a:p>
            <a:pPr algn="r"/>
            <a:r>
              <a:rPr sz="1300" b="1" i="0">
                <a:solidFill>
                  <a:srgbClr val="222222"/>
                </a:solidFill>
                <a:latin typeface="Arial"/>
              </a:rPr>
              <a:t>QLoRA (NF4 base)</a:t>
            </a:r>
          </a:p>
        </p:txBody>
      </p:sp>
      <p:sp>
        <p:nvSpPr>
          <p:cNvPr id="14" name="BG bar 2"/>
          <p:cNvSpPr/>
          <p:nvPr/>
        </p:nvSpPr>
        <p:spPr>
          <a:xfrm>
            <a:off x="2103120" y="3465576"/>
            <a:ext cx="715975" cy="457200"/>
          </a:xfrm>
          <a:prstGeom prst="rect">
            <a:avLst/>
          </a:prstGeom>
          <a:solidFill>
            <a:srgbClr val="0097A7"/>
          </a:solidFill>
          <a:ln>
            <a:noFill/>
          </a:ln>
          <a:effectLst/>
        </p:spPr>
        <p:txBody>
          <a:bodyPr rtlCol="0" anchor="ctr"/>
          <a:lstStyle/>
          <a:p/>
        </p:txBody>
      </p:sp>
      <p:sp>
        <p:nvSpPr>
          <p:cNvPr id="15" name="TB bar value 2"/>
          <p:cNvSpPr txBox="1"/>
          <p:nvPr/>
        </p:nvSpPr>
        <p:spPr>
          <a:xfrm>
            <a:off x="2928823" y="3465576"/>
            <a:ext cx="2743200" cy="457200"/>
          </a:xfrm>
          <a:prstGeom prst="rect">
            <a:avLst/>
          </a:prstGeom>
          <a:noFill/>
        </p:spPr>
        <p:txBody>
          <a:bodyPr wrap="square" lIns="0" rIns="0" tIns="0" bIns="0" anchor="ctr">
            <a:spAutoFit/>
          </a:bodyPr>
          <a:lstStyle/>
          <a:p>
            <a:pPr algn="l"/>
            <a:r>
              <a:rPr sz="1200" b="1" i="0">
                <a:solidFill>
                  <a:srgbClr val="222222"/>
                </a:solidFill>
                <a:latin typeface="Arial"/>
              </a:rPr>
              <a:t>5.4 GB · F1 0.716</a:t>
            </a:r>
          </a:p>
        </p:txBody>
      </p:sp>
      <p:cxnSp>
        <p:nvCxnSpPr>
          <p:cNvPr id="16" name="LN gpu limit"/>
          <p:cNvCxnSpPr/>
          <p:nvPr/>
        </p:nvCxnSpPr>
        <p:spPr>
          <a:xfrm>
            <a:off x="5285231" y="1737360"/>
            <a:ext cx="0" cy="2276855"/>
          </a:xfrm>
          <a:prstGeom prst="line">
            <a:avLst/>
          </a:prstGeom>
          <a:ln w="22225">
            <a:solidFill>
              <a:srgbClr val="C00000"/>
            </a:solidFill>
            <a:prstDash val="dash"/>
          </a:ln>
        </p:spPr>
        <p:style>
          <a:lnRef idx="2">
            <a:schemeClr val="accent1"/>
          </a:lnRef>
          <a:fillRef idx="0">
            <a:schemeClr val="accent1"/>
          </a:fillRef>
          <a:effectRef idx="1">
            <a:schemeClr val="accent1"/>
          </a:effectRef>
          <a:fontRef idx="minor">
            <a:schemeClr val="tx1"/>
          </a:fontRef>
        </p:style>
      </p:cxnSp>
      <p:sp>
        <p:nvSpPr>
          <p:cNvPr id="17" name="TB gpu limit"/>
          <p:cNvSpPr txBox="1"/>
          <p:nvPr/>
        </p:nvSpPr>
        <p:spPr>
          <a:xfrm>
            <a:off x="3822191" y="1508760"/>
            <a:ext cx="2926080" cy="219456"/>
          </a:xfrm>
          <a:prstGeom prst="rect">
            <a:avLst/>
          </a:prstGeom>
          <a:noFill/>
        </p:spPr>
        <p:txBody>
          <a:bodyPr wrap="square" lIns="0" rIns="0" tIns="0" bIns="0" anchor="t">
            <a:spAutoFit/>
          </a:bodyPr>
          <a:lstStyle/>
          <a:p>
            <a:pPr algn="ctr"/>
            <a:r>
              <a:rPr sz="1100" b="1" i="0">
                <a:solidFill>
                  <a:srgbClr val="C00000"/>
                </a:solidFill>
                <a:latin typeface="Arial"/>
              </a:rPr>
              <a:t>RTX PRO 5000 laptop GPU: 24 GB</a:t>
            </a:r>
          </a:p>
        </p:txBody>
      </p:sp>
      <p:sp>
        <p:nvSpPr>
          <p:cNvPr id="18" name="TB note"/>
          <p:cNvSpPr txBox="1"/>
          <p:nvPr/>
        </p:nvSpPr>
        <p:spPr>
          <a:xfrm>
            <a:off x="310896" y="4297680"/>
            <a:ext cx="8522208" cy="274320"/>
          </a:xfrm>
          <a:prstGeom prst="rect">
            <a:avLst/>
          </a:prstGeom>
          <a:noFill/>
        </p:spPr>
        <p:txBody>
          <a:bodyPr wrap="square" lIns="0" rIns="0" tIns="0" bIns="0" anchor="t">
            <a:spAutoFit/>
          </a:bodyPr>
          <a:lstStyle/>
          <a:p>
            <a:pPr algn="ctr"/>
            <a:r>
              <a:rPr sz="1200" b="0" i="1">
                <a:solidFill>
                  <a:srgbClr val="595959"/>
                </a:solidFill>
                <a:latin typeface="Arial"/>
              </a:rPr>
              <a:t>Plain LoRA already fits on a laptop GPU. QLoRA buys headroom for a bigger model or longer sequences.</a:t>
            </a:r>
          </a:p>
        </p:txBody>
      </p:sp>
      <p:sp>
        <p:nvSpPr>
          <p:cNvPr id="19" name="TB source"/>
          <p:cNvSpPr txBox="1"/>
          <p:nvPr/>
        </p:nvSpPr>
        <p:spPr>
          <a:xfrm>
            <a:off x="73152" y="4892040"/>
            <a:ext cx="8229600" cy="201168"/>
          </a:xfrm>
          <a:prstGeom prst="rect">
            <a:avLst/>
          </a:prstGeom>
          <a:noFill/>
        </p:spPr>
        <p:txBody>
          <a:bodyPr wrap="square" lIns="0" rIns="0" tIns="0" bIns="0" anchor="t">
            <a:spAutoFit/>
          </a:bodyPr>
          <a:lstStyle/>
          <a:p>
            <a:pPr algn="l"/>
            <a:r>
              <a:rPr sz="900" b="0" i="0">
                <a:solidFill>
                  <a:srgbClr val="595959"/>
                </a:solidFill>
                <a:latin typeface="Arial"/>
              </a:rPr>
              <a:t>Measured peak GPU memory during training (3-seed runs). Full fine-tuning: bf16 estimate from slide 3.</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B title"/>
          <p:cNvSpPr txBox="1"/>
          <p:nvPr/>
        </p:nvSpPr>
        <p:spPr>
          <a:xfrm>
            <a:off x="310896" y="448056"/>
            <a:ext cx="8522208" cy="576072"/>
          </a:xfrm>
          <a:prstGeom prst="rect">
            <a:avLst/>
          </a:prstGeom>
          <a:noFill/>
        </p:spPr>
        <p:txBody>
          <a:bodyPr wrap="square" lIns="0" tIns="0" rIns="0" bIns="0" anchor="t">
            <a:spAutoFit/>
          </a:bodyPr>
          <a:lstStyle/>
          <a:p>
            <a:pPr algn="l"/>
            <a:r>
              <a:rPr sz="2600" b="1" i="0">
                <a:solidFill>
                  <a:srgbClr val="222222"/>
                </a:solidFill>
                <a:latin typeface="Arial"/>
              </a:rPr>
              <a:t>Flyte: 33 runs as one pipeline</a:t>
            </a:r>
          </a:p>
        </p:txBody>
      </p:sp>
      <p:sp>
        <p:nvSpPr>
          <p:cNvPr id="3" name="BG title rule"/>
          <p:cNvSpPr/>
          <p:nvPr/>
        </p:nvSpPr>
        <p:spPr>
          <a:xfrm>
            <a:off x="310896" y="1033271"/>
            <a:ext cx="548640" cy="27432"/>
          </a:xfrm>
          <a:prstGeom prst="rect">
            <a:avLst/>
          </a:prstGeom>
          <a:solidFill>
            <a:srgbClr val="428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B takeaway"/>
          <p:cNvSpPr txBox="1"/>
          <p:nvPr/>
        </p:nvSpPr>
        <p:spPr>
          <a:xfrm>
            <a:off x="310896" y="1143000"/>
            <a:ext cx="8522208" cy="215444"/>
          </a:xfrm>
          <a:prstGeom prst="rect">
            <a:avLst/>
          </a:prstGeom>
          <a:noFill/>
        </p:spPr>
        <p:txBody>
          <a:bodyPr wrap="square" lIns="0" tIns="0" rIns="0" bIns="0" anchor="t">
            <a:spAutoFit/>
          </a:bodyPr>
          <a:lstStyle/>
          <a:p>
            <a:pPr algn="l"/>
            <a:r>
              <a:rPr sz="1400" b="0" i="1">
                <a:solidFill>
                  <a:srgbClr val="4285F4"/>
                </a:solidFill>
                <a:latin typeface="Arial"/>
              </a:rPr>
              <a:t>One workflow runs unchanged on a MacBook, a laptop GPU, and a Flyte cluster.</a:t>
            </a:r>
          </a:p>
        </p:txBody>
      </p:sp>
      <p:sp>
        <p:nvSpPr>
          <p:cNvPr id="5" name="PageNum 35"/>
          <p:cNvSpPr txBox="1"/>
          <p:nvPr/>
        </p:nvSpPr>
        <p:spPr>
          <a:xfrm>
            <a:off x="8595360" y="4892040"/>
            <a:ext cx="457200" cy="201168"/>
          </a:xfrm>
          <a:prstGeom prst="rect">
            <a:avLst/>
          </a:prstGeom>
          <a:noFill/>
        </p:spPr>
        <p:txBody>
          <a:bodyPr wrap="square" lIns="0" rIns="0" tIns="0" bIns="0" anchor="t">
            <a:spAutoFit/>
          </a:bodyPr>
          <a:lstStyle/>
          <a:p>
            <a:pPr algn="r"/>
            <a:r>
              <a:rPr sz="900" b="0" i="0">
                <a:solidFill>
                  <a:srgbClr val="595959"/>
                </a:solidFill>
                <a:latin typeface="Arial"/>
              </a:rPr>
              <a:t>30</a:t>
            </a:r>
          </a:p>
        </p:txBody>
      </p:sp>
      <p:sp>
        <p:nvSpPr>
          <p:cNvPr id="6" name="BG accent bar 0"/>
          <p:cNvSpPr/>
          <p:nvPr/>
        </p:nvSpPr>
        <p:spPr>
          <a:xfrm>
            <a:off x="310896" y="1600200"/>
            <a:ext cx="73152" cy="868680"/>
          </a:xfrm>
          <a:prstGeom prst="rect">
            <a:avLst/>
          </a:prstGeom>
          <a:solidFill>
            <a:srgbClr val="4285F4"/>
          </a:solidFill>
          <a:ln>
            <a:noFill/>
          </a:ln>
          <a:effectLst/>
        </p:spPr>
        <p:txBody>
          <a:bodyPr rtlCol="0" anchor="ctr"/>
          <a:lstStyle/>
          <a:p/>
        </p:txBody>
      </p:sp>
      <p:sp>
        <p:nvSpPr>
          <p:cNvPr id="7" name="TB block title 0"/>
          <p:cNvSpPr txBox="1"/>
          <p:nvPr/>
        </p:nvSpPr>
        <p:spPr>
          <a:xfrm>
            <a:off x="539496" y="1618488"/>
            <a:ext cx="3931920" cy="274320"/>
          </a:xfrm>
          <a:prstGeom prst="rect">
            <a:avLst/>
          </a:prstGeom>
          <a:noFill/>
        </p:spPr>
        <p:txBody>
          <a:bodyPr wrap="square" lIns="0" rIns="0" tIns="0" bIns="0" anchor="t">
            <a:spAutoFit/>
          </a:bodyPr>
          <a:lstStyle/>
          <a:p>
            <a:pPr algn="l"/>
            <a:r>
              <a:rPr sz="1500" b="1" i="0">
                <a:solidFill>
                  <a:srgbClr val="222222"/>
                </a:solidFill>
                <a:latin typeface="Arial"/>
              </a:rPr>
              <a:t>Cheap reruns</a:t>
            </a:r>
          </a:p>
        </p:txBody>
      </p:sp>
      <p:sp>
        <p:nvSpPr>
          <p:cNvPr id="8" name="TB block desc 0"/>
          <p:cNvSpPr txBox="1"/>
          <p:nvPr/>
        </p:nvSpPr>
        <p:spPr>
          <a:xfrm>
            <a:off x="539496" y="1929384"/>
            <a:ext cx="3931920" cy="539496"/>
          </a:xfrm>
          <a:prstGeom prst="rect">
            <a:avLst/>
          </a:prstGeom>
          <a:noFill/>
        </p:spPr>
        <p:txBody>
          <a:bodyPr wrap="square" lIns="0" rIns="0" tIns="0" bIns="0" anchor="t">
            <a:spAutoFit/>
          </a:bodyPr>
          <a:lstStyle/>
          <a:p>
            <a:pPr algn="l"/>
            <a:r>
              <a:rPr sz="1200" b="0" i="0">
                <a:solidFill>
                  <a:srgbClr val="595959"/>
                </a:solidFill>
                <a:latin typeface="Arial"/>
              </a:rPr>
              <a:t>Data prep is </a:t>
            </a:r>
            <a:r>
              <a:rPr sz="1200" b="1" i="0">
                <a:solidFill>
                  <a:srgbClr val="222222"/>
                </a:solidFill>
                <a:latin typeface="Arial"/>
              </a:rPr>
              <a:t>cached</a:t>
            </a:r>
            <a:r>
              <a:rPr sz="1200" b="0" i="0">
                <a:solidFill>
                  <a:srgbClr val="595959"/>
                </a:solidFill>
                <a:latin typeface="Arial"/>
              </a:rPr>
              <a:t>. A failed GPU task </a:t>
            </a:r>
            <a:r>
              <a:rPr sz="1200" b="1" i="0">
                <a:solidFill>
                  <a:srgbClr val="222222"/>
                </a:solidFill>
                <a:latin typeface="Arial"/>
              </a:rPr>
              <a:t>retries from its last epoch</a:t>
            </a:r>
            <a:r>
              <a:rPr sz="1200" b="0" i="0">
                <a:solidFill>
                  <a:srgbClr val="595959"/>
                </a:solidFill>
                <a:latin typeface="Arial"/>
              </a:rPr>
              <a:t>, not from scratch.</a:t>
            </a:r>
          </a:p>
        </p:txBody>
      </p:sp>
      <p:sp>
        <p:nvSpPr>
          <p:cNvPr id="9" name="BG accent bar 1"/>
          <p:cNvSpPr/>
          <p:nvPr/>
        </p:nvSpPr>
        <p:spPr>
          <a:xfrm>
            <a:off x="310896" y="2587752"/>
            <a:ext cx="73152" cy="868680"/>
          </a:xfrm>
          <a:prstGeom prst="rect">
            <a:avLst/>
          </a:prstGeom>
          <a:solidFill>
            <a:srgbClr val="0097A7"/>
          </a:solidFill>
          <a:ln>
            <a:noFill/>
          </a:ln>
          <a:effectLst/>
        </p:spPr>
        <p:txBody>
          <a:bodyPr rtlCol="0" anchor="ctr"/>
          <a:lstStyle/>
          <a:p/>
        </p:txBody>
      </p:sp>
      <p:sp>
        <p:nvSpPr>
          <p:cNvPr id="10" name="TB block title 1"/>
          <p:cNvSpPr txBox="1"/>
          <p:nvPr/>
        </p:nvSpPr>
        <p:spPr>
          <a:xfrm>
            <a:off x="539496" y="2606040"/>
            <a:ext cx="3931920" cy="274320"/>
          </a:xfrm>
          <a:prstGeom prst="rect">
            <a:avLst/>
          </a:prstGeom>
          <a:noFill/>
        </p:spPr>
        <p:txBody>
          <a:bodyPr wrap="square" lIns="0" rIns="0" tIns="0" bIns="0" anchor="t">
            <a:spAutoFit/>
          </a:bodyPr>
          <a:lstStyle/>
          <a:p>
            <a:pPr algn="l"/>
            <a:r>
              <a:rPr sz="1500" b="1" i="0">
                <a:solidFill>
                  <a:srgbClr val="222222"/>
                </a:solidFill>
                <a:latin typeface="Arial"/>
              </a:rPr>
              <a:t>Every stage explains itself</a:t>
            </a:r>
          </a:p>
        </p:txBody>
      </p:sp>
      <p:sp>
        <p:nvSpPr>
          <p:cNvPr id="11" name="TB block desc 1"/>
          <p:cNvSpPr txBox="1"/>
          <p:nvPr/>
        </p:nvSpPr>
        <p:spPr>
          <a:xfrm>
            <a:off x="539496" y="2916936"/>
            <a:ext cx="3931920" cy="539496"/>
          </a:xfrm>
          <a:prstGeom prst="rect">
            <a:avLst/>
          </a:prstGeom>
          <a:noFill/>
        </p:spPr>
        <p:txBody>
          <a:bodyPr wrap="square" lIns="0" rIns="0" tIns="0" bIns="0" anchor="t">
            <a:spAutoFit/>
          </a:bodyPr>
          <a:lstStyle/>
          <a:p>
            <a:pPr algn="l"/>
            <a:r>
              <a:rPr sz="1200" b="0" i="0">
                <a:solidFill>
                  <a:srgbClr val="595959"/>
                </a:solidFill>
                <a:latin typeface="Arial"/>
              </a:rPr>
              <a:t>Each step writes a </a:t>
            </a:r>
            <a:r>
              <a:rPr sz="1200" b="1" i="0">
                <a:solidFill>
                  <a:srgbClr val="222222"/>
                </a:solidFill>
                <a:latin typeface="Arial"/>
              </a:rPr>
              <a:t>report</a:t>
            </a:r>
            <a:r>
              <a:rPr sz="1200" b="0" i="0">
                <a:solidFill>
                  <a:srgbClr val="595959"/>
                </a:solidFill>
                <a:latin typeface="Arial"/>
              </a:rPr>
              <a:t>: label mix, training curves, the model's most confident mistakes.</a:t>
            </a:r>
          </a:p>
        </p:txBody>
      </p:sp>
      <p:sp>
        <p:nvSpPr>
          <p:cNvPr id="12" name="BG accent bar 2"/>
          <p:cNvSpPr/>
          <p:nvPr/>
        </p:nvSpPr>
        <p:spPr>
          <a:xfrm>
            <a:off x="310896" y="3575304"/>
            <a:ext cx="73152" cy="868680"/>
          </a:xfrm>
          <a:prstGeom prst="rect">
            <a:avLst/>
          </a:prstGeom>
          <a:solidFill>
            <a:srgbClr val="FFAB40"/>
          </a:solidFill>
          <a:ln>
            <a:noFill/>
          </a:ln>
          <a:effectLst/>
        </p:spPr>
        <p:txBody>
          <a:bodyPr rtlCol="0" anchor="ctr"/>
          <a:lstStyle/>
          <a:p/>
        </p:txBody>
      </p:sp>
      <p:sp>
        <p:nvSpPr>
          <p:cNvPr id="13" name="TB block title 2"/>
          <p:cNvSpPr txBox="1"/>
          <p:nvPr/>
        </p:nvSpPr>
        <p:spPr>
          <a:xfrm>
            <a:off x="539496" y="3593592"/>
            <a:ext cx="3931920" cy="274320"/>
          </a:xfrm>
          <a:prstGeom prst="rect">
            <a:avLst/>
          </a:prstGeom>
          <a:noFill/>
        </p:spPr>
        <p:txBody>
          <a:bodyPr wrap="square" lIns="0" rIns="0" tIns="0" bIns="0" anchor="t">
            <a:spAutoFit/>
          </a:bodyPr>
          <a:lstStyle/>
          <a:p>
            <a:pPr algn="l"/>
            <a:r>
              <a:rPr sz="1500" b="1" i="0">
                <a:solidFill>
                  <a:srgbClr val="222222"/>
                </a:solidFill>
                <a:latin typeface="Arial"/>
              </a:rPr>
              <a:t>Results side by side</a:t>
            </a:r>
          </a:p>
        </p:txBody>
      </p:sp>
      <p:sp>
        <p:nvSpPr>
          <p:cNvPr id="14" name="TB block desc 2"/>
          <p:cNvSpPr txBox="1"/>
          <p:nvPr/>
        </p:nvSpPr>
        <p:spPr>
          <a:xfrm>
            <a:off x="539496" y="3904488"/>
            <a:ext cx="3931920" cy="539496"/>
          </a:xfrm>
          <a:prstGeom prst="rect">
            <a:avLst/>
          </a:prstGeom>
          <a:noFill/>
        </p:spPr>
        <p:txBody>
          <a:bodyPr wrap="square" lIns="0" rIns="0" tIns="0" bIns="0" anchor="t">
            <a:spAutoFit/>
          </a:bodyPr>
          <a:lstStyle/>
          <a:p>
            <a:pPr algn="l"/>
            <a:r>
              <a:rPr sz="1200" b="0" i="0">
                <a:solidFill>
                  <a:srgbClr val="595959"/>
                </a:solidFill>
                <a:latin typeface="Arial"/>
              </a:rPr>
              <a:t>The compare stage puts every model and method on one page (</a:t>
            </a:r>
            <a:r>
              <a:rPr sz="1200" b="1" i="0">
                <a:solidFill>
                  <a:srgbClr val="222222"/>
                </a:solidFill>
                <a:latin typeface="Arial"/>
              </a:rPr>
              <a:t>right</a:t>
            </a:r>
            <a:r>
              <a:rPr sz="1200" b="0" i="0">
                <a:solidFill>
                  <a:srgbClr val="595959"/>
                </a:solidFill>
                <a:latin typeface="Arial"/>
              </a:rPr>
              <a:t>).</a:t>
            </a:r>
          </a:p>
        </p:txBody>
      </p:sp>
      <p:pic>
        <p:nvPicPr>
          <p:cNvPr id="15" name="PIC flyte report" descr="flyte_report_why_finetune.png"/>
          <p:cNvPicPr>
            <a:picLocks noChangeAspect="1"/>
          </p:cNvPicPr>
          <p:nvPr/>
        </p:nvPicPr>
        <p:blipFill>
          <a:blip r:embed="rId2"/>
          <a:stretch>
            <a:fillRect/>
          </a:stretch>
        </p:blipFill>
        <p:spPr>
          <a:xfrm>
            <a:off x="4846320" y="1508760"/>
            <a:ext cx="3931920" cy="2915996"/>
          </a:xfrm>
          <a:prstGeom prst="rect">
            <a:avLst/>
          </a:prstGeom>
          <a:ln w="9525">
            <a:solidFill>
              <a:srgbClr val="DDDDDD"/>
            </a:solidFill>
          </a:ln>
        </p:spPr>
      </p:pic>
      <p:sp>
        <p:nvSpPr>
          <p:cNvPr id="16" name="TB caption"/>
          <p:cNvSpPr txBox="1"/>
          <p:nvPr/>
        </p:nvSpPr>
        <p:spPr>
          <a:xfrm>
            <a:off x="4846320" y="4479620"/>
            <a:ext cx="3931920" cy="256032"/>
          </a:xfrm>
          <a:prstGeom prst="rect">
            <a:avLst/>
          </a:prstGeom>
          <a:noFill/>
        </p:spPr>
        <p:txBody>
          <a:bodyPr wrap="square" lIns="0" rIns="0" tIns="0" bIns="0" anchor="t">
            <a:spAutoFit/>
          </a:bodyPr>
          <a:lstStyle/>
          <a:p>
            <a:pPr algn="ctr"/>
            <a:r>
              <a:rPr sz="1100" b="0" i="1">
                <a:solidFill>
                  <a:srgbClr val="595959"/>
                </a:solidFill>
                <a:latin typeface="Arial"/>
              </a:rPr>
              <a:t>Flyte Reports tab: the compare stage, QLoRA vs no fine-tuning.</a:t>
            </a:r>
          </a:p>
        </p:txBody>
      </p:sp>
      <p:sp>
        <p:nvSpPr>
          <p:cNvPr id="17" name="TB source"/>
          <p:cNvSpPr txBox="1"/>
          <p:nvPr/>
        </p:nvSpPr>
        <p:spPr>
          <a:xfrm>
            <a:off x="73152" y="4892040"/>
            <a:ext cx="8229600" cy="201168"/>
          </a:xfrm>
          <a:prstGeom prst="rect">
            <a:avLst/>
          </a:prstGeom>
          <a:noFill/>
        </p:spPr>
        <p:txBody>
          <a:bodyPr wrap="square" lIns="0" rIns="0" tIns="0" bIns="0" anchor="t">
            <a:spAutoFit/>
          </a:bodyPr>
          <a:lstStyle/>
          <a:p>
            <a:pPr algn="l"/>
            <a:r>
              <a:rPr sz="900" b="0" i="0">
                <a:solidFill>
                  <a:srgbClr val="595959"/>
                </a:solidFill>
                <a:latin typeface="Arial"/>
              </a:rPr>
              <a:t>Flyte: </a:t>
            </a:r>
            <a:r>
              <a:rPr sz="900" b="0" i="0" u="sng">
                <a:solidFill>
                  <a:srgbClr val="595959"/>
                </a:solidFill>
                <a:latin typeface="Arial"/>
                <a:hlinkClick r:id="rId3"/>
              </a:rPr>
              <a:t>github.com/flyteorg/flyte</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B title"/>
          <p:cNvSpPr txBox="1"/>
          <p:nvPr/>
        </p:nvSpPr>
        <p:spPr>
          <a:xfrm>
            <a:off x="310896" y="448056"/>
            <a:ext cx="8522208" cy="576072"/>
          </a:xfrm>
          <a:prstGeom prst="rect">
            <a:avLst/>
          </a:prstGeom>
          <a:noFill/>
        </p:spPr>
        <p:txBody>
          <a:bodyPr wrap="square" lIns="0" tIns="0" rIns="0" bIns="0" anchor="t">
            <a:spAutoFit/>
          </a:bodyPr>
          <a:lstStyle/>
          <a:p>
            <a:pPr algn="l"/>
            <a:r>
              <a:rPr sz="2600" b="1" i="0">
                <a:solidFill>
                  <a:srgbClr val="222222"/>
                </a:solidFill>
                <a:latin typeface="Arial"/>
              </a:rPr>
              <a:t>Serving the adapter with vLLM</a:t>
            </a:r>
          </a:p>
        </p:txBody>
      </p:sp>
      <p:sp>
        <p:nvSpPr>
          <p:cNvPr id="3" name="BG title rule"/>
          <p:cNvSpPr/>
          <p:nvPr/>
        </p:nvSpPr>
        <p:spPr>
          <a:xfrm>
            <a:off x="310896" y="1033271"/>
            <a:ext cx="548640" cy="27432"/>
          </a:xfrm>
          <a:prstGeom prst="rect">
            <a:avLst/>
          </a:prstGeom>
          <a:solidFill>
            <a:srgbClr val="428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B takeaway"/>
          <p:cNvSpPr txBox="1"/>
          <p:nvPr/>
        </p:nvSpPr>
        <p:spPr>
          <a:xfrm>
            <a:off x="310896" y="1143000"/>
            <a:ext cx="8522208" cy="215444"/>
          </a:xfrm>
          <a:prstGeom prst="rect">
            <a:avLst/>
          </a:prstGeom>
          <a:noFill/>
        </p:spPr>
        <p:txBody>
          <a:bodyPr wrap="square" lIns="0" tIns="0" rIns="0" bIns="0" anchor="t">
            <a:spAutoFit/>
          </a:bodyPr>
          <a:lstStyle/>
          <a:p>
            <a:pPr algn="l"/>
            <a:r>
              <a:rPr sz="1400" b="0" i="1">
                <a:solidFill>
                  <a:srgbClr val="4285F4"/>
                </a:solidFill>
                <a:latin typeface="Arial"/>
              </a:rPr>
              <a:t>The adapter trained on the laptop works unchanged on NVIDIA's FP8 release of the base model.</a:t>
            </a:r>
          </a:p>
        </p:txBody>
      </p:sp>
      <p:sp>
        <p:nvSpPr>
          <p:cNvPr id="5" name="PageNum 36"/>
          <p:cNvSpPr txBox="1"/>
          <p:nvPr/>
        </p:nvSpPr>
        <p:spPr>
          <a:xfrm>
            <a:off x="8595360" y="4892040"/>
            <a:ext cx="457200" cy="201168"/>
          </a:xfrm>
          <a:prstGeom prst="rect">
            <a:avLst/>
          </a:prstGeom>
          <a:noFill/>
        </p:spPr>
        <p:txBody>
          <a:bodyPr wrap="square" lIns="0" rIns="0" tIns="0" bIns="0" anchor="t">
            <a:spAutoFit/>
          </a:bodyPr>
          <a:lstStyle/>
          <a:p>
            <a:pPr algn="r"/>
            <a:r>
              <a:rPr sz="900" b="0" i="0">
                <a:solidFill>
                  <a:srgbClr val="595959"/>
                </a:solidFill>
                <a:latin typeface="Arial"/>
              </a:rPr>
              <a:t>31</a:t>
            </a:r>
          </a:p>
        </p:txBody>
      </p:sp>
      <p:sp>
        <p:nvSpPr>
          <p:cNvPr id="6" name="TB lbl stat 0"/>
          <p:cNvSpPr txBox="1"/>
          <p:nvPr/>
        </p:nvSpPr>
        <p:spPr>
          <a:xfrm>
            <a:off x="310896" y="1600200"/>
            <a:ext cx="2697480" cy="182880"/>
          </a:xfrm>
          <a:prstGeom prst="rect">
            <a:avLst/>
          </a:prstGeom>
          <a:noFill/>
        </p:spPr>
        <p:txBody>
          <a:bodyPr wrap="square" lIns="0" rIns="0" tIns="0" bIns="0" anchor="t">
            <a:spAutoFit/>
          </a:bodyPr>
          <a:lstStyle/>
          <a:p>
            <a:pPr algn="l"/>
            <a:r>
              <a:rPr sz="900" b="1" i="0">
                <a:solidFill>
                  <a:srgbClr val="595959"/>
                </a:solidFill>
                <a:latin typeface="Arial"/>
              </a:rPr>
              <a:t>ACCURACY HOLDS</a:t>
            </a:r>
          </a:p>
        </p:txBody>
      </p:sp>
      <p:sp>
        <p:nvSpPr>
          <p:cNvPr id="7" name="SHP card stat 0"/>
          <p:cNvSpPr/>
          <p:nvPr/>
        </p:nvSpPr>
        <p:spPr>
          <a:xfrm>
            <a:off x="310896" y="1801368"/>
            <a:ext cx="2697480" cy="868680"/>
          </a:xfrm>
          <a:prstGeom prst="rect">
            <a:avLst/>
          </a:prstGeom>
          <a:solidFill>
            <a:srgbClr val="EEEEEE"/>
          </a:solidFill>
          <a:ln>
            <a:noFill/>
          </a:ln>
          <a:effectLst/>
        </p:spPr>
        <p:txBody>
          <a:bodyPr rtlCol="0" anchor="ctr"/>
          <a:lstStyle/>
          <a:p/>
        </p:txBody>
      </p:sp>
      <p:sp>
        <p:nvSpPr>
          <p:cNvPr id="8" name="TB card stat 0"/>
          <p:cNvSpPr txBox="1"/>
          <p:nvPr/>
        </p:nvSpPr>
        <p:spPr>
          <a:xfrm>
            <a:off x="448056" y="1801368"/>
            <a:ext cx="2423160" cy="868680"/>
          </a:xfrm>
          <a:prstGeom prst="rect">
            <a:avLst/>
          </a:prstGeom>
          <a:noFill/>
        </p:spPr>
        <p:txBody>
          <a:bodyPr wrap="square" lIns="0" rIns="0" tIns="0" bIns="0" anchor="ctr">
            <a:spAutoFit/>
          </a:bodyPr>
          <a:lstStyle/>
          <a:p>
            <a:pPr algn="ctr"/>
            <a:r>
              <a:rPr sz="2400" b="1" i="0">
                <a:solidFill>
                  <a:srgbClr val="222222"/>
                </a:solidFill>
                <a:latin typeface="Arial"/>
              </a:rPr>
              <a:t>0.725</a:t>
            </a:r>
          </a:p>
          <a:p>
            <a:pPr algn="ctr"/>
            <a:r>
              <a:rPr sz="1100" b="0" i="0">
                <a:solidFill>
                  <a:srgbClr val="595959"/>
                </a:solidFill>
                <a:latin typeface="Arial"/>
              </a:rPr>
              <a:t>weighted F1 (0.727 in training)</a:t>
            </a:r>
          </a:p>
        </p:txBody>
      </p:sp>
      <p:sp>
        <p:nvSpPr>
          <p:cNvPr id="9" name="TB lbl stat 1"/>
          <p:cNvSpPr txBox="1"/>
          <p:nvPr/>
        </p:nvSpPr>
        <p:spPr>
          <a:xfrm>
            <a:off x="3150108" y="1600200"/>
            <a:ext cx="2697480" cy="182880"/>
          </a:xfrm>
          <a:prstGeom prst="rect">
            <a:avLst/>
          </a:prstGeom>
          <a:noFill/>
        </p:spPr>
        <p:txBody>
          <a:bodyPr wrap="square" lIns="0" rIns="0" tIns="0" bIns="0" anchor="t">
            <a:spAutoFit/>
          </a:bodyPr>
          <a:lstStyle/>
          <a:p>
            <a:pPr algn="l"/>
            <a:r>
              <a:rPr sz="900" b="1" i="0">
                <a:solidFill>
                  <a:srgbClr val="595959"/>
                </a:solidFill>
                <a:latin typeface="Arial"/>
              </a:rPr>
              <a:t>WEIGHTS IN GPU MEMORY</a:t>
            </a:r>
          </a:p>
        </p:txBody>
      </p:sp>
      <p:sp>
        <p:nvSpPr>
          <p:cNvPr id="10" name="SHP card stat 1"/>
          <p:cNvSpPr/>
          <p:nvPr/>
        </p:nvSpPr>
        <p:spPr>
          <a:xfrm>
            <a:off x="3150108" y="1801368"/>
            <a:ext cx="2697480" cy="868680"/>
          </a:xfrm>
          <a:prstGeom prst="rect">
            <a:avLst/>
          </a:prstGeom>
          <a:solidFill>
            <a:srgbClr val="EEEEEE"/>
          </a:solidFill>
          <a:ln>
            <a:noFill/>
          </a:ln>
          <a:effectLst/>
        </p:spPr>
        <p:txBody>
          <a:bodyPr rtlCol="0" anchor="ctr"/>
          <a:lstStyle/>
          <a:p/>
        </p:txBody>
      </p:sp>
      <p:sp>
        <p:nvSpPr>
          <p:cNvPr id="11" name="TB card stat 1"/>
          <p:cNvSpPr txBox="1"/>
          <p:nvPr/>
        </p:nvSpPr>
        <p:spPr>
          <a:xfrm>
            <a:off x="3287268" y="1801368"/>
            <a:ext cx="2423160" cy="868680"/>
          </a:xfrm>
          <a:prstGeom prst="rect">
            <a:avLst/>
          </a:prstGeom>
          <a:noFill/>
        </p:spPr>
        <p:txBody>
          <a:bodyPr wrap="square" lIns="0" rIns="0" tIns="0" bIns="0" anchor="ctr">
            <a:spAutoFit/>
          </a:bodyPr>
          <a:lstStyle/>
          <a:p>
            <a:pPr algn="ctr"/>
            <a:r>
              <a:rPr sz="2400" b="1" i="0">
                <a:solidFill>
                  <a:srgbClr val="222222"/>
                </a:solidFill>
                <a:latin typeface="Arial"/>
              </a:rPr>
              <a:t>5.2 GB</a:t>
            </a:r>
          </a:p>
          <a:p>
            <a:pPr algn="ctr"/>
            <a:r>
              <a:rPr sz="1100" b="0" i="0">
                <a:solidFill>
                  <a:srgbClr val="595959"/>
                </a:solidFill>
                <a:latin typeface="Arial"/>
              </a:rPr>
              <a:t>FP8 base + LoRA adapter</a:t>
            </a:r>
          </a:p>
        </p:txBody>
      </p:sp>
      <p:sp>
        <p:nvSpPr>
          <p:cNvPr id="12" name="TB lbl stat 2"/>
          <p:cNvSpPr txBox="1"/>
          <p:nvPr/>
        </p:nvSpPr>
        <p:spPr>
          <a:xfrm>
            <a:off x="5989320" y="1600200"/>
            <a:ext cx="2697480" cy="182880"/>
          </a:xfrm>
          <a:prstGeom prst="rect">
            <a:avLst/>
          </a:prstGeom>
          <a:noFill/>
        </p:spPr>
        <p:txBody>
          <a:bodyPr wrap="square" lIns="0" rIns="0" tIns="0" bIns="0" anchor="t">
            <a:spAutoFit/>
          </a:bodyPr>
          <a:lstStyle/>
          <a:p>
            <a:pPr algn="l"/>
            <a:r>
              <a:rPr sz="900" b="1" i="0">
                <a:solidFill>
                  <a:srgbClr val="595959"/>
                </a:solidFill>
                <a:latin typeface="Arial"/>
              </a:rPr>
              <a:t>THROUGHPUT</a:t>
            </a:r>
          </a:p>
        </p:txBody>
      </p:sp>
      <p:sp>
        <p:nvSpPr>
          <p:cNvPr id="13" name="SHP card stat 2"/>
          <p:cNvSpPr/>
          <p:nvPr/>
        </p:nvSpPr>
        <p:spPr>
          <a:xfrm>
            <a:off x="5989320" y="1801368"/>
            <a:ext cx="2697480" cy="868680"/>
          </a:xfrm>
          <a:prstGeom prst="rect">
            <a:avLst/>
          </a:prstGeom>
          <a:solidFill>
            <a:srgbClr val="EEEEEE"/>
          </a:solidFill>
          <a:ln>
            <a:noFill/>
          </a:ln>
          <a:effectLst/>
        </p:spPr>
        <p:txBody>
          <a:bodyPr rtlCol="0" anchor="ctr"/>
          <a:lstStyle/>
          <a:p/>
        </p:txBody>
      </p:sp>
      <p:sp>
        <p:nvSpPr>
          <p:cNvPr id="14" name="TB card stat 2"/>
          <p:cNvSpPr txBox="1"/>
          <p:nvPr/>
        </p:nvSpPr>
        <p:spPr>
          <a:xfrm>
            <a:off x="6126480" y="1801368"/>
            <a:ext cx="2423160" cy="868680"/>
          </a:xfrm>
          <a:prstGeom prst="rect">
            <a:avLst/>
          </a:prstGeom>
          <a:noFill/>
        </p:spPr>
        <p:txBody>
          <a:bodyPr wrap="square" lIns="0" rIns="0" tIns="0" bIns="0" anchor="ctr">
            <a:spAutoFit/>
          </a:bodyPr>
          <a:lstStyle/>
          <a:p>
            <a:pPr algn="ctr"/>
            <a:r>
              <a:rPr sz="2400" b="1" i="0">
                <a:solidFill>
                  <a:srgbClr val="222222"/>
                </a:solidFill>
                <a:latin typeface="Arial"/>
              </a:rPr>
              <a:t>~100</a:t>
            </a:r>
          </a:p>
          <a:p>
            <a:pPr algn="ctr"/>
            <a:r>
              <a:rPr sz="1100" b="0" i="0">
                <a:solidFill>
                  <a:srgbClr val="595959"/>
                </a:solidFill>
                <a:latin typeface="Arial"/>
              </a:rPr>
              <a:t>sentences per second</a:t>
            </a:r>
          </a:p>
        </p:txBody>
      </p:sp>
      <p:sp>
        <p:nvSpPr>
          <p:cNvPr id="15" name="BG accent bar 0"/>
          <p:cNvSpPr/>
          <p:nvPr/>
        </p:nvSpPr>
        <p:spPr>
          <a:xfrm>
            <a:off x="310896" y="3017520"/>
            <a:ext cx="73152" cy="384048"/>
          </a:xfrm>
          <a:prstGeom prst="rect">
            <a:avLst/>
          </a:prstGeom>
          <a:solidFill>
            <a:srgbClr val="4285F4"/>
          </a:solidFill>
          <a:ln>
            <a:noFill/>
          </a:ln>
          <a:effectLst/>
        </p:spPr>
        <p:txBody>
          <a:bodyPr rtlCol="0" anchor="ctr"/>
          <a:lstStyle/>
          <a:p/>
        </p:txBody>
      </p:sp>
      <p:sp>
        <p:nvSpPr>
          <p:cNvPr id="16" name="TB block desc 0"/>
          <p:cNvSpPr txBox="1"/>
          <p:nvPr/>
        </p:nvSpPr>
        <p:spPr>
          <a:xfrm>
            <a:off x="539496" y="3017520"/>
            <a:ext cx="8229600" cy="384048"/>
          </a:xfrm>
          <a:prstGeom prst="rect">
            <a:avLst/>
          </a:prstGeom>
          <a:noFill/>
        </p:spPr>
        <p:txBody>
          <a:bodyPr wrap="square" lIns="0" rIns="0" tIns="0" bIns="0" anchor="ctr">
            <a:spAutoFit/>
          </a:bodyPr>
          <a:lstStyle/>
          <a:p>
            <a:pPr algn="l"/>
            <a:r>
              <a:rPr sz="1300" b="1" i="0">
                <a:solidFill>
                  <a:srgbClr val="222222"/>
                </a:solidFill>
                <a:latin typeface="Arial"/>
              </a:rPr>
              <a:t>Flyte's vLLM plugin</a:t>
            </a:r>
            <a:r>
              <a:rPr sz="1300" b="0" i="0">
                <a:solidFill>
                  <a:srgbClr val="595959"/>
                </a:solidFill>
                <a:latin typeface="Arial"/>
              </a:rPr>
              <a:t> deploys the model as a service from the same project.</a:t>
            </a:r>
          </a:p>
        </p:txBody>
      </p:sp>
      <p:sp>
        <p:nvSpPr>
          <p:cNvPr id="17" name="BG accent bar 1"/>
          <p:cNvSpPr/>
          <p:nvPr/>
        </p:nvSpPr>
        <p:spPr>
          <a:xfrm>
            <a:off x="310896" y="3547872"/>
            <a:ext cx="73152" cy="384048"/>
          </a:xfrm>
          <a:prstGeom prst="rect">
            <a:avLst/>
          </a:prstGeom>
          <a:solidFill>
            <a:srgbClr val="0097A7"/>
          </a:solidFill>
          <a:ln>
            <a:noFill/>
          </a:ln>
          <a:effectLst/>
        </p:spPr>
        <p:txBody>
          <a:bodyPr rtlCol="0" anchor="ctr"/>
          <a:lstStyle/>
          <a:p/>
        </p:txBody>
      </p:sp>
      <p:sp>
        <p:nvSpPr>
          <p:cNvPr id="18" name="TB block desc 1"/>
          <p:cNvSpPr txBox="1"/>
          <p:nvPr/>
        </p:nvSpPr>
        <p:spPr>
          <a:xfrm>
            <a:off x="539496" y="3547872"/>
            <a:ext cx="8229600" cy="384048"/>
          </a:xfrm>
          <a:prstGeom prst="rect">
            <a:avLst/>
          </a:prstGeom>
          <a:noFill/>
        </p:spPr>
        <p:txBody>
          <a:bodyPr wrap="square" lIns="0" rIns="0" tIns="0" bIns="0" anchor="ctr">
            <a:spAutoFit/>
          </a:bodyPr>
          <a:lstStyle/>
          <a:p>
            <a:pPr algn="l"/>
            <a:r>
              <a:rPr sz="1300" b="1" i="0">
                <a:solidFill>
                  <a:srgbClr val="222222"/>
                </a:solidFill>
                <a:latin typeface="Arial"/>
              </a:rPr>
              <a:t>OpenAI-compatible API</a:t>
            </a:r>
            <a:r>
              <a:rPr sz="1300" b="0" i="0">
                <a:solidFill>
                  <a:srgbClr val="595959"/>
                </a:solidFill>
                <a:latin typeface="Arial"/>
              </a:rPr>
              <a:t>: existing clients work unchanged.</a:t>
            </a:r>
          </a:p>
        </p:txBody>
      </p:sp>
      <p:sp>
        <p:nvSpPr>
          <p:cNvPr id="19" name="BG accent bar 2"/>
          <p:cNvSpPr/>
          <p:nvPr/>
        </p:nvSpPr>
        <p:spPr>
          <a:xfrm>
            <a:off x="310896" y="4078224"/>
            <a:ext cx="73152" cy="384048"/>
          </a:xfrm>
          <a:prstGeom prst="rect">
            <a:avLst/>
          </a:prstGeom>
          <a:solidFill>
            <a:srgbClr val="FFAB40"/>
          </a:solidFill>
          <a:ln>
            <a:noFill/>
          </a:ln>
          <a:effectLst/>
        </p:spPr>
        <p:txBody>
          <a:bodyPr rtlCol="0" anchor="ctr"/>
          <a:lstStyle/>
          <a:p/>
        </p:txBody>
      </p:sp>
      <p:sp>
        <p:nvSpPr>
          <p:cNvPr id="20" name="TB block desc 2"/>
          <p:cNvSpPr txBox="1"/>
          <p:nvPr/>
        </p:nvSpPr>
        <p:spPr>
          <a:xfrm>
            <a:off x="539496" y="4078224"/>
            <a:ext cx="8229600" cy="384048"/>
          </a:xfrm>
          <a:prstGeom prst="rect">
            <a:avLst/>
          </a:prstGeom>
          <a:noFill/>
        </p:spPr>
        <p:txBody>
          <a:bodyPr wrap="square" lIns="0" rIns="0" tIns="0" bIns="0" anchor="ctr">
            <a:spAutoFit/>
          </a:bodyPr>
          <a:lstStyle/>
          <a:p>
            <a:pPr algn="l"/>
            <a:r>
              <a:rPr sz="1300" b="1" i="0">
                <a:solidFill>
                  <a:srgbClr val="222222"/>
                </a:solidFill>
                <a:latin typeface="Arial"/>
              </a:rPr>
              <a:t>Multi-LoRA</a:t>
            </a:r>
            <a:r>
              <a:rPr sz="1300" b="0" i="0">
                <a:solidFill>
                  <a:srgbClr val="595959"/>
                </a:solidFill>
                <a:latin typeface="Arial"/>
              </a:rPr>
              <a:t>: several adapters share one base; the adapter is picked per request.</a:t>
            </a:r>
          </a:p>
        </p:txBody>
      </p:sp>
      <p:sp>
        <p:nvSpPr>
          <p:cNvPr id="21" name="TB source"/>
          <p:cNvSpPr txBox="1"/>
          <p:nvPr/>
        </p:nvSpPr>
        <p:spPr>
          <a:xfrm>
            <a:off x="73152" y="4892040"/>
            <a:ext cx="8229600" cy="201168"/>
          </a:xfrm>
          <a:prstGeom prst="rect">
            <a:avLst/>
          </a:prstGeom>
          <a:noFill/>
        </p:spPr>
        <p:txBody>
          <a:bodyPr wrap="square" lIns="0" rIns="0" tIns="0" bIns="0" anchor="t">
            <a:spAutoFit/>
          </a:bodyPr>
          <a:lstStyle/>
          <a:p>
            <a:pPr algn="l"/>
            <a:r>
              <a:rPr sz="900" b="0" i="0">
                <a:solidFill>
                  <a:srgbClr val="595959"/>
                </a:solidFill>
                <a:latin typeface="Arial"/>
              </a:rPr>
              <a:t>vLLM on an RTX PRO 5000 Blackwell laptop GPU, 496 test sentences, 3 seeds. Base: nvidia/NVIDIA-Nemotron-3-Nano-4B-FP8. </a:t>
            </a:r>
            <a:r>
              <a:rPr sz="900" b="0" i="0" u="sng">
                <a:solidFill>
                  <a:srgbClr val="595959"/>
                </a:solidFill>
                <a:latin typeface="Arial"/>
                <a:hlinkClick r:id="rId2"/>
              </a:rPr>
              <a:t>vLLM</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B section title"/>
          <p:cNvSpPr txBox="1"/>
          <p:nvPr/>
        </p:nvSpPr>
        <p:spPr>
          <a:xfrm>
            <a:off x="457200" y="2194560"/>
            <a:ext cx="8229600" cy="1097280"/>
          </a:xfrm>
          <a:prstGeom prst="rect">
            <a:avLst/>
          </a:prstGeom>
          <a:noFill/>
        </p:spPr>
        <p:txBody>
          <a:bodyPr wrap="none" lIns="0">
            <a:spAutoFit/>
          </a:bodyPr>
          <a:lstStyle/>
          <a:p>
            <a:r>
              <a:rPr sz="3200" b="1">
                <a:solidFill>
                  <a:srgbClr val="222222"/>
                </a:solidFill>
                <a:latin typeface="Arial"/>
              </a:rPr>
              <a:t>Appendix</a:t>
            </a:r>
          </a:p>
        </p:txBody>
      </p:sp>
      <p:sp>
        <p:nvSpPr>
          <p:cNvPr id="3" name="BG rule"/>
          <p:cNvSpPr/>
          <p:nvPr/>
        </p:nvSpPr>
        <p:spPr>
          <a:xfrm>
            <a:off x="457200" y="3383280"/>
            <a:ext cx="1097280" cy="36576"/>
          </a:xfrm>
          <a:prstGeom prst="rect">
            <a:avLst/>
          </a:prstGeom>
          <a:solidFill>
            <a:srgbClr val="428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B section subtitle"/>
          <p:cNvSpPr txBox="1"/>
          <p:nvPr/>
        </p:nvSpPr>
        <p:spPr>
          <a:xfrm>
            <a:off x="457200" y="3520440"/>
            <a:ext cx="8229600" cy="365760"/>
          </a:xfrm>
          <a:prstGeom prst="rect">
            <a:avLst/>
          </a:prstGeom>
          <a:noFill/>
        </p:spPr>
        <p:txBody>
          <a:bodyPr wrap="none" lIns="0">
            <a:spAutoFit/>
          </a:bodyPr>
          <a:lstStyle/>
          <a:p>
            <a:r>
              <a:rPr sz="1500" i="1">
                <a:solidFill>
                  <a:srgbClr val="595959"/>
                </a:solidFill>
                <a:latin typeface="Arial"/>
              </a:rPr>
              <a:t>Anticipated questions, depth material, precision + memory accounting.</a:t>
            </a:r>
          </a:p>
        </p:txBody>
      </p:sp>
      <p:sp>
        <p:nvSpPr>
          <p:cNvPr id="5" name="PageNum 37"/>
          <p:cNvSpPr txBox="1"/>
          <p:nvPr/>
        </p:nvSpPr>
        <p:spPr>
          <a:xfrm>
            <a:off x="8595360" y="4892040"/>
            <a:ext cx="457200" cy="201168"/>
          </a:xfrm>
          <a:prstGeom prst="rect">
            <a:avLst/>
          </a:prstGeom>
          <a:noFill/>
        </p:spPr>
        <p:txBody>
          <a:bodyPr wrap="none">
            <a:spAutoFit/>
          </a:bodyPr>
          <a:lstStyle/>
          <a:p>
            <a:pPr algn="r"/>
            <a:r>
              <a:rPr sz="900">
                <a:solidFill>
                  <a:srgbClr val="595959"/>
                </a:solidFill>
                <a:latin typeface="Arial"/>
              </a:rPr>
              <a:t>32</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2" name="Google Shape;372;p69"/>
          <p:cNvSpPr txBox="1">
            <a:spLocks noGrp="1"/>
          </p:cNvSpPr>
          <p:nvPr>
            <p:ph type="body" idx="1"/>
          </p:nvPr>
        </p:nvSpPr>
        <p:spPr>
          <a:xfrm>
            <a:off x="311700" y="1152475"/>
            <a:ext cx="8212200" cy="8451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0"/>
              </a:spcAft>
              <a:buNone/>
            </a:pPr>
            <a:r>
              <a:rPr lang="en">
                <a:solidFill>
                  <a:srgbClr val="222222"/>
                </a:solidFill>
              </a:rPr>
              <a:t>What is the optimal rank for the factorized matrices? I was wondering to know if you have findings on choosing the optimal rank in the experiment.</a:t>
            </a:r>
            <a:endParaRPr/>
          </a:p>
        </p:txBody>
      </p:sp>
      <p:pic>
        <p:nvPicPr>
          <p:cNvPr id="373" name="Google Shape;373;p69"/>
          <p:cNvPicPr preferRelativeResize="0"/>
          <p:nvPr/>
        </p:nvPicPr>
        <p:blipFill>
          <a:blip r:embed="rId3">
            <a:alphaModFix/>
          </a:blip>
          <a:stretch>
            <a:fillRect/>
          </a:stretch>
        </p:blipFill>
        <p:spPr>
          <a:xfrm>
            <a:off x="188413" y="1997576"/>
            <a:ext cx="8767174" cy="3022349"/>
          </a:xfrm>
          <a:prstGeom prst="rect">
            <a:avLst/>
          </a:prstGeom>
          <a:noFill/>
          <a:ln>
            <a:noFill/>
          </a:ln>
        </p:spPr>
      </p:pic>
      <p:sp>
        <p:nvSpPr>
          <p:cNvPr id="374" name="TB title"/>
          <p:cNvSpPr txBox="1"/>
          <p:nvPr/>
        </p:nvSpPr>
        <p:spPr>
          <a:xfrm>
            <a:off x="310896" y="320040"/>
            <a:ext cx="8522208" cy="731520"/>
          </a:xfrm>
          <a:prstGeom prst="rect">
            <a:avLst/>
          </a:prstGeom>
          <a:noFill/>
        </p:spPr>
        <p:txBody>
          <a:bodyPr wrap="square" lIns="0" tIns="0" rIns="0" bIns="0">
            <a:spAutoFit/>
          </a:bodyPr>
          <a:lstStyle/>
          <a:p>
            <a:r>
              <a:rPr sz="2200" b="1" i="0">
                <a:solidFill>
                  <a:srgbClr val="222222"/>
                </a:solidFill>
                <a:latin typeface="Arial"/>
              </a:rPr>
              <a:t>Q: How do you pick the rank r in practice?</a:t>
            </a:r>
          </a:p>
        </p:txBody>
      </p:sp>
      <p:sp>
        <p:nvSpPr>
          <p:cNvPr id="375" name="BG title rule"/>
          <p:cNvSpPr/>
          <p:nvPr/>
        </p:nvSpPr>
        <p:spPr>
          <a:xfrm>
            <a:off x="310896" y="1060704"/>
            <a:ext cx="548640" cy="27432"/>
          </a:xfrm>
          <a:prstGeom prst="rect">
            <a:avLst/>
          </a:prstGeom>
          <a:solidFill>
            <a:srgbClr val="428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6" name="PageNum 41"/>
          <p:cNvSpPr txBox="1"/>
          <p:nvPr/>
        </p:nvSpPr>
        <p:spPr>
          <a:xfrm>
            <a:off x="8595360" y="4892040"/>
            <a:ext cx="457200" cy="201168"/>
          </a:xfrm>
          <a:prstGeom prst="rect">
            <a:avLst/>
          </a:prstGeom>
          <a:noFill/>
        </p:spPr>
        <p:txBody>
          <a:bodyPr wrap="square" lIns="0" tIns="0" rIns="0" bIns="0">
            <a:spAutoFit/>
          </a:bodyPr>
          <a:lstStyle/>
          <a:p>
            <a:pPr algn="r"/>
            <a:r>
              <a:rPr sz="900">
                <a:solidFill>
                  <a:srgbClr val="595959"/>
                </a:solidFill>
                <a:latin typeface="Arial"/>
              </a:rPr>
              <a:t>33</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4" name="Google Shape;464;p82"/>
          <p:cNvSpPr txBox="1">
            <a:spLocks noGrp="1"/>
          </p:cNvSpPr>
          <p:nvPr>
            <p:ph type="body" idx="1"/>
          </p:nvPr>
        </p:nvSpPr>
        <p:spPr>
          <a:xfrm>
            <a:off x="311700" y="1335355"/>
            <a:ext cx="8520600" cy="34164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0"/>
              </a:spcAft>
              <a:buNone/>
            </a:pPr>
            <a:r>
              <a:rPr lang="en">
                <a:solidFill>
                  <a:srgbClr val="222222"/>
                </a:solidFill>
              </a:rPr>
              <a:t>What does VRAM stand for? If it is GPU memory, then the 2/3 saving of training memory is quite surprising to me:LoRA still needs to build the forward and backward computation graphs for the whole model. Could the authors clarify?</a:t>
            </a:r>
            <a:endParaRPr/>
          </a:p>
          <a:p>
            <a:pPr marL="0" lvl="0" indent="0" algn="l" rtl="0">
              <a:lnSpc>
                <a:spcPct val="115000"/>
              </a:lnSpc>
              <a:spcBef>
                <a:spcPts val="0"/>
              </a:spcBef>
              <a:spcAft>
                <a:spcPts val="0"/>
              </a:spcAft>
              <a:buNone/>
            </a:pPr>
            <a:endParaRPr/>
          </a:p>
          <a:p>
            <a:pPr marL="457200" lvl="0" indent="-342900" algn="l" rtl="0">
              <a:lnSpc>
                <a:spcPct val="115000"/>
              </a:lnSpc>
              <a:spcBef>
                <a:spcPts val="0"/>
              </a:spcBef>
              <a:spcAft>
                <a:spcPts val="0"/>
              </a:spcAft>
              <a:buSzPts val="1800"/>
              <a:buChar char="●"/>
            </a:pPr>
            <a:r>
              <a:rPr lang="en">
                <a:solidFill>
                  <a:srgbClr val="222222"/>
                </a:solidFill>
              </a:rPr>
              <a:t>“VRAM” refers to “Video RAM” or “GPU memory.”</a:t>
            </a:r>
            <a:endParaRPr/>
          </a:p>
          <a:p>
            <a:pPr marL="457200" lvl="0" indent="-342900" algn="l" rtl="0">
              <a:lnSpc>
                <a:spcPct val="115000"/>
              </a:lnSpc>
              <a:spcBef>
                <a:spcPts val="0"/>
              </a:spcBef>
              <a:spcAft>
                <a:spcPts val="0"/>
              </a:spcAft>
              <a:buSzPts val="1800"/>
              <a:buChar char="●"/>
            </a:pPr>
            <a:r>
              <a:rPr lang="en">
                <a:solidFill>
                  <a:srgbClr val="222222"/>
                </a:solidFill>
              </a:rPr>
              <a:t>We do not need to store the adaptive optimizer states (e.g., momentum and second order moment for Adam) for the pretrained parameters</a:t>
            </a:r>
            <a:endParaRPr/>
          </a:p>
          <a:p>
            <a:pPr marL="457200" lvl="0" indent="-342900" algn="l" rtl="0">
              <a:lnSpc>
                <a:spcPct val="115000"/>
              </a:lnSpc>
              <a:spcBef>
                <a:spcPts val="0"/>
              </a:spcBef>
              <a:spcAft>
                <a:spcPts val="0"/>
              </a:spcAft>
              <a:buSzPts val="1800"/>
              <a:buChar char="●"/>
            </a:pPr>
            <a:r>
              <a:rPr lang="en">
                <a:solidFill>
                  <a:srgbClr val="222222"/>
                </a:solidFill>
              </a:rPr>
              <a:t>For smaller models where VRAM is dominated by activations, the savings will be less</a:t>
            </a:r>
            <a:endParaRPr/>
          </a:p>
          <a:p>
            <a:pPr marL="0" lvl="0" indent="0" algn="l" rtl="0">
              <a:lnSpc>
                <a:spcPct val="115000"/>
              </a:lnSpc>
              <a:spcBef>
                <a:spcPts val="0"/>
              </a:spcBef>
              <a:spcAft>
                <a:spcPts val="0"/>
              </a:spcAft>
              <a:buNone/>
            </a:pPr>
            <a:endParaRPr/>
          </a:p>
        </p:txBody>
      </p:sp>
      <p:sp>
        <p:nvSpPr>
          <p:cNvPr id="465" name="TB title"/>
          <p:cNvSpPr txBox="1"/>
          <p:nvPr/>
        </p:nvSpPr>
        <p:spPr>
          <a:xfrm>
            <a:off x="310896" y="320040"/>
            <a:ext cx="8522208" cy="731520"/>
          </a:xfrm>
          <a:prstGeom prst="rect">
            <a:avLst/>
          </a:prstGeom>
          <a:noFill/>
        </p:spPr>
        <p:txBody>
          <a:bodyPr wrap="square" lIns="0" tIns="0" rIns="0" bIns="0">
            <a:spAutoFit/>
          </a:bodyPr>
          <a:lstStyle/>
          <a:p>
            <a:r>
              <a:rPr sz="2200" b="1" i="0">
                <a:solidFill>
                  <a:srgbClr val="222222"/>
                </a:solidFill>
                <a:latin typeface="Arial"/>
              </a:rPr>
              <a:t>Q: The VRAM savings claim looks too good. Where does it come from?</a:t>
            </a:r>
          </a:p>
        </p:txBody>
      </p:sp>
      <p:sp>
        <p:nvSpPr>
          <p:cNvPr id="466" name="BG title rule"/>
          <p:cNvSpPr/>
          <p:nvPr/>
        </p:nvSpPr>
        <p:spPr>
          <a:xfrm>
            <a:off x="310896" y="1060704"/>
            <a:ext cx="548640" cy="27432"/>
          </a:xfrm>
          <a:prstGeom prst="rect">
            <a:avLst/>
          </a:prstGeom>
          <a:solidFill>
            <a:srgbClr val="428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7" name="PageNum 42"/>
          <p:cNvSpPr txBox="1"/>
          <p:nvPr/>
        </p:nvSpPr>
        <p:spPr>
          <a:xfrm>
            <a:off x="8595360" y="4892040"/>
            <a:ext cx="457200" cy="201168"/>
          </a:xfrm>
          <a:prstGeom prst="rect">
            <a:avLst/>
          </a:prstGeom>
          <a:noFill/>
        </p:spPr>
        <p:txBody>
          <a:bodyPr wrap="square" lIns="0" tIns="0" rIns="0" bIns="0">
            <a:spAutoFit/>
          </a:bodyPr>
          <a:lstStyle/>
          <a:p>
            <a:pPr algn="r"/>
            <a:r>
              <a:rPr sz="900">
                <a:solidFill>
                  <a:srgbClr val="595959"/>
                </a:solidFill>
                <a:latin typeface="Arial"/>
              </a:rPr>
              <a:t>34</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8" name="Google Shape;498;p84"/>
          <p:cNvSpPr txBox="1">
            <a:spLocks noGrp="1"/>
          </p:cNvSpPr>
          <p:nvPr>
            <p:ph type="body" idx="1"/>
          </p:nvPr>
        </p:nvSpPr>
        <p:spPr>
          <a:xfrm>
            <a:off x="311700" y="1463280"/>
            <a:ext cx="8520600" cy="34164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0"/>
              </a:spcAft>
              <a:buNone/>
            </a:pPr>
            <a:r>
              <a:rPr lang="en">
                <a:solidFill>
                  <a:srgbClr val="222222"/>
                </a:solidFill>
              </a:rPr>
              <a:t>Can the structure of NF4 data type be directly plugged into 8-bit and higher precision data-types for improved performance, if yes is there any experiment to show the prowess of the NFX data types?</a:t>
            </a:r>
            <a:endParaRPr/>
          </a:p>
          <a:p>
            <a:pPr marL="0" lvl="0" indent="0" algn="l" rtl="0">
              <a:lnSpc>
                <a:spcPct val="115000"/>
              </a:lnSpc>
              <a:spcBef>
                <a:spcPts val="0"/>
              </a:spcBef>
              <a:spcAft>
                <a:spcPts val="0"/>
              </a:spcAft>
              <a:buNone/>
            </a:pPr>
            <a:endParaRPr/>
          </a:p>
          <a:p>
            <a:pPr marL="457200" lvl="0" indent="-342900" algn="l" rtl="0">
              <a:lnSpc>
                <a:spcPct val="115000"/>
              </a:lnSpc>
              <a:spcBef>
                <a:spcPts val="0"/>
              </a:spcBef>
              <a:spcAft>
                <a:spcPts val="0"/>
              </a:spcAft>
              <a:buSzPts val="1800"/>
              <a:buChar char="●"/>
            </a:pPr>
            <a:r>
              <a:rPr lang="en">
                <a:solidFill>
                  <a:srgbClr val="222222"/>
                </a:solidFill>
              </a:rPr>
              <a:t>NormalFloats can easily be defined for any bit-width.</a:t>
            </a:r>
            <a:endParaRPr/>
          </a:p>
          <a:p>
            <a:pPr marL="457200" lvl="0" indent="-342900" algn="l" rtl="0">
              <a:lnSpc>
                <a:spcPct val="115000"/>
              </a:lnSpc>
              <a:spcBef>
                <a:spcPts val="0"/>
              </a:spcBef>
              <a:spcAft>
                <a:spcPts val="0"/>
              </a:spcAft>
              <a:buSzPts val="1800"/>
              <a:buChar char="●"/>
            </a:pPr>
            <a:r>
              <a:rPr lang="en">
                <a:solidFill>
                  <a:srgbClr val="222222"/>
                </a:solidFill>
              </a:rPr>
              <a:t>NF3 &gt; FP3, but not stable</a:t>
            </a:r>
            <a:endParaRPr/>
          </a:p>
          <a:p>
            <a:pPr marL="0" lvl="0" indent="0" algn="l" rtl="0">
              <a:lnSpc>
                <a:spcPct val="115000"/>
              </a:lnSpc>
              <a:spcBef>
                <a:spcPts val="0"/>
              </a:spcBef>
              <a:spcAft>
                <a:spcPts val="0"/>
              </a:spcAft>
              <a:buNone/>
            </a:pPr>
            <a:endParaRPr/>
          </a:p>
        </p:txBody>
      </p:sp>
      <p:sp>
        <p:nvSpPr>
          <p:cNvPr id="499" name="TB title"/>
          <p:cNvSpPr txBox="1"/>
          <p:nvPr/>
        </p:nvSpPr>
        <p:spPr>
          <a:xfrm>
            <a:off x="310896" y="320040"/>
            <a:ext cx="8522208" cy="731520"/>
          </a:xfrm>
          <a:prstGeom prst="rect">
            <a:avLst/>
          </a:prstGeom>
          <a:noFill/>
        </p:spPr>
        <p:txBody>
          <a:bodyPr wrap="square" lIns="0" tIns="0" rIns="0" bIns="0">
            <a:spAutoFit/>
          </a:bodyPr>
          <a:lstStyle/>
          <a:p>
            <a:r>
              <a:rPr sz="2200" b="1" i="0">
                <a:solidFill>
                  <a:srgbClr val="222222"/>
                </a:solidFill>
                <a:latin typeface="Arial"/>
              </a:rPr>
              <a:t>Q: Does NF4 generalize to other bit-widths?</a:t>
            </a:r>
          </a:p>
        </p:txBody>
      </p:sp>
      <p:sp>
        <p:nvSpPr>
          <p:cNvPr id="500" name="BG title rule"/>
          <p:cNvSpPr/>
          <p:nvPr/>
        </p:nvSpPr>
        <p:spPr>
          <a:xfrm>
            <a:off x="310896" y="1060704"/>
            <a:ext cx="548640" cy="27432"/>
          </a:xfrm>
          <a:prstGeom prst="rect">
            <a:avLst/>
          </a:prstGeom>
          <a:solidFill>
            <a:srgbClr val="428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1" name="PageNum 45"/>
          <p:cNvSpPr txBox="1"/>
          <p:nvPr/>
        </p:nvSpPr>
        <p:spPr>
          <a:xfrm>
            <a:off x="8595360" y="4892040"/>
            <a:ext cx="457200" cy="201168"/>
          </a:xfrm>
          <a:prstGeom prst="rect">
            <a:avLst/>
          </a:prstGeom>
          <a:noFill/>
        </p:spPr>
        <p:txBody>
          <a:bodyPr wrap="square" lIns="0" tIns="0" rIns="0" bIns="0">
            <a:spAutoFit/>
          </a:bodyPr>
          <a:lstStyle/>
          <a:p>
            <a:pPr algn="r"/>
            <a:r>
              <a:rPr sz="900">
                <a:solidFill>
                  <a:srgbClr val="595959"/>
                </a:solidFill>
                <a:latin typeface="Arial"/>
              </a:rPr>
              <a:t>35</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B title"/>
          <p:cNvSpPr txBox="1"/>
          <p:nvPr/>
        </p:nvSpPr>
        <p:spPr>
          <a:xfrm>
            <a:off x="310896" y="448056"/>
            <a:ext cx="8522208" cy="576072"/>
          </a:xfrm>
          <a:prstGeom prst="rect">
            <a:avLst/>
          </a:prstGeom>
          <a:noFill/>
        </p:spPr>
        <p:txBody>
          <a:bodyPr wrap="square" lIns="0" tIns="0" rIns="0" bIns="0" anchor="t">
            <a:spAutoFit/>
          </a:bodyPr>
          <a:lstStyle/>
          <a:p>
            <a:pPr algn="l"/>
            <a:r>
              <a:rPr sz="2600" b="1" i="0">
                <a:solidFill>
                  <a:srgbClr val="222222"/>
                </a:solidFill>
                <a:latin typeface="Arial"/>
              </a:rPr>
              <a:t>Evidence: LoRA matches full FT on GPT-3 175B</a:t>
            </a:r>
          </a:p>
        </p:txBody>
      </p:sp>
      <p:sp>
        <p:nvSpPr>
          <p:cNvPr id="3" name="BG title rule"/>
          <p:cNvSpPr/>
          <p:nvPr/>
        </p:nvSpPr>
        <p:spPr>
          <a:xfrm>
            <a:off x="310896" y="1033271"/>
            <a:ext cx="548640" cy="27432"/>
          </a:xfrm>
          <a:prstGeom prst="rect">
            <a:avLst/>
          </a:prstGeom>
          <a:solidFill>
            <a:srgbClr val="428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B takeaway"/>
          <p:cNvSpPr txBox="1"/>
          <p:nvPr/>
        </p:nvSpPr>
        <p:spPr>
          <a:xfrm>
            <a:off x="310896" y="1143000"/>
            <a:ext cx="8522208" cy="365760"/>
          </a:xfrm>
          <a:prstGeom prst="rect">
            <a:avLst/>
          </a:prstGeom>
          <a:noFill/>
        </p:spPr>
        <p:txBody>
          <a:bodyPr wrap="square" lIns="0" tIns="0" rIns="0" bIns="0" anchor="t">
            <a:spAutoFit/>
          </a:bodyPr>
          <a:lstStyle/>
          <a:p>
            <a:pPr algn="l"/>
            <a:r>
              <a:rPr sz="1400" b="0" i="1">
                <a:solidFill>
                  <a:srgbClr val="4285F4"/>
                </a:solidFill>
                <a:latin typeface="Arial"/>
              </a:rPr>
              <a:t>~4.7M trainable params reaching or exceeding full 175B fine-tune performance.</a:t>
            </a:r>
          </a:p>
        </p:txBody>
      </p:sp>
      <p:pic>
        <p:nvPicPr>
          <p:cNvPr id="5" name="PIC hu table4" descr="LoRA_slide17_pic02.png"/>
          <p:cNvPicPr>
            <a:picLocks noChangeAspect="1"/>
          </p:cNvPicPr>
          <p:nvPr/>
        </p:nvPicPr>
        <p:blipFill>
          <a:blip r:embed="rId3"/>
          <a:stretch>
            <a:fillRect/>
          </a:stretch>
        </p:blipFill>
        <p:spPr>
          <a:xfrm>
            <a:off x="310896" y="1691640"/>
            <a:ext cx="4297680" cy="1754326"/>
          </a:xfrm>
          <a:prstGeom prst="rect">
            <a:avLst/>
          </a:prstGeom>
        </p:spPr>
      </p:pic>
      <p:sp>
        <p:nvSpPr>
          <p:cNvPr id="6" name="TB table4 cap"/>
          <p:cNvSpPr txBox="1"/>
          <p:nvPr/>
        </p:nvSpPr>
        <p:spPr>
          <a:xfrm>
            <a:off x="310896" y="3612946"/>
            <a:ext cx="4297680" cy="274320"/>
          </a:xfrm>
          <a:prstGeom prst="rect">
            <a:avLst/>
          </a:prstGeom>
          <a:noFill/>
        </p:spPr>
        <p:txBody>
          <a:bodyPr wrap="square" lIns="0" tIns="0" rIns="0" bIns="0" anchor="t">
            <a:spAutoFit/>
          </a:bodyPr>
          <a:lstStyle/>
          <a:p>
            <a:pPr algn="ctr"/>
            <a:r>
              <a:rPr sz="1000" i="1" dirty="0" err="1">
                <a:solidFill>
                  <a:srgbClr val="595959"/>
                </a:solidFill>
                <a:latin typeface="Arial"/>
              </a:rPr>
              <a:t>LoRA</a:t>
            </a:r>
            <a:r>
              <a:rPr sz="1000" i="1" dirty="0">
                <a:solidFill>
                  <a:srgbClr val="595959"/>
                </a:solidFill>
                <a:latin typeface="Arial"/>
              </a:rPr>
              <a:t> matches or exceeds full FT across </a:t>
            </a:r>
            <a:r>
              <a:rPr sz="1000" i="1" dirty="0" err="1">
                <a:solidFill>
                  <a:srgbClr val="595959"/>
                </a:solidFill>
                <a:latin typeface="Arial"/>
              </a:rPr>
              <a:t>WikiSQL</a:t>
            </a:r>
            <a:r>
              <a:rPr sz="1000" i="1" dirty="0">
                <a:solidFill>
                  <a:srgbClr val="595959"/>
                </a:solidFill>
                <a:latin typeface="Arial"/>
              </a:rPr>
              <a:t>, MNLI, </a:t>
            </a:r>
            <a:r>
              <a:rPr sz="1000" i="1" dirty="0" err="1">
                <a:solidFill>
                  <a:srgbClr val="595959"/>
                </a:solidFill>
                <a:latin typeface="Arial"/>
              </a:rPr>
              <a:t>SAMSum</a:t>
            </a:r>
            <a:r>
              <a:rPr sz="1000" i="1" dirty="0">
                <a:solidFill>
                  <a:srgbClr val="595959"/>
                </a:solidFill>
                <a:latin typeface="Arial"/>
              </a:rPr>
              <a:t>.</a:t>
            </a:r>
          </a:p>
        </p:txBody>
      </p:sp>
      <p:pic>
        <p:nvPicPr>
          <p:cNvPr id="7" name="PIC hu fig2" descr="LoRA_slide18_pic02.png"/>
          <p:cNvPicPr>
            <a:picLocks noChangeAspect="1"/>
          </p:cNvPicPr>
          <p:nvPr/>
        </p:nvPicPr>
        <p:blipFill>
          <a:blip r:embed="rId4"/>
          <a:stretch>
            <a:fillRect/>
          </a:stretch>
        </p:blipFill>
        <p:spPr>
          <a:xfrm>
            <a:off x="4709160" y="1883170"/>
            <a:ext cx="4160520" cy="1371265"/>
          </a:xfrm>
          <a:prstGeom prst="rect">
            <a:avLst/>
          </a:prstGeom>
        </p:spPr>
      </p:pic>
      <p:sp>
        <p:nvSpPr>
          <p:cNvPr id="8" name="TB fig2 cap"/>
          <p:cNvSpPr txBox="1"/>
          <p:nvPr/>
        </p:nvSpPr>
        <p:spPr>
          <a:xfrm>
            <a:off x="4709160" y="3612946"/>
            <a:ext cx="4160520" cy="274320"/>
          </a:xfrm>
          <a:prstGeom prst="rect">
            <a:avLst/>
          </a:prstGeom>
          <a:noFill/>
        </p:spPr>
        <p:txBody>
          <a:bodyPr wrap="square" lIns="0" tIns="0" rIns="0" bIns="0" anchor="t">
            <a:spAutoFit/>
          </a:bodyPr>
          <a:lstStyle/>
          <a:p>
            <a:pPr algn="ctr"/>
            <a:r>
              <a:rPr sz="1000" i="1">
                <a:solidFill>
                  <a:srgbClr val="595959"/>
                </a:solidFill>
                <a:latin typeface="Arial"/>
              </a:rPr>
              <a:t>Scalability: LoRA vs prefix-tuning and adapters, GPT-3.</a:t>
            </a:r>
          </a:p>
        </p:txBody>
      </p:sp>
      <p:sp>
        <p:nvSpPr>
          <p:cNvPr id="10" name="PageNum 16"/>
          <p:cNvSpPr txBox="1"/>
          <p:nvPr/>
        </p:nvSpPr>
        <p:spPr>
          <a:xfrm>
            <a:off x="8595360" y="4892040"/>
            <a:ext cx="457200" cy="201168"/>
          </a:xfrm>
          <a:prstGeom prst="rect">
            <a:avLst/>
          </a:prstGeom>
          <a:noFill/>
        </p:spPr>
        <p:txBody>
          <a:bodyPr wrap="square" lIns="0" tIns="0" rIns="0" bIns="0">
            <a:spAutoFit/>
          </a:bodyPr>
          <a:lstStyle/>
          <a:p>
            <a:pPr algn="r"/>
            <a:r>
              <a:rPr sz="900">
                <a:solidFill>
                  <a:srgbClr val="595959"/>
                </a:solidFill>
                <a:latin typeface="Arial"/>
              </a:rPr>
              <a:t>37</a:t>
            </a:r>
          </a:p>
        </p:txBody>
      </p:sp>
      <p:sp>
        <p:nvSpPr>
          <p:cNvPr id="11" name="TB source"/>
          <p:cNvSpPr txBox="1"/>
          <p:nvPr/>
        </p:nvSpPr>
        <p:spPr>
          <a:xfrm>
            <a:off x="73152" y="4892040"/>
            <a:ext cx="7772400" cy="201168"/>
          </a:xfrm>
          <a:prstGeom prst="rect">
            <a:avLst/>
          </a:prstGeom>
          <a:noFill/>
        </p:spPr>
        <p:txBody>
          <a:bodyPr wrap="square" lIns="0" tIns="0" rIns="0" bIns="0">
            <a:spAutoFit/>
          </a:bodyPr>
          <a:lstStyle/>
          <a:p>
            <a:r>
              <a:rPr sz="900" u="sng">
                <a:solidFill>
                  <a:srgbClr val="595959"/>
                </a:solidFill>
                <a:latin typeface="Arial"/>
                <a:hlinkClick r:id="rId5"/>
              </a:rPr>
              <a:t>Hu et al. 2021</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B title"/>
          <p:cNvSpPr txBox="1"/>
          <p:nvPr/>
        </p:nvSpPr>
        <p:spPr>
          <a:xfrm>
            <a:off x="310896" y="448056"/>
            <a:ext cx="8522208" cy="576072"/>
          </a:xfrm>
          <a:prstGeom prst="rect">
            <a:avLst/>
          </a:prstGeom>
          <a:noFill/>
        </p:spPr>
        <p:txBody>
          <a:bodyPr wrap="square" lIns="0" tIns="0" rIns="0" bIns="0" anchor="t">
            <a:spAutoFit/>
          </a:bodyPr>
          <a:lstStyle/>
          <a:p>
            <a:pPr algn="l"/>
            <a:r>
              <a:rPr sz="2600" b="1" i="0">
                <a:solidFill>
                  <a:srgbClr val="222222"/>
                </a:solidFill>
                <a:latin typeface="Arial"/>
              </a:rPr>
              <a:t>Evidence: 4-bit QLoRA matches 16-bit full fine-tuning</a:t>
            </a:r>
          </a:p>
        </p:txBody>
      </p:sp>
      <p:sp>
        <p:nvSpPr>
          <p:cNvPr id="3" name="BG title rule"/>
          <p:cNvSpPr/>
          <p:nvPr/>
        </p:nvSpPr>
        <p:spPr>
          <a:xfrm>
            <a:off x="310896" y="1033271"/>
            <a:ext cx="548640" cy="27432"/>
          </a:xfrm>
          <a:prstGeom prst="rect">
            <a:avLst/>
          </a:prstGeom>
          <a:solidFill>
            <a:srgbClr val="428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B takeaway"/>
          <p:cNvSpPr txBox="1"/>
          <p:nvPr/>
        </p:nvSpPr>
        <p:spPr>
          <a:xfrm>
            <a:off x="310896" y="1143000"/>
            <a:ext cx="8522208" cy="365760"/>
          </a:xfrm>
          <a:prstGeom prst="rect">
            <a:avLst/>
          </a:prstGeom>
          <a:noFill/>
        </p:spPr>
        <p:txBody>
          <a:bodyPr wrap="square" lIns="0" tIns="0" rIns="0" bIns="0" anchor="t">
            <a:spAutoFit/>
          </a:bodyPr>
          <a:lstStyle/>
          <a:p>
            <a:pPr algn="l"/>
            <a:r>
              <a:rPr sz="1400" b="0" i="1">
                <a:solidFill>
                  <a:srgbClr val="4285F4"/>
                </a:solidFill>
                <a:latin typeface="Arial"/>
              </a:rPr>
              <a:t>MMLU 5-shot across LLaMA 7B–65B. 4-bit NF4 with DQ ≈ BFloat16 full FT.</a:t>
            </a:r>
          </a:p>
        </p:txBody>
      </p:sp>
      <p:pic>
        <p:nvPicPr>
          <p:cNvPr id="5" name="PIC qlora table" descr="QLoRA_slide20_pic03.png"/>
          <p:cNvPicPr>
            <a:picLocks noChangeAspect="1"/>
          </p:cNvPicPr>
          <p:nvPr/>
        </p:nvPicPr>
        <p:blipFill>
          <a:blip r:embed="rId3"/>
          <a:stretch>
            <a:fillRect/>
          </a:stretch>
        </p:blipFill>
        <p:spPr>
          <a:xfrm>
            <a:off x="310896" y="1691640"/>
            <a:ext cx="8522208" cy="1556229"/>
          </a:xfrm>
          <a:prstGeom prst="rect">
            <a:avLst/>
          </a:prstGeom>
        </p:spPr>
      </p:pic>
      <p:sp>
        <p:nvSpPr>
          <p:cNvPr id="6" name="BG takeaway strip"/>
          <p:cNvSpPr/>
          <p:nvPr/>
        </p:nvSpPr>
        <p:spPr>
          <a:xfrm>
            <a:off x="310896" y="4297680"/>
            <a:ext cx="8522208" cy="457200"/>
          </a:xfrm>
          <a:prstGeom prst="rect">
            <a:avLst/>
          </a:prstGeom>
          <a:solidFill>
            <a:srgbClr val="D2E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B takeaway strip text"/>
          <p:cNvSpPr txBox="1"/>
          <p:nvPr/>
        </p:nvSpPr>
        <p:spPr>
          <a:xfrm>
            <a:off x="457200" y="4343400"/>
            <a:ext cx="8229600" cy="365760"/>
          </a:xfrm>
          <a:prstGeom prst="rect">
            <a:avLst/>
          </a:prstGeom>
          <a:noFill/>
        </p:spPr>
        <p:txBody>
          <a:bodyPr wrap="square" lIns="0" tIns="0" rIns="0" bIns="0" anchor="ctr">
            <a:spAutoFit/>
          </a:bodyPr>
          <a:lstStyle/>
          <a:p>
            <a:pPr algn="ctr"/>
            <a:r>
              <a:rPr sz="1500" b="1" i="0">
                <a:solidFill>
                  <a:srgbClr val="222222"/>
                </a:solidFill>
                <a:latin typeface="Arial"/>
              </a:rPr>
              <a:t>65B model. 48 GB single GPU. No accuracy loss vs 16-bit full fine-tune.</a:t>
            </a:r>
          </a:p>
        </p:txBody>
      </p:sp>
      <p:sp>
        <p:nvSpPr>
          <p:cNvPr id="9" name="PageNum 24"/>
          <p:cNvSpPr txBox="1"/>
          <p:nvPr/>
        </p:nvSpPr>
        <p:spPr>
          <a:xfrm>
            <a:off x="8595360" y="4892040"/>
            <a:ext cx="457200" cy="201168"/>
          </a:xfrm>
          <a:prstGeom prst="rect">
            <a:avLst/>
          </a:prstGeom>
          <a:noFill/>
        </p:spPr>
        <p:txBody>
          <a:bodyPr wrap="square" lIns="0" tIns="0" rIns="0" bIns="0">
            <a:spAutoFit/>
          </a:bodyPr>
          <a:lstStyle/>
          <a:p>
            <a:pPr algn="r"/>
            <a:r>
              <a:rPr sz="900">
                <a:solidFill>
                  <a:srgbClr val="595959"/>
                </a:solidFill>
                <a:latin typeface="Arial"/>
              </a:rPr>
              <a:t>38</a:t>
            </a:r>
          </a:p>
        </p:txBody>
      </p:sp>
      <p:sp>
        <p:nvSpPr>
          <p:cNvPr id="10" name="TB source"/>
          <p:cNvSpPr txBox="1"/>
          <p:nvPr/>
        </p:nvSpPr>
        <p:spPr>
          <a:xfrm>
            <a:off x="73152" y="4892040"/>
            <a:ext cx="7772400" cy="201168"/>
          </a:xfrm>
          <a:prstGeom prst="rect">
            <a:avLst/>
          </a:prstGeom>
          <a:noFill/>
        </p:spPr>
        <p:txBody>
          <a:bodyPr wrap="square" lIns="0" tIns="0" rIns="0" bIns="0">
            <a:spAutoFit/>
          </a:bodyPr>
          <a:lstStyle/>
          <a:p>
            <a:r>
              <a:rPr sz="900" u="sng">
                <a:solidFill>
                  <a:srgbClr val="595959"/>
                </a:solidFill>
                <a:latin typeface="Arial"/>
                <a:hlinkClick r:id="rId4"/>
              </a:rPr>
              <a:t>Dettmers et al. 2023</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B title"/>
          <p:cNvSpPr txBox="1"/>
          <p:nvPr/>
        </p:nvSpPr>
        <p:spPr>
          <a:xfrm>
            <a:off x="310896" y="448056"/>
            <a:ext cx="8522208" cy="576072"/>
          </a:xfrm>
          <a:prstGeom prst="rect">
            <a:avLst/>
          </a:prstGeom>
          <a:noFill/>
        </p:spPr>
        <p:txBody>
          <a:bodyPr wrap="square" lIns="0" tIns="0" rIns="0" bIns="0" anchor="t">
            <a:spAutoFit/>
          </a:bodyPr>
          <a:lstStyle/>
          <a:p>
            <a:r>
              <a:rPr sz="2200" b="1">
                <a:solidFill>
                  <a:srgbClr val="222222"/>
                </a:solidFill>
                <a:latin typeface="Arial"/>
              </a:rPr>
              <a:t>Prompt-based PEFT: prefix tuning, P-tuning v2</a:t>
            </a:r>
          </a:p>
        </p:txBody>
      </p:sp>
      <p:sp>
        <p:nvSpPr>
          <p:cNvPr id="3" name="BG title rule"/>
          <p:cNvSpPr/>
          <p:nvPr/>
        </p:nvSpPr>
        <p:spPr>
          <a:xfrm>
            <a:off x="310896" y="1033271"/>
            <a:ext cx="548640" cy="27432"/>
          </a:xfrm>
          <a:prstGeom prst="rect">
            <a:avLst/>
          </a:prstGeom>
          <a:solidFill>
            <a:srgbClr val="428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310896" y="1691640"/>
            <a:ext cx="8522208" cy="3017520"/>
          </a:xfrm>
          <a:prstGeom prst="rect">
            <a:avLst/>
          </a:prstGeom>
          <a:noFill/>
        </p:spPr>
        <p:txBody>
          <a:bodyPr wrap="square" lIns="0" tIns="0" rIns="0" bIns="0">
            <a:spAutoFit/>
          </a:bodyPr>
          <a:lstStyle/>
          <a:p>
            <a:pPr algn="l">
              <a:spcAft>
                <a:spcPts val="500"/>
              </a:spcAft>
            </a:pPr>
            <a:r>
              <a:rPr sz="1300">
                <a:solidFill>
                  <a:srgbClr val="222222"/>
                </a:solidFill>
                <a:latin typeface="Arial"/>
              </a:rPr>
              <a:t>· Prompt engineering: hand-crafted natural-language instructions. Zero training. Brittle.</a:t>
            </a:r>
          </a:p>
          <a:p>
            <a:pPr algn="l">
              <a:spcAft>
                <a:spcPts val="500"/>
              </a:spcAft>
            </a:pPr>
            <a:r>
              <a:rPr sz="1300">
                <a:solidFill>
                  <a:srgbClr val="222222"/>
                </a:solidFill>
                <a:latin typeface="Arial"/>
              </a:rPr>
              <a:t>· Prefix tuning (Li &amp; Liang '21): learn a small set of continuous 'prefix' vectors prepended to inputs.</a:t>
            </a:r>
          </a:p>
          <a:p>
            <a:pPr algn="l">
              <a:spcAft>
                <a:spcPts val="500"/>
              </a:spcAft>
            </a:pPr>
            <a:r>
              <a:rPr sz="1300">
                <a:solidFill>
                  <a:srgbClr val="222222"/>
                </a:solidFill>
                <a:latin typeface="Arial"/>
              </a:rPr>
              <a:t>· P-Tuning v2: learnable prompts at every layer, not just the input. Closer to full FT in capacity.</a:t>
            </a:r>
          </a:p>
          <a:p>
            <a:pPr algn="l">
              <a:spcAft>
                <a:spcPts val="500"/>
              </a:spcAft>
            </a:pPr>
            <a:r>
              <a:rPr sz="1300">
                <a:solidFill>
                  <a:srgbClr val="222222"/>
                </a:solidFill>
                <a:latin typeface="Arial"/>
              </a:rPr>
              <a:t>· Downside vs LoRA: eats input-token budget; usually plateaus below LoRA on hard tasks.</a:t>
            </a:r>
          </a:p>
          <a:p>
            <a:pPr algn="l">
              <a:spcAft>
                <a:spcPts val="500"/>
              </a:spcAft>
            </a:pPr>
            <a:r>
              <a:rPr sz="1300">
                <a:solidFill>
                  <a:srgbClr val="222222"/>
                </a:solidFill>
                <a:latin typeface="Arial"/>
              </a:rPr>
              <a:t>· Upside: can be composed with LoRA (prefix + LoRA together: increasingly common).</a:t>
            </a:r>
          </a:p>
        </p:txBody>
      </p:sp>
      <p:sp>
        <p:nvSpPr>
          <p:cNvPr id="6" name="PageNum 52"/>
          <p:cNvSpPr txBox="1"/>
          <p:nvPr/>
        </p:nvSpPr>
        <p:spPr>
          <a:xfrm>
            <a:off x="8595360" y="4892040"/>
            <a:ext cx="457200" cy="201168"/>
          </a:xfrm>
          <a:prstGeom prst="rect">
            <a:avLst/>
          </a:prstGeom>
          <a:noFill/>
        </p:spPr>
        <p:txBody>
          <a:bodyPr wrap="square" lIns="0" tIns="0" rIns="0" bIns="0">
            <a:spAutoFit/>
          </a:bodyPr>
          <a:lstStyle/>
          <a:p>
            <a:pPr algn="r"/>
            <a:r>
              <a:rPr sz="900">
                <a:solidFill>
                  <a:srgbClr val="595959"/>
                </a:solidFill>
                <a:latin typeface="Arial"/>
              </a:rPr>
              <a:t>39</a:t>
            </a:r>
          </a:p>
        </p:txBody>
      </p:sp>
      <p:sp>
        <p:nvSpPr>
          <p:cNvPr id="7" name="TB source"/>
          <p:cNvSpPr txBox="1"/>
          <p:nvPr/>
        </p:nvSpPr>
        <p:spPr>
          <a:xfrm>
            <a:off x="73152" y="4892040"/>
            <a:ext cx="7772400" cy="201168"/>
          </a:xfrm>
          <a:prstGeom prst="rect">
            <a:avLst/>
          </a:prstGeom>
          <a:noFill/>
        </p:spPr>
        <p:txBody>
          <a:bodyPr wrap="square" lIns="0" tIns="0" rIns="0" bIns="0">
            <a:spAutoFit/>
          </a:bodyPr>
          <a:lstStyle/>
          <a:p>
            <a:r>
              <a:rPr sz="900" u="sng">
                <a:solidFill>
                  <a:srgbClr val="595959"/>
                </a:solidFill>
                <a:latin typeface="Arial"/>
                <a:hlinkClick r:id="rId3"/>
              </a:rPr>
              <a:t>Li &amp; Liang 2021</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B title"/>
          <p:cNvSpPr txBox="1"/>
          <p:nvPr/>
        </p:nvSpPr>
        <p:spPr>
          <a:xfrm>
            <a:off x="310896" y="448056"/>
            <a:ext cx="8522208" cy="576072"/>
          </a:xfrm>
          <a:prstGeom prst="rect">
            <a:avLst/>
          </a:prstGeom>
          <a:noFill/>
        </p:spPr>
        <p:txBody>
          <a:bodyPr wrap="square" lIns="0" tIns="0" rIns="0" bIns="0" anchor="t">
            <a:spAutoFit/>
          </a:bodyPr>
          <a:lstStyle/>
          <a:p>
            <a:r>
              <a:rPr sz="2200" b="1">
                <a:solidFill>
                  <a:srgbClr val="222222"/>
                </a:solidFill>
                <a:latin typeface="Arial"/>
              </a:rPr>
              <a:t>Modern quantization neighbors: GPTQ, AWQ, EXL2, PolarQuant, NVFP4</a:t>
            </a:r>
          </a:p>
        </p:txBody>
      </p:sp>
      <p:sp>
        <p:nvSpPr>
          <p:cNvPr id="3" name="BG title rule"/>
          <p:cNvSpPr/>
          <p:nvPr/>
        </p:nvSpPr>
        <p:spPr>
          <a:xfrm>
            <a:off x="310896" y="1033271"/>
            <a:ext cx="548640" cy="27432"/>
          </a:xfrm>
          <a:prstGeom prst="rect">
            <a:avLst/>
          </a:prstGeom>
          <a:solidFill>
            <a:srgbClr val="428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B takeaway"/>
          <p:cNvSpPr txBox="1"/>
          <p:nvPr/>
        </p:nvSpPr>
        <p:spPr>
          <a:xfrm>
            <a:off x="310896" y="1143000"/>
            <a:ext cx="8522208" cy="365760"/>
          </a:xfrm>
          <a:prstGeom prst="rect">
            <a:avLst/>
          </a:prstGeom>
          <a:noFill/>
        </p:spPr>
        <p:txBody>
          <a:bodyPr wrap="square" lIns="0" tIns="0" rIns="0" bIns="0" anchor="t">
            <a:spAutoFit/>
          </a:bodyPr>
          <a:lstStyle/>
          <a:p>
            <a:pPr algn="l"/>
            <a:r>
              <a:rPr sz="1300" b="0" i="1">
                <a:solidFill>
                  <a:srgbClr val="4285F4"/>
                </a:solidFill>
                <a:latin typeface="Arial"/>
              </a:rPr>
              <a:t>The quantization stack around QLoRA in 2026.</a:t>
            </a:r>
          </a:p>
        </p:txBody>
      </p:sp>
      <p:sp>
        <p:nvSpPr>
          <p:cNvPr id="5" name="TextBox 4"/>
          <p:cNvSpPr txBox="1"/>
          <p:nvPr/>
        </p:nvSpPr>
        <p:spPr>
          <a:xfrm>
            <a:off x="310896" y="1691640"/>
            <a:ext cx="8522208" cy="2971800"/>
          </a:xfrm>
          <a:prstGeom prst="rect">
            <a:avLst/>
          </a:prstGeom>
          <a:noFill/>
        </p:spPr>
        <p:txBody>
          <a:bodyPr wrap="square" lIns="0" tIns="0" rIns="0" bIns="0">
            <a:spAutoFit/>
          </a:bodyPr>
          <a:lstStyle/>
          <a:p>
            <a:r>
              <a:rPr sz="1400">
                <a:solidFill>
                  <a:srgbClr val="222222"/>
                </a:solidFill>
                <a:latin typeface="Arial"/>
              </a:rPr>
              <a:t>· GPTQ (Frantar '22): post-training weight quantization for INFERENCE. Different tool from QLoRA.</a:t>
            </a:r>
          </a:p>
          <a:p>
            <a:r>
              <a:rPr sz="1400">
                <a:solidFill>
                  <a:srgbClr val="222222"/>
                </a:solidFill>
                <a:latin typeface="Arial"/>
              </a:rPr>
              <a:t>· AWQ (Lin '23): activation-aware weight quantization: protects the ~1% of weights that matter most for activations. Standard for serving.</a:t>
            </a:r>
          </a:p>
          <a:p>
            <a:r>
              <a:rPr sz="1400">
                <a:solidFill>
                  <a:srgbClr val="222222"/>
                </a:solidFill>
                <a:latin typeface="Arial"/>
              </a:rPr>
              <a:t>· EXL2 (2024): variable-bit-per-weight quantization tuned per-model. Popular in llama.cpp world.</a:t>
            </a:r>
          </a:p>
          <a:p>
            <a:r>
              <a:rPr sz="1400">
                <a:solidFill>
                  <a:srgbClr val="222222"/>
                </a:solidFill>
                <a:latin typeface="Arial"/>
              </a:rPr>
              <a:t>· PolarQuant (2025): rotates weight distributions before quantization: better for outliers than NF4.</a:t>
            </a:r>
          </a:p>
          <a:p>
            <a:r>
              <a:rPr sz="1400">
                <a:solidFill>
                  <a:srgbClr val="222222"/>
                </a:solidFill>
                <a:latin typeface="Arial"/>
              </a:rPr>
              <a:t>· TurboQuant (2025): hardware-aware quantization for specific accelerator layouts.</a:t>
            </a:r>
          </a:p>
          <a:p>
            <a:r>
              <a:rPr sz="1400">
                <a:solidFill>
                  <a:srgbClr val="222222"/>
                </a:solidFill>
                <a:latin typeface="Arial"/>
              </a:rPr>
              <a:t>· NVFP4 (NVIDIA, 2024): 4-bit float (E2M1) with per-block scaling, native to Blackwell tensor cores. NF4's hardware-accelerated cousin: designed for serving, not training.</a:t>
            </a:r>
          </a:p>
          <a:p>
            <a:r>
              <a:rPr sz="1400">
                <a:solidFill>
                  <a:srgbClr val="222222"/>
                </a:solidFill>
                <a:latin typeface="Arial"/>
              </a:rPr>
              <a:t>· How QLoRA fits: QLoRA quantizes the base for TRAINING. GPTQ / AWQ / EXL2 / NVFP4 quantize a trained model for SERVING. Different pipelines, same math family.</a:t>
            </a:r>
          </a:p>
        </p:txBody>
      </p:sp>
      <p:sp>
        <p:nvSpPr>
          <p:cNvPr id="7" name="PageNum 53"/>
          <p:cNvSpPr txBox="1"/>
          <p:nvPr/>
        </p:nvSpPr>
        <p:spPr>
          <a:xfrm>
            <a:off x="8595360" y="4892040"/>
            <a:ext cx="457200" cy="201168"/>
          </a:xfrm>
          <a:prstGeom prst="rect">
            <a:avLst/>
          </a:prstGeom>
          <a:noFill/>
        </p:spPr>
        <p:txBody>
          <a:bodyPr wrap="square" lIns="0" tIns="0" rIns="0" bIns="0">
            <a:spAutoFit/>
          </a:bodyPr>
          <a:lstStyle/>
          <a:p>
            <a:pPr algn="r"/>
            <a:r>
              <a:rPr sz="900">
                <a:solidFill>
                  <a:srgbClr val="595959"/>
                </a:solidFill>
                <a:latin typeface="Arial"/>
              </a:rPr>
              <a:t>40</a:t>
            </a:r>
          </a:p>
        </p:txBody>
      </p:sp>
      <p:sp>
        <p:nvSpPr>
          <p:cNvPr id="8" name="TB source"/>
          <p:cNvSpPr txBox="1"/>
          <p:nvPr/>
        </p:nvSpPr>
        <p:spPr>
          <a:xfrm>
            <a:off x="73152" y="4892040"/>
            <a:ext cx="7772400" cy="201168"/>
          </a:xfrm>
          <a:prstGeom prst="rect">
            <a:avLst/>
          </a:prstGeom>
          <a:noFill/>
        </p:spPr>
        <p:txBody>
          <a:bodyPr wrap="square" lIns="0" tIns="0" rIns="0" bIns="0">
            <a:spAutoFit/>
          </a:bodyPr>
          <a:lstStyle/>
          <a:p>
            <a:r>
              <a:rPr sz="900" u="sng">
                <a:solidFill>
                  <a:srgbClr val="595959"/>
                </a:solidFill>
                <a:latin typeface="Arial"/>
                <a:hlinkClick r:id="rId3"/>
              </a:rPr>
              <a:t>GPTQ</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B title"/>
          <p:cNvSpPr txBox="1"/>
          <p:nvPr/>
        </p:nvSpPr>
        <p:spPr>
          <a:xfrm>
            <a:off x="310896" y="448056"/>
            <a:ext cx="8522208" cy="576072"/>
          </a:xfrm>
          <a:prstGeom prst="rect">
            <a:avLst/>
          </a:prstGeom>
          <a:noFill/>
        </p:spPr>
        <p:txBody>
          <a:bodyPr wrap="square" lIns="0" tIns="0" rIns="0" bIns="0" anchor="t">
            <a:spAutoFit/>
          </a:bodyPr>
          <a:lstStyle/>
          <a:p>
            <a:r>
              <a:rPr sz="2200" b="1">
                <a:solidFill>
                  <a:srgbClr val="222222"/>
                </a:solidFill>
                <a:latin typeface="Arial"/>
              </a:rPr>
              <a:t>LoRA under post-training: SFT, DPO, RFT stack on top</a:t>
            </a:r>
          </a:p>
        </p:txBody>
      </p:sp>
      <p:sp>
        <p:nvSpPr>
          <p:cNvPr id="3" name="BG title rule"/>
          <p:cNvSpPr/>
          <p:nvPr/>
        </p:nvSpPr>
        <p:spPr>
          <a:xfrm>
            <a:off x="310896" y="1033271"/>
            <a:ext cx="548640" cy="27432"/>
          </a:xfrm>
          <a:prstGeom prst="rect">
            <a:avLst/>
          </a:prstGeom>
          <a:solidFill>
            <a:srgbClr val="428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B takeaway"/>
          <p:cNvSpPr txBox="1"/>
          <p:nvPr/>
        </p:nvSpPr>
        <p:spPr>
          <a:xfrm>
            <a:off x="310896" y="1143000"/>
            <a:ext cx="8522208" cy="365760"/>
          </a:xfrm>
          <a:prstGeom prst="rect">
            <a:avLst/>
          </a:prstGeom>
          <a:noFill/>
        </p:spPr>
        <p:txBody>
          <a:bodyPr wrap="square" lIns="0" tIns="0" rIns="0" bIns="0" anchor="t">
            <a:spAutoFit/>
          </a:bodyPr>
          <a:lstStyle/>
          <a:p>
            <a:pPr algn="l"/>
            <a:r>
              <a:rPr sz="1300" b="0" i="1">
                <a:solidFill>
                  <a:srgbClr val="4285F4"/>
                </a:solidFill>
                <a:latin typeface="Arial"/>
              </a:rPr>
              <a:t>PEFT and post-training are orthogonal axes, they stack.</a:t>
            </a:r>
          </a:p>
        </p:txBody>
      </p:sp>
      <p:sp>
        <p:nvSpPr>
          <p:cNvPr id="5" name="TextBox 4"/>
          <p:cNvSpPr txBox="1"/>
          <p:nvPr/>
        </p:nvSpPr>
        <p:spPr>
          <a:xfrm>
            <a:off x="310896" y="1691640"/>
            <a:ext cx="8522208" cy="2971800"/>
          </a:xfrm>
          <a:prstGeom prst="rect">
            <a:avLst/>
          </a:prstGeom>
          <a:noFill/>
        </p:spPr>
        <p:txBody>
          <a:bodyPr wrap="square" lIns="0" tIns="0" rIns="0" bIns="0">
            <a:spAutoFit/>
          </a:bodyPr>
          <a:lstStyle/>
          <a:p>
            <a:pPr algn="l">
              <a:spcAft>
                <a:spcPts val="500"/>
              </a:spcAft>
            </a:pPr>
            <a:r>
              <a:rPr sz="1300">
                <a:solidFill>
                  <a:srgbClr val="222222"/>
                </a:solidFill>
                <a:latin typeface="Arial"/>
              </a:rPr>
              <a:t>· SFT (Supervised Fine-Tuning): the default target for QLoRA. Cross-entropy on instruction-response pairs. 10 lines of code shown earlier.</a:t>
            </a:r>
          </a:p>
          <a:p>
            <a:pPr algn="l">
              <a:spcAft>
                <a:spcPts val="500"/>
              </a:spcAft>
            </a:pPr>
            <a:r>
              <a:rPr sz="1300">
                <a:solidFill>
                  <a:srgbClr val="222222"/>
                </a:solidFill>
                <a:latin typeface="Arial"/>
              </a:rPr>
              <a:t>· DPO (Direct Preference Optimization): train on (chosen, rejected) preference pairs. Skips the RLHF reward model. Works over a LoRA-adapted base cleanly.</a:t>
            </a:r>
          </a:p>
          <a:p>
            <a:pPr algn="l">
              <a:spcAft>
                <a:spcPts val="500"/>
              </a:spcAft>
            </a:pPr>
            <a:r>
              <a:rPr sz="1300">
                <a:solidFill>
                  <a:srgbClr val="222222"/>
                </a:solidFill>
                <a:latin typeface="Arial"/>
              </a:rPr>
              <a:t>· RFT (Reinforcement Fine-Tuning, GRPO/RLOO/etc.): online RL from rewards. Usually done with LoRA to keep the RL loop cheap. Only trainable params get updated.</a:t>
            </a:r>
          </a:p>
          <a:p>
            <a:pPr algn="l">
              <a:spcAft>
                <a:spcPts val="500"/>
              </a:spcAft>
            </a:pPr>
            <a:r>
              <a:rPr sz="1300">
                <a:solidFill>
                  <a:srgbClr val="222222"/>
                </a:solidFill>
                <a:latin typeface="Arial"/>
              </a:rPr>
              <a:t>· Typical production pipeline: base → QLoRA SFT for domain → DPO on top for preference alignment → merge or serve unmerged.</a:t>
            </a:r>
          </a:p>
          <a:p>
            <a:pPr algn="l">
              <a:spcAft>
                <a:spcPts val="500"/>
              </a:spcAft>
            </a:pPr>
            <a:r>
              <a:rPr sz="1300">
                <a:solidFill>
                  <a:srgbClr val="222222"/>
                </a:solidFill>
                <a:latin typeface="Arial"/>
              </a:rPr>
              <a:t>· For legal-review workloads: DPO is where reviewer-accepted-vs-rejected redlines become the alignment signal.</a:t>
            </a:r>
          </a:p>
        </p:txBody>
      </p:sp>
      <p:sp>
        <p:nvSpPr>
          <p:cNvPr id="7" name="PageNum 54"/>
          <p:cNvSpPr txBox="1"/>
          <p:nvPr/>
        </p:nvSpPr>
        <p:spPr>
          <a:xfrm>
            <a:off x="8595360" y="4892040"/>
            <a:ext cx="457200" cy="201168"/>
          </a:xfrm>
          <a:prstGeom prst="rect">
            <a:avLst/>
          </a:prstGeom>
          <a:noFill/>
        </p:spPr>
        <p:txBody>
          <a:bodyPr wrap="square" lIns="0" tIns="0" rIns="0" bIns="0">
            <a:spAutoFit/>
          </a:bodyPr>
          <a:lstStyle/>
          <a:p>
            <a:pPr algn="r"/>
            <a:r>
              <a:rPr sz="900">
                <a:solidFill>
                  <a:srgbClr val="595959"/>
                </a:solidFill>
                <a:latin typeface="Arial"/>
              </a:rPr>
              <a:t>41</a:t>
            </a:r>
          </a:p>
        </p:txBody>
      </p:sp>
      <p:sp>
        <p:nvSpPr>
          <p:cNvPr id="8" name="TB source"/>
          <p:cNvSpPr txBox="1"/>
          <p:nvPr/>
        </p:nvSpPr>
        <p:spPr>
          <a:xfrm>
            <a:off x="73152" y="4892040"/>
            <a:ext cx="7772400" cy="201168"/>
          </a:xfrm>
          <a:prstGeom prst="rect">
            <a:avLst/>
          </a:prstGeom>
          <a:noFill/>
        </p:spPr>
        <p:txBody>
          <a:bodyPr wrap="square" lIns="0" tIns="0" rIns="0" bIns="0">
            <a:spAutoFit/>
          </a:bodyPr>
          <a:lstStyle/>
          <a:p>
            <a:r>
              <a:rPr sz="900" u="sng">
                <a:solidFill>
                  <a:srgbClr val="595959"/>
                </a:solidFill>
                <a:latin typeface="Arial"/>
                <a:hlinkClick r:id="rId3"/>
              </a:rPr>
              <a:t>DPO (Rafailov et al. 2023)</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B title"/>
          <p:cNvSpPr txBox="1"/>
          <p:nvPr/>
        </p:nvSpPr>
        <p:spPr>
          <a:xfrm>
            <a:off x="310896" y="448056"/>
            <a:ext cx="8522208" cy="576072"/>
          </a:xfrm>
          <a:prstGeom prst="rect">
            <a:avLst/>
          </a:prstGeom>
          <a:noFill/>
        </p:spPr>
        <p:txBody>
          <a:bodyPr wrap="square" lIns="0" tIns="0" rIns="0" bIns="0" anchor="t">
            <a:spAutoFit/>
          </a:bodyPr>
          <a:lstStyle/>
          <a:p>
            <a:r>
              <a:rPr sz="2200" b="1">
                <a:solidFill>
                  <a:srgbClr val="222222"/>
                </a:solidFill>
                <a:latin typeface="Arial"/>
              </a:rPr>
              <a:t>Attention variants (MLA, GQA, FA3) and target_modules</a:t>
            </a:r>
          </a:p>
        </p:txBody>
      </p:sp>
      <p:sp>
        <p:nvSpPr>
          <p:cNvPr id="3" name="BG title rule"/>
          <p:cNvSpPr/>
          <p:nvPr/>
        </p:nvSpPr>
        <p:spPr>
          <a:xfrm>
            <a:off x="310896" y="1033271"/>
            <a:ext cx="548640" cy="27432"/>
          </a:xfrm>
          <a:prstGeom prst="rect">
            <a:avLst/>
          </a:prstGeom>
          <a:solidFill>
            <a:srgbClr val="428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B takeaway"/>
          <p:cNvSpPr txBox="1"/>
          <p:nvPr/>
        </p:nvSpPr>
        <p:spPr>
          <a:xfrm>
            <a:off x="310896" y="1143000"/>
            <a:ext cx="8522208" cy="365760"/>
          </a:xfrm>
          <a:prstGeom prst="rect">
            <a:avLst/>
          </a:prstGeom>
          <a:noFill/>
        </p:spPr>
        <p:txBody>
          <a:bodyPr wrap="square" lIns="0" tIns="0" rIns="0" bIns="0" anchor="t">
            <a:spAutoFit/>
          </a:bodyPr>
          <a:lstStyle/>
          <a:p>
            <a:pPr algn="l"/>
            <a:r>
              <a:rPr sz="1300" b="0" i="1">
                <a:solidFill>
                  <a:srgbClr val="4285F4"/>
                </a:solidFill>
                <a:latin typeface="Arial"/>
              </a:rPr>
              <a:t>Attention architecture changes what "LoRA the attention" even means.</a:t>
            </a:r>
          </a:p>
        </p:txBody>
      </p:sp>
      <p:sp>
        <p:nvSpPr>
          <p:cNvPr id="5" name="TextBox 4"/>
          <p:cNvSpPr txBox="1"/>
          <p:nvPr/>
        </p:nvSpPr>
        <p:spPr>
          <a:xfrm>
            <a:off x="310896" y="1691640"/>
            <a:ext cx="8522208" cy="2971800"/>
          </a:xfrm>
          <a:prstGeom prst="rect">
            <a:avLst/>
          </a:prstGeom>
          <a:noFill/>
        </p:spPr>
        <p:txBody>
          <a:bodyPr wrap="square" lIns="0" tIns="0" rIns="0" bIns="0">
            <a:spAutoFit/>
          </a:bodyPr>
          <a:lstStyle/>
          <a:p>
            <a:pPr algn="l">
              <a:spcAft>
                <a:spcPts val="500"/>
              </a:spcAft>
            </a:pPr>
            <a:r>
              <a:rPr sz="1300">
                <a:solidFill>
                  <a:srgbClr val="222222"/>
                </a:solidFill>
                <a:latin typeface="Arial"/>
              </a:rPr>
              <a:t>· GQA (Grouped-Query Attention): fewer K, V heads than Q heads. Fewer projections → fewer LoRA target modules to think about.</a:t>
            </a:r>
          </a:p>
          <a:p>
            <a:pPr algn="l">
              <a:spcAft>
                <a:spcPts val="500"/>
              </a:spcAft>
            </a:pPr>
            <a:r>
              <a:rPr sz="1300">
                <a:solidFill>
                  <a:srgbClr val="222222"/>
                </a:solidFill>
                <a:latin typeface="Arial"/>
              </a:rPr>
              <a:t>· MLA (Multi-head Latent Attention, DeepSeek): compresses K and V into a shared low-rank latent. Now "LoRA the K projection" doesn't mean the same thing: there IS no separate K projection.</a:t>
            </a:r>
          </a:p>
          <a:p>
            <a:pPr algn="l">
              <a:spcAft>
                <a:spcPts val="500"/>
              </a:spcAft>
            </a:pPr>
            <a:r>
              <a:rPr sz="1300">
                <a:solidFill>
                  <a:srgbClr val="222222"/>
                </a:solidFill>
                <a:latin typeface="Arial"/>
              </a:rPr>
              <a:t>· FlashAttention-3: kernel-level fusion. Doesn't change PEFT semantics but changes the memory profile you're optimizing against.</a:t>
            </a:r>
          </a:p>
          <a:p>
            <a:pPr algn="l">
              <a:spcAft>
                <a:spcPts val="500"/>
              </a:spcAft>
            </a:pPr>
            <a:r>
              <a:rPr sz="1300">
                <a:solidFill>
                  <a:srgbClr val="222222"/>
                </a:solidFill>
                <a:latin typeface="Arial"/>
              </a:rPr>
              <a:t>· Practical PEFT implication: for modern architectures (Llama-3, DeepSeek-V3, Qwen-2.5), target_modules='all-linear' is the safe default because you can't easily reason about individual attention projections anymore.</a:t>
            </a:r>
          </a:p>
        </p:txBody>
      </p:sp>
      <p:sp>
        <p:nvSpPr>
          <p:cNvPr id="7" name="PageNum 55"/>
          <p:cNvSpPr txBox="1"/>
          <p:nvPr/>
        </p:nvSpPr>
        <p:spPr>
          <a:xfrm>
            <a:off x="8595360" y="4892040"/>
            <a:ext cx="457200" cy="201168"/>
          </a:xfrm>
          <a:prstGeom prst="rect">
            <a:avLst/>
          </a:prstGeom>
          <a:noFill/>
        </p:spPr>
        <p:txBody>
          <a:bodyPr wrap="square" lIns="0" tIns="0" rIns="0" bIns="0">
            <a:spAutoFit/>
          </a:bodyPr>
          <a:lstStyle/>
          <a:p>
            <a:pPr algn="r"/>
            <a:r>
              <a:rPr sz="900">
                <a:solidFill>
                  <a:srgbClr val="595959"/>
                </a:solidFill>
                <a:latin typeface="Arial"/>
              </a:rPr>
              <a:t>42</a:t>
            </a:r>
          </a:p>
        </p:txBody>
      </p:sp>
      <p:sp>
        <p:nvSpPr>
          <p:cNvPr id="8" name="TB source"/>
          <p:cNvSpPr txBox="1"/>
          <p:nvPr/>
        </p:nvSpPr>
        <p:spPr>
          <a:xfrm>
            <a:off x="73152" y="4892040"/>
            <a:ext cx="7772400" cy="201168"/>
          </a:xfrm>
          <a:prstGeom prst="rect">
            <a:avLst/>
          </a:prstGeom>
          <a:noFill/>
        </p:spPr>
        <p:txBody>
          <a:bodyPr wrap="square" lIns="0" tIns="0" rIns="0" bIns="0">
            <a:spAutoFit/>
          </a:bodyPr>
          <a:lstStyle/>
          <a:p>
            <a:r>
              <a:rPr sz="900" u="sng">
                <a:solidFill>
                  <a:srgbClr val="595959"/>
                </a:solidFill>
                <a:latin typeface="Arial"/>
                <a:hlinkClick r:id="rId3"/>
              </a:rPr>
              <a:t>GQA (Ainslie et al. 2023)</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B title"/>
          <p:cNvSpPr txBox="1"/>
          <p:nvPr/>
        </p:nvSpPr>
        <p:spPr>
          <a:xfrm>
            <a:off x="310896" y="448056"/>
            <a:ext cx="8522208" cy="576072"/>
          </a:xfrm>
          <a:prstGeom prst="rect">
            <a:avLst/>
          </a:prstGeom>
          <a:noFill/>
        </p:spPr>
        <p:txBody>
          <a:bodyPr wrap="square" lIns="0" tIns="0" rIns="0" bIns="0" anchor="t">
            <a:spAutoFit/>
          </a:bodyPr>
          <a:lstStyle/>
          <a:p>
            <a:r>
              <a:rPr sz="2200" b="1">
                <a:solidFill>
                  <a:srgbClr val="222222"/>
                </a:solidFill>
                <a:latin typeface="Arial"/>
              </a:rPr>
              <a:t>LongLoRA: extending context length under LoRA</a:t>
            </a:r>
          </a:p>
        </p:txBody>
      </p:sp>
      <p:sp>
        <p:nvSpPr>
          <p:cNvPr id="3" name="BG title rule"/>
          <p:cNvSpPr/>
          <p:nvPr/>
        </p:nvSpPr>
        <p:spPr>
          <a:xfrm>
            <a:off x="310896" y="1033271"/>
            <a:ext cx="548640" cy="27432"/>
          </a:xfrm>
          <a:prstGeom prst="rect">
            <a:avLst/>
          </a:prstGeom>
          <a:solidFill>
            <a:srgbClr val="428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B takeaway"/>
          <p:cNvSpPr txBox="1"/>
          <p:nvPr/>
        </p:nvSpPr>
        <p:spPr>
          <a:xfrm>
            <a:off x="310896" y="1143000"/>
            <a:ext cx="8522208" cy="365760"/>
          </a:xfrm>
          <a:prstGeom prst="rect">
            <a:avLst/>
          </a:prstGeom>
          <a:noFill/>
        </p:spPr>
        <p:txBody>
          <a:bodyPr wrap="square" lIns="0" tIns="0" rIns="0" bIns="0" anchor="t">
            <a:spAutoFit/>
          </a:bodyPr>
          <a:lstStyle/>
          <a:p>
            <a:pPr algn="l"/>
            <a:r>
              <a:rPr sz="1300" b="0" i="1">
                <a:solidFill>
                  <a:srgbClr val="4285F4"/>
                </a:solidFill>
                <a:latin typeface="Arial"/>
              </a:rPr>
              <a:t>Fine-tune a short-context base into a long-context model with a LoRA-shaped budget.</a:t>
            </a:r>
          </a:p>
        </p:txBody>
      </p:sp>
      <p:sp>
        <p:nvSpPr>
          <p:cNvPr id="5" name="TextBox 4"/>
          <p:cNvSpPr txBox="1"/>
          <p:nvPr/>
        </p:nvSpPr>
        <p:spPr>
          <a:xfrm>
            <a:off x="310896" y="1691640"/>
            <a:ext cx="8522208" cy="2971800"/>
          </a:xfrm>
          <a:prstGeom prst="rect">
            <a:avLst/>
          </a:prstGeom>
          <a:noFill/>
        </p:spPr>
        <p:txBody>
          <a:bodyPr wrap="square" lIns="0" tIns="0" rIns="0" bIns="0">
            <a:spAutoFit/>
          </a:bodyPr>
          <a:lstStyle/>
          <a:p>
            <a:pPr algn="l">
              <a:spcAft>
                <a:spcPts val="500"/>
              </a:spcAft>
            </a:pPr>
            <a:r>
              <a:rPr sz="1300">
                <a:solidFill>
                  <a:srgbClr val="222222"/>
                </a:solidFill>
                <a:latin typeface="Arial"/>
              </a:rPr>
              <a:t>· Problem: attention memory scales O(n²) with context length. Fine-tuning a 4K-context base to 32K context in full FT is prohibitive.</a:t>
            </a:r>
          </a:p>
          <a:p>
            <a:pPr algn="l">
              <a:spcAft>
                <a:spcPts val="500"/>
              </a:spcAft>
            </a:pPr>
            <a:r>
              <a:rPr sz="1300">
                <a:solidFill>
                  <a:srgbClr val="222222"/>
                </a:solidFill>
                <a:latin typeface="Arial"/>
              </a:rPr>
              <a:t>· LongLoRA: LoRA-adapt attention + shifted-sparse attention (S²-Attn) → fine-tune 7B to 100K context on a single 8×A100 node.</a:t>
            </a:r>
          </a:p>
          <a:p>
            <a:pPr algn="l">
              <a:spcAft>
                <a:spcPts val="500"/>
              </a:spcAft>
            </a:pPr>
            <a:r>
              <a:rPr sz="1300">
                <a:solidFill>
                  <a:srgbClr val="222222"/>
                </a:solidFill>
                <a:latin typeface="Arial"/>
              </a:rPr>
              <a:t>· S²-Attn: compute attention within groups + overlap groups by shifting. Approximate but effective during training; merged back at inference.</a:t>
            </a:r>
          </a:p>
          <a:p>
            <a:pPr algn="l">
              <a:spcAft>
                <a:spcPts val="500"/>
              </a:spcAft>
            </a:pPr>
            <a:r>
              <a:rPr sz="1300">
                <a:solidFill>
                  <a:srgbClr val="222222"/>
                </a:solidFill>
                <a:latin typeface="Arial"/>
              </a:rPr>
              <a:t>· Why relevant here: legal documents are LONG. If domain adaptation includes a context-length extension, LongLoRA is the standard tool.</a:t>
            </a:r>
          </a:p>
        </p:txBody>
      </p:sp>
      <p:sp>
        <p:nvSpPr>
          <p:cNvPr id="7" name="PageNum 56"/>
          <p:cNvSpPr txBox="1"/>
          <p:nvPr/>
        </p:nvSpPr>
        <p:spPr>
          <a:xfrm>
            <a:off x="8595360" y="4892040"/>
            <a:ext cx="457200" cy="201168"/>
          </a:xfrm>
          <a:prstGeom prst="rect">
            <a:avLst/>
          </a:prstGeom>
          <a:noFill/>
        </p:spPr>
        <p:txBody>
          <a:bodyPr wrap="square" lIns="0" tIns="0" rIns="0" bIns="0">
            <a:spAutoFit/>
          </a:bodyPr>
          <a:lstStyle/>
          <a:p>
            <a:pPr algn="r"/>
            <a:r>
              <a:rPr sz="900">
                <a:solidFill>
                  <a:srgbClr val="595959"/>
                </a:solidFill>
                <a:latin typeface="Arial"/>
              </a:rPr>
              <a:t>43</a:t>
            </a:r>
          </a:p>
        </p:txBody>
      </p:sp>
      <p:sp>
        <p:nvSpPr>
          <p:cNvPr id="8" name="TB source"/>
          <p:cNvSpPr txBox="1"/>
          <p:nvPr/>
        </p:nvSpPr>
        <p:spPr>
          <a:xfrm>
            <a:off x="73152" y="4892040"/>
            <a:ext cx="7772400" cy="201168"/>
          </a:xfrm>
          <a:prstGeom prst="rect">
            <a:avLst/>
          </a:prstGeom>
          <a:noFill/>
        </p:spPr>
        <p:txBody>
          <a:bodyPr wrap="square" lIns="0" tIns="0" rIns="0" bIns="0">
            <a:spAutoFit/>
          </a:bodyPr>
          <a:lstStyle/>
          <a:p>
            <a:r>
              <a:rPr sz="900" u="sng">
                <a:solidFill>
                  <a:srgbClr val="595959"/>
                </a:solidFill>
                <a:latin typeface="Arial"/>
                <a:hlinkClick r:id="rId3"/>
              </a:rPr>
              <a:t>Chen et al. 2023</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B title"/>
          <p:cNvSpPr txBox="1"/>
          <p:nvPr/>
        </p:nvSpPr>
        <p:spPr>
          <a:xfrm>
            <a:off x="310896" y="448056"/>
            <a:ext cx="8522208" cy="576072"/>
          </a:xfrm>
          <a:prstGeom prst="rect">
            <a:avLst/>
          </a:prstGeom>
          <a:noFill/>
        </p:spPr>
        <p:txBody>
          <a:bodyPr wrap="square" lIns="0" tIns="0" rIns="0" bIns="0" anchor="t">
            <a:spAutoFit/>
          </a:bodyPr>
          <a:lstStyle/>
          <a:p>
            <a:r>
              <a:rPr sz="2200" b="1">
                <a:solidFill>
                  <a:srgbClr val="222222"/>
                </a:solidFill>
                <a:latin typeface="Arial"/>
              </a:rPr>
              <a:t>The broader PEFT taxonomy: AdaLoRA, IA³, BitFit</a:t>
            </a:r>
          </a:p>
        </p:txBody>
      </p:sp>
      <p:sp>
        <p:nvSpPr>
          <p:cNvPr id="3" name="BG title rule"/>
          <p:cNvSpPr/>
          <p:nvPr/>
        </p:nvSpPr>
        <p:spPr>
          <a:xfrm>
            <a:off x="310896" y="1033271"/>
            <a:ext cx="548640" cy="27432"/>
          </a:xfrm>
          <a:prstGeom prst="rect">
            <a:avLst/>
          </a:prstGeom>
          <a:solidFill>
            <a:srgbClr val="428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B takeaway"/>
          <p:cNvSpPr txBox="1"/>
          <p:nvPr/>
        </p:nvSpPr>
        <p:spPr>
          <a:xfrm>
            <a:off x="310896" y="1143000"/>
            <a:ext cx="8522208" cy="365760"/>
          </a:xfrm>
          <a:prstGeom prst="rect">
            <a:avLst/>
          </a:prstGeom>
          <a:noFill/>
        </p:spPr>
        <p:txBody>
          <a:bodyPr wrap="square" lIns="0" tIns="0" rIns="0" bIns="0" anchor="t">
            <a:spAutoFit/>
          </a:bodyPr>
          <a:lstStyle/>
          <a:p>
            <a:pPr algn="l"/>
            <a:r>
              <a:rPr sz="1300" b="0" i="1">
                <a:solidFill>
                  <a:srgbClr val="4285F4"/>
                </a:solidFill>
                <a:latin typeface="Arial"/>
              </a:rPr>
              <a:t>LoRA-family is not the only PEFT-family.</a:t>
            </a:r>
          </a:p>
        </p:txBody>
      </p:sp>
      <p:sp>
        <p:nvSpPr>
          <p:cNvPr id="5" name="TextBox 4"/>
          <p:cNvSpPr txBox="1"/>
          <p:nvPr/>
        </p:nvSpPr>
        <p:spPr>
          <a:xfrm>
            <a:off x="310896" y="1691640"/>
            <a:ext cx="8522208" cy="2971800"/>
          </a:xfrm>
          <a:prstGeom prst="rect">
            <a:avLst/>
          </a:prstGeom>
          <a:noFill/>
        </p:spPr>
        <p:txBody>
          <a:bodyPr wrap="square" lIns="0" tIns="0" rIns="0" bIns="0">
            <a:spAutoFit/>
          </a:bodyPr>
          <a:lstStyle/>
          <a:p>
            <a:pPr algn="l">
              <a:spcAft>
                <a:spcPts val="500"/>
              </a:spcAft>
            </a:pPr>
            <a:r>
              <a:rPr sz="1300">
                <a:solidFill>
                  <a:srgbClr val="222222"/>
                </a:solidFill>
                <a:latin typeface="Arial"/>
              </a:rPr>
              <a:t>· AdaLoRA (Zhang '23): allocate rank adaptively per weight matrix instead of using a single r everywhere.</a:t>
            </a:r>
          </a:p>
          <a:p>
            <a:pPr algn="l">
              <a:spcAft>
                <a:spcPts val="500"/>
              </a:spcAft>
            </a:pPr>
            <a:r>
              <a:rPr sz="1300">
                <a:solidFill>
                  <a:srgbClr val="222222"/>
                </a:solidFill>
                <a:latin typeface="Arial"/>
              </a:rPr>
              <a:t>· IA³ (Liu '22): learn per-channel scaling vectors instead of low-rank matrices: extremely few params, less capacity.</a:t>
            </a:r>
          </a:p>
          <a:p>
            <a:pPr algn="l">
              <a:spcAft>
                <a:spcPts val="500"/>
              </a:spcAft>
            </a:pPr>
            <a:r>
              <a:rPr sz="1300">
                <a:solidFill>
                  <a:srgbClr val="222222"/>
                </a:solidFill>
                <a:latin typeface="Arial"/>
              </a:rPr>
              <a:t>· BitFit (Zaken '22): fine-tune ONLY the bias terms. Nearly-zero param count, surprisingly competitive baseline.</a:t>
            </a:r>
          </a:p>
          <a:p>
            <a:pPr algn="l">
              <a:spcAft>
                <a:spcPts val="500"/>
              </a:spcAft>
            </a:pPr>
            <a:r>
              <a:rPr sz="1300">
                <a:solidFill>
                  <a:srgbClr val="222222"/>
                </a:solidFill>
                <a:latin typeface="Arial"/>
              </a:rPr>
              <a:t>· (IA)³ and BitFit are the honest "how few params can you get away with?" experiments.</a:t>
            </a:r>
          </a:p>
          <a:p>
            <a:pPr algn="l">
              <a:spcAft>
                <a:spcPts val="500"/>
              </a:spcAft>
            </a:pPr>
            <a:r>
              <a:rPr sz="1300">
                <a:solidFill>
                  <a:srgbClr val="222222"/>
                </a:solidFill>
                <a:latin typeface="Arial"/>
              </a:rPr>
              <a:t>· AdaLoRA is the honest "do you need the same rank everywhere?" experiment (answer: no).</a:t>
            </a:r>
          </a:p>
          <a:p>
            <a:pPr algn="l">
              <a:spcAft>
                <a:spcPts val="500"/>
              </a:spcAft>
            </a:pPr>
            <a:r>
              <a:rPr sz="1300">
                <a:solidFill>
                  <a:srgbClr val="222222"/>
                </a:solidFill>
                <a:latin typeface="Arial"/>
              </a:rPr>
              <a:t>· When to reach for these: extreme storage/serving-count constraints (thousands of tenants), or as sanity-check baselines against LoRA.</a:t>
            </a:r>
          </a:p>
        </p:txBody>
      </p:sp>
      <p:sp>
        <p:nvSpPr>
          <p:cNvPr id="7" name="PageNum 57"/>
          <p:cNvSpPr txBox="1"/>
          <p:nvPr/>
        </p:nvSpPr>
        <p:spPr>
          <a:xfrm>
            <a:off x="8595360" y="4892040"/>
            <a:ext cx="457200" cy="201168"/>
          </a:xfrm>
          <a:prstGeom prst="rect">
            <a:avLst/>
          </a:prstGeom>
          <a:noFill/>
        </p:spPr>
        <p:txBody>
          <a:bodyPr wrap="square" lIns="0" tIns="0" rIns="0" bIns="0">
            <a:spAutoFit/>
          </a:bodyPr>
          <a:lstStyle/>
          <a:p>
            <a:pPr algn="r"/>
            <a:r>
              <a:rPr sz="900">
                <a:solidFill>
                  <a:srgbClr val="595959"/>
                </a:solidFill>
                <a:latin typeface="Arial"/>
              </a:rPr>
              <a:t>44</a:t>
            </a:r>
          </a:p>
        </p:txBody>
      </p:sp>
      <p:sp>
        <p:nvSpPr>
          <p:cNvPr id="8" name="TB source"/>
          <p:cNvSpPr txBox="1"/>
          <p:nvPr/>
        </p:nvSpPr>
        <p:spPr>
          <a:xfrm>
            <a:off x="73152" y="4892040"/>
            <a:ext cx="7772400" cy="201168"/>
          </a:xfrm>
          <a:prstGeom prst="rect">
            <a:avLst/>
          </a:prstGeom>
          <a:noFill/>
        </p:spPr>
        <p:txBody>
          <a:bodyPr wrap="square" lIns="0" tIns="0" rIns="0" bIns="0">
            <a:spAutoFit/>
          </a:bodyPr>
          <a:lstStyle/>
          <a:p>
            <a:r>
              <a:rPr sz="900" u="sng">
                <a:solidFill>
                  <a:srgbClr val="595959"/>
                </a:solidFill>
                <a:latin typeface="Arial"/>
                <a:hlinkClick r:id="rId3"/>
              </a:rPr>
              <a:t>AdaLoRA (Zhang et al. 2023)</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Content Placeholder 1">
            <a:extLst>
              <a:ext uri="{FF2B5EF4-FFF2-40B4-BE49-F238E27FC236}">
                <a16:creationId xmlns:a16="http://schemas.microsoft.com/office/drawing/2014/main" id="{84906128-C9CE-BEF8-017D-5F9A05C5882C}"/>
              </a:ext>
            </a:extLst>
          </p:cNvPr>
          <p:cNvPicPr>
            <a:picLocks noGrp="1" noChangeAspect="1"/>
          </p:cNvPicPr>
          <p:nvPr>
            <p:ph idx="1"/>
          </p:nvPr>
        </p:nvPicPr>
        <p:blipFill rotWithShape="1">
          <a:blip r:embed="rId3"/>
          <a:srcRect l="13653" t="2007" r="17929" b="11272"/>
          <a:stretch/>
        </p:blipFill>
        <p:spPr>
          <a:xfrm>
            <a:off x="1875725" y="1458662"/>
            <a:ext cx="5391141" cy="2962319"/>
          </a:xfrm>
          <a:prstGeom prst="rect">
            <a:avLst/>
          </a:prstGeom>
        </p:spPr>
      </p:pic>
      <p:sp>
        <p:nvSpPr>
          <p:cNvPr id="3" name="TB title"/>
          <p:cNvSpPr txBox="1"/>
          <p:nvPr/>
        </p:nvSpPr>
        <p:spPr>
          <a:xfrm>
            <a:off x="310896" y="320040"/>
            <a:ext cx="8522208" cy="731520"/>
          </a:xfrm>
          <a:prstGeom prst="rect">
            <a:avLst/>
          </a:prstGeom>
          <a:noFill/>
        </p:spPr>
        <p:txBody>
          <a:bodyPr wrap="square" lIns="0" tIns="0" rIns="0" bIns="0">
            <a:spAutoFit/>
          </a:bodyPr>
          <a:lstStyle/>
          <a:p>
            <a:r>
              <a:rPr sz="2200" b="1">
                <a:solidFill>
                  <a:srgbClr val="222222"/>
                </a:solidFill>
                <a:latin typeface="Arial"/>
              </a:rPr>
              <a:t>Floating Point (IEEE 754): sign, exponent, mantissa</a:t>
            </a:r>
          </a:p>
        </p:txBody>
      </p:sp>
      <p:sp>
        <p:nvSpPr>
          <p:cNvPr id="4" name="BG title rule"/>
          <p:cNvSpPr/>
          <p:nvPr/>
        </p:nvSpPr>
        <p:spPr>
          <a:xfrm>
            <a:off x="310896" y="1060704"/>
            <a:ext cx="548640" cy="27432"/>
          </a:xfrm>
          <a:prstGeom prst="rect">
            <a:avLst/>
          </a:prstGeom>
          <a:solidFill>
            <a:srgbClr val="428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PageNum 58"/>
          <p:cNvSpPr txBox="1"/>
          <p:nvPr/>
        </p:nvSpPr>
        <p:spPr>
          <a:xfrm>
            <a:off x="8595360" y="4892040"/>
            <a:ext cx="457200" cy="201168"/>
          </a:xfrm>
          <a:prstGeom prst="rect">
            <a:avLst/>
          </a:prstGeom>
          <a:noFill/>
        </p:spPr>
        <p:txBody>
          <a:bodyPr wrap="square" lIns="0" tIns="0" rIns="0" bIns="0">
            <a:spAutoFit/>
          </a:bodyPr>
          <a:lstStyle/>
          <a:p>
            <a:pPr algn="r"/>
            <a:r>
              <a:rPr sz="900">
                <a:solidFill>
                  <a:srgbClr val="595959"/>
                </a:solidFill>
                <a:latin typeface="Arial"/>
              </a:rPr>
              <a:t>45</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Model Weights">
            <a:extLst>
              <a:ext uri="{FF2B5EF4-FFF2-40B4-BE49-F238E27FC236}">
                <a16:creationId xmlns:a16="http://schemas.microsoft.com/office/drawing/2014/main" id="{15439C84-869D-03E7-D15B-724C00CEE2F2}"/>
              </a:ext>
            </a:extLst>
          </p:cNvPr>
          <p:cNvPicPr>
            <a:picLocks noGrp="1" noChangeAspect="1" noChangeArrowheads="1"/>
          </p:cNvPicPr>
          <p:nvPr>
            <p:ph idx="4294967295"/>
          </p:nvPr>
        </p:nvPicPr>
        <p:blipFill>
          <a:blip r:embed="rId3">
            <a:extLst>
              <a:ext uri="{28A0092B-C50C-407E-A947-70E740481C1C}">
                <a14:useLocalDpi xmlns:a14="http://schemas.microsoft.com/office/drawing/2010/main" val="0"/>
              </a:ext>
            </a:extLst>
          </a:blip>
          <a:stretch>
            <a:fillRect/>
          </a:stretch>
        </p:blipFill>
        <p:spPr bwMode="auto">
          <a:xfrm>
            <a:off x="2349910" y="1188720"/>
            <a:ext cx="4444179" cy="2962785"/>
          </a:xfrm>
          <a:prstGeom prst="rect">
            <a:avLst/>
          </a:prstGeom>
          <a:noFill/>
          <a:extLst>
            <a:ext uri="{909E8E84-426E-40DD-AFC4-6F175D3DCCD1}">
              <a14:hiddenFill xmlns:a14="http://schemas.microsoft.com/office/drawing/2010/main">
                <a:solidFill>
                  <a:srgbClr val="FFFFFF"/>
                </a:solidFill>
              </a14:hiddenFill>
            </a:ext>
          </a:extLst>
        </p:spPr>
      </p:pic>
      <p:sp>
        <p:nvSpPr>
          <p:cNvPr id="2051" name="TB title"/>
          <p:cNvSpPr txBox="1"/>
          <p:nvPr/>
        </p:nvSpPr>
        <p:spPr>
          <a:xfrm>
            <a:off x="310896" y="320040"/>
            <a:ext cx="8522208" cy="731520"/>
          </a:xfrm>
          <a:prstGeom prst="rect">
            <a:avLst/>
          </a:prstGeom>
          <a:noFill/>
        </p:spPr>
        <p:txBody>
          <a:bodyPr wrap="square" lIns="0" tIns="0" rIns="0" bIns="0">
            <a:spAutoFit/>
          </a:bodyPr>
          <a:lstStyle/>
          <a:p>
            <a:r>
              <a:rPr sz="2200" b="1">
                <a:solidFill>
                  <a:srgbClr val="222222"/>
                </a:solidFill>
                <a:latin typeface="Arial"/>
              </a:rPr>
              <a:t>Mixed-Precision Floating Point: fp64 vs fp32 vs fp16 vs int8</a:t>
            </a:r>
          </a:p>
        </p:txBody>
      </p:sp>
      <p:sp>
        <p:nvSpPr>
          <p:cNvPr id="2052" name="BG title rule"/>
          <p:cNvSpPr/>
          <p:nvPr/>
        </p:nvSpPr>
        <p:spPr>
          <a:xfrm>
            <a:off x="310896" y="1060704"/>
            <a:ext cx="548640" cy="27432"/>
          </a:xfrm>
          <a:prstGeom prst="rect">
            <a:avLst/>
          </a:prstGeom>
          <a:solidFill>
            <a:srgbClr val="428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53" name="PageNum 59"/>
          <p:cNvSpPr txBox="1"/>
          <p:nvPr/>
        </p:nvSpPr>
        <p:spPr>
          <a:xfrm>
            <a:off x="8595360" y="4892040"/>
            <a:ext cx="457200" cy="201168"/>
          </a:xfrm>
          <a:prstGeom prst="rect">
            <a:avLst/>
          </a:prstGeom>
          <a:noFill/>
        </p:spPr>
        <p:txBody>
          <a:bodyPr wrap="square" lIns="0" tIns="0" rIns="0" bIns="0">
            <a:spAutoFit/>
          </a:bodyPr>
          <a:lstStyle/>
          <a:p>
            <a:pPr algn="r"/>
            <a:r>
              <a:rPr sz="900">
                <a:solidFill>
                  <a:srgbClr val="595959"/>
                </a:solidFill>
                <a:latin typeface="Arial"/>
              </a:rPr>
              <a:t>46</a:t>
            </a:r>
          </a:p>
        </p:txBody>
      </p:sp>
      <p:sp>
        <p:nvSpPr>
          <p:cNvPr id="2054" name="TB source"/>
          <p:cNvSpPr txBox="1"/>
          <p:nvPr/>
        </p:nvSpPr>
        <p:spPr>
          <a:xfrm>
            <a:off x="73152" y="4892040"/>
            <a:ext cx="7772400" cy="201168"/>
          </a:xfrm>
          <a:prstGeom prst="rect">
            <a:avLst/>
          </a:prstGeom>
          <a:noFill/>
        </p:spPr>
        <p:txBody>
          <a:bodyPr wrap="square" lIns="0" tIns="0" rIns="0" bIns="0">
            <a:spAutoFit/>
          </a:bodyPr>
          <a:lstStyle/>
          <a:p>
            <a:r>
              <a:rPr sz="900" u="sng">
                <a:solidFill>
                  <a:srgbClr val="595959"/>
                </a:solidFill>
                <a:latin typeface="Arial"/>
                <a:hlinkClick r:id="rId4"/>
              </a:rPr>
              <a:t>blog.eleuther.ai/transformer-math/</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Content Placeholder 9">
            <a:extLst>
              <a:ext uri="{FF2B5EF4-FFF2-40B4-BE49-F238E27FC236}">
                <a16:creationId xmlns:a16="http://schemas.microsoft.com/office/drawing/2014/main" id="{E7919E6E-82E3-B414-4C39-F02F79486747}"/>
              </a:ext>
            </a:extLst>
          </p:cNvPr>
          <p:cNvPicPr>
            <a:picLocks noGrp="1" noChangeAspect="1"/>
          </p:cNvPicPr>
          <p:nvPr>
            <p:ph idx="1"/>
          </p:nvPr>
        </p:nvPicPr>
        <p:blipFill rotWithShape="1">
          <a:blip r:embed="rId3"/>
          <a:srcRect l="9319" t="14510" r="5919" b="14259"/>
          <a:stretch/>
        </p:blipFill>
        <p:spPr>
          <a:xfrm>
            <a:off x="2178773" y="1216041"/>
            <a:ext cx="6211078" cy="3323689"/>
          </a:xfrm>
          <a:prstGeom prst="rect">
            <a:avLst/>
          </a:prstGeom>
        </p:spPr>
      </p:pic>
      <p:sp>
        <p:nvSpPr>
          <p:cNvPr id="12" name="Donut 11">
            <a:extLst>
              <a:ext uri="{FF2B5EF4-FFF2-40B4-BE49-F238E27FC236}">
                <a16:creationId xmlns:a16="http://schemas.microsoft.com/office/drawing/2014/main" id="{B816C7EC-C238-376E-D6D2-F5F3CAEA95B9}"/>
              </a:ext>
            </a:extLst>
          </p:cNvPr>
          <p:cNvSpPr/>
          <p:nvPr/>
        </p:nvSpPr>
        <p:spPr>
          <a:xfrm>
            <a:off x="4161809" y="1884665"/>
            <a:ext cx="870333" cy="517793"/>
          </a:xfrm>
          <a:prstGeom prst="donut">
            <a:avLst>
              <a:gd name="adj" fmla="val 7722"/>
            </a:avLst>
          </a:prstGeom>
          <a:solidFill>
            <a:srgbClr val="FF0000"/>
          </a:solidFill>
          <a:ln>
            <a:solidFill>
              <a:srgbClr val="44546A"/>
            </a:solidFill>
          </a:ln>
        </p:spPr>
        <p:style>
          <a:lnRef idx="2">
            <a:srgbClr val="4472C4">
              <a:shade val="15000"/>
            </a:srgbClr>
          </a:lnRef>
          <a:fillRef idx="1">
            <a:srgbClr val="4472C4"/>
          </a:fillRef>
          <a:effectRef idx="0">
            <a:srgbClr val="4472C4"/>
          </a:effectRef>
          <a:fontRef idx="minor">
            <a:srgbClr val="FFFFFF"/>
          </a:fontRef>
        </p:style>
        <p:txBody>
          <a:bodyPr rtlCol="0" anchor="ctr"/>
          <a:lstStyle/>
          <a:p>
            <a:pPr algn="ctr"/>
            <a:endParaRPr lang="en-US">
              <a:solidFill>
                <a:srgbClr val="44546A"/>
              </a:solidFill>
              <a:latin typeface="Roboto" panose="02000000000000000000" pitchFamily="2" charset="0"/>
            </a:endParaRPr>
          </a:p>
        </p:txBody>
      </p:sp>
      <p:sp>
        <p:nvSpPr>
          <p:cNvPr id="13" name="Donut 12">
            <a:extLst>
              <a:ext uri="{FF2B5EF4-FFF2-40B4-BE49-F238E27FC236}">
                <a16:creationId xmlns:a16="http://schemas.microsoft.com/office/drawing/2014/main" id="{72885728-CFF2-ED2F-5A53-C4D5ECBE903F}"/>
              </a:ext>
            </a:extLst>
          </p:cNvPr>
          <p:cNvSpPr/>
          <p:nvPr/>
        </p:nvSpPr>
        <p:spPr>
          <a:xfrm>
            <a:off x="4150792" y="1254599"/>
            <a:ext cx="969484" cy="597015"/>
          </a:xfrm>
          <a:prstGeom prst="donut">
            <a:avLst>
              <a:gd name="adj" fmla="val 7722"/>
            </a:avLst>
          </a:prstGeom>
          <a:solidFill>
            <a:srgbClr val="FF0000"/>
          </a:solidFill>
          <a:ln>
            <a:solidFill>
              <a:srgbClr val="44546A"/>
            </a:solidFill>
          </a:ln>
        </p:spPr>
        <p:style>
          <a:lnRef idx="2">
            <a:srgbClr val="4472C4">
              <a:shade val="15000"/>
            </a:srgbClr>
          </a:lnRef>
          <a:fillRef idx="1">
            <a:srgbClr val="4472C4"/>
          </a:fillRef>
          <a:effectRef idx="0">
            <a:srgbClr val="4472C4"/>
          </a:effectRef>
          <a:fontRef idx="minor">
            <a:srgbClr val="FFFFFF"/>
          </a:fontRef>
        </p:style>
        <p:txBody>
          <a:bodyPr rtlCol="0" anchor="ctr"/>
          <a:lstStyle/>
          <a:p>
            <a:pPr algn="ctr"/>
            <a:endParaRPr lang="en-US">
              <a:solidFill>
                <a:srgbClr val="44546A"/>
              </a:solidFill>
              <a:latin typeface="Roboto" panose="02000000000000000000" pitchFamily="2" charset="0"/>
            </a:endParaRPr>
          </a:p>
        </p:txBody>
      </p:sp>
      <p:sp>
        <p:nvSpPr>
          <p:cNvPr id="2" name="Donut 1">
            <a:extLst>
              <a:ext uri="{FF2B5EF4-FFF2-40B4-BE49-F238E27FC236}">
                <a16:creationId xmlns:a16="http://schemas.microsoft.com/office/drawing/2014/main" id="{9FD23DC8-CD43-18B1-D51E-729937794B90}"/>
              </a:ext>
            </a:extLst>
          </p:cNvPr>
          <p:cNvSpPr/>
          <p:nvPr/>
        </p:nvSpPr>
        <p:spPr>
          <a:xfrm>
            <a:off x="7092295" y="1209880"/>
            <a:ext cx="969484" cy="597015"/>
          </a:xfrm>
          <a:prstGeom prst="donut">
            <a:avLst>
              <a:gd name="adj" fmla="val 7722"/>
            </a:avLst>
          </a:prstGeom>
          <a:solidFill>
            <a:srgbClr val="61BA00"/>
          </a:solidFill>
          <a:ln>
            <a:solidFill>
              <a:srgbClr val="44546A"/>
            </a:solidFill>
          </a:ln>
        </p:spPr>
        <p:style>
          <a:lnRef idx="2">
            <a:srgbClr val="4472C4">
              <a:shade val="15000"/>
            </a:srgbClr>
          </a:lnRef>
          <a:fillRef idx="1">
            <a:srgbClr val="4472C4"/>
          </a:fillRef>
          <a:effectRef idx="0">
            <a:srgbClr val="4472C4"/>
          </a:effectRef>
          <a:fontRef idx="minor">
            <a:srgbClr val="FFFFFF"/>
          </a:fontRef>
        </p:style>
        <p:txBody>
          <a:bodyPr rtlCol="0" anchor="ctr"/>
          <a:lstStyle/>
          <a:p>
            <a:pPr algn="ctr"/>
            <a:endParaRPr lang="en-US">
              <a:solidFill>
                <a:srgbClr val="44546A"/>
              </a:solidFill>
              <a:latin typeface="Roboto" panose="02000000000000000000" pitchFamily="2" charset="0"/>
            </a:endParaRPr>
          </a:p>
        </p:txBody>
      </p:sp>
      <p:sp>
        <p:nvSpPr>
          <p:cNvPr id="3" name="TextBox 2">
            <a:extLst>
              <a:ext uri="{FF2B5EF4-FFF2-40B4-BE49-F238E27FC236}">
                <a16:creationId xmlns:a16="http://schemas.microsoft.com/office/drawing/2014/main" id="{C991B138-074B-0DED-9155-6B4B7326C6CA}"/>
              </a:ext>
            </a:extLst>
          </p:cNvPr>
          <p:cNvSpPr txBox="1"/>
          <p:nvPr/>
        </p:nvSpPr>
        <p:spPr>
          <a:xfrm>
            <a:off x="219973" y="1401672"/>
            <a:ext cx="2091520" cy="2308324"/>
          </a:xfrm>
          <a:prstGeom prst="rect">
            <a:avLst/>
          </a:prstGeom>
          <a:noFill/>
        </p:spPr>
        <p:txBody>
          <a:bodyPr wrap="square" rtlCol="0">
            <a:spAutoFit/>
          </a:bodyPr>
          <a:lstStyle/>
          <a:p>
            <a:pPr>
              <a:spcAft>
                <a:spcPts val="800"/>
              </a:spcAft>
              <a:buNone/>
            </a:pPr>
            <a:r>
              <a:rPr sz="1400" b="0" i="0">
                <a:solidFill>
                  <a:srgbClr val="222222"/>
                </a:solidFill>
                <a:latin typeface="Arial"/>
              </a:rPr>
              <a:t>AdamW is an </a:t>
            </a:r>
            <a:r>
              <a:rPr sz="1400" b="1" i="0">
                <a:solidFill>
                  <a:srgbClr val="6AA84F"/>
                </a:solidFill>
                <a:latin typeface="Arial"/>
              </a:rPr>
              <a:t>Optimizer</a:t>
            </a:r>
            <a:r>
              <a:rPr sz="1400" b="0" i="0">
                <a:solidFill>
                  <a:srgbClr val="222222"/>
                </a:solidFill>
                <a:latin typeface="Arial"/>
              </a:rPr>
              <a:t>.</a:t>
            </a:r>
          </a:p>
          <a:p>
            <a:pPr>
              <a:spcAft>
                <a:spcPts val="800"/>
              </a:spcAft>
              <a:buNone/>
            </a:pPr>
            <a:r>
              <a:rPr sz="1300" b="0" i="0">
                <a:solidFill>
                  <a:srgbClr val="222222"/>
                </a:solidFill>
                <a:latin typeface="Arial"/>
              </a:rPr>
              <a:t>Per weight, it stores momentum (m) and variance (v).</a:t>
            </a:r>
          </a:p>
          <a:p>
            <a:pPr>
              <a:buNone/>
            </a:pPr>
            <a:r>
              <a:rPr sz="1300" b="0" i="0">
                <a:solidFill>
                  <a:srgbClr val="222222"/>
                </a:solidFill>
                <a:latin typeface="Arial"/>
              </a:rPr>
              <a:t>7B weights → 14B extra numbers = the </a:t>
            </a:r>
            <a:r>
              <a:rPr sz="1300" b="1" i="0">
                <a:solidFill>
                  <a:srgbClr val="6AA84F"/>
                </a:solidFill>
                <a:latin typeface="Arial"/>
              </a:rPr>
              <a:t>Optimizer</a:t>
            </a:r>
            <a:r>
              <a:rPr sz="1300" b="0" i="0">
                <a:solidFill>
                  <a:srgbClr val="222222"/>
                </a:solidFill>
                <a:latin typeface="Arial"/>
              </a:rPr>
              <a:t> bucket.</a:t>
            </a:r>
          </a:p>
        </p:txBody>
      </p:sp>
      <p:cxnSp>
        <p:nvCxnSpPr>
          <p:cNvPr id="5" name="Curved Connector 4">
            <a:extLst>
              <a:ext uri="{FF2B5EF4-FFF2-40B4-BE49-F238E27FC236}">
                <a16:creationId xmlns:a16="http://schemas.microsoft.com/office/drawing/2014/main" id="{7AF4F155-3CE5-160F-4FBA-C433C2D30533}"/>
              </a:ext>
            </a:extLst>
          </p:cNvPr>
          <p:cNvCxnSpPr>
            <a:cxnSpLocks/>
            <a:endCxn id="13" idx="2"/>
          </p:cNvCxnSpPr>
          <p:nvPr/>
        </p:nvCxnSpPr>
        <p:spPr>
          <a:xfrm flipV="1">
            <a:off x="2059272" y="1553107"/>
            <a:ext cx="2091520" cy="1141227"/>
          </a:xfrm>
          <a:prstGeom prst="curvedConnector3">
            <a:avLst>
              <a:gd name="adj1" fmla="val 50000"/>
            </a:avLst>
          </a:prstGeom>
          <a:ln w="57150">
            <a:solidFill>
              <a:srgbClr val="FF0000"/>
            </a:solidFill>
            <a:prstDash val="dash"/>
            <a:tailEnd type="triangle"/>
          </a:ln>
        </p:spPr>
        <p:style>
          <a:lnRef idx="1">
            <a:srgbClr val="4472C4"/>
          </a:lnRef>
          <a:fillRef idx="0">
            <a:srgbClr val="4472C4"/>
          </a:fillRef>
          <a:effectRef idx="0">
            <a:srgbClr val="4472C4"/>
          </a:effectRef>
          <a:fontRef idx="minor">
            <a:srgbClr val="44546A"/>
          </a:fontRef>
        </p:style>
      </p:cxnSp>
      <p:sp>
        <p:nvSpPr>
          <p:cNvPr id="14" name="TB title"/>
          <p:cNvSpPr txBox="1"/>
          <p:nvPr/>
        </p:nvSpPr>
        <p:spPr>
          <a:xfrm>
            <a:off x="310896" y="320040"/>
            <a:ext cx="8522208" cy="731520"/>
          </a:xfrm>
          <a:prstGeom prst="rect">
            <a:avLst/>
          </a:prstGeom>
          <a:noFill/>
        </p:spPr>
        <p:txBody>
          <a:bodyPr wrap="square" lIns="0" tIns="0" rIns="0" bIns="0">
            <a:spAutoFit/>
          </a:bodyPr>
          <a:lstStyle/>
          <a:p>
            <a:r>
              <a:rPr sz="2200" b="1">
                <a:solidFill>
                  <a:srgbClr val="222222"/>
                </a:solidFill>
                <a:latin typeface="Arial"/>
              </a:rPr>
              <a:t>Why AdamW is so expensive: momentum + variance = 2x weights</a:t>
            </a:r>
          </a:p>
        </p:txBody>
      </p:sp>
      <p:sp>
        <p:nvSpPr>
          <p:cNvPr id="15" name="BG title rule"/>
          <p:cNvSpPr/>
          <p:nvPr/>
        </p:nvSpPr>
        <p:spPr>
          <a:xfrm>
            <a:off x="310896" y="1060704"/>
            <a:ext cx="548640" cy="27432"/>
          </a:xfrm>
          <a:prstGeom prst="rect">
            <a:avLst/>
          </a:prstGeom>
          <a:solidFill>
            <a:srgbClr val="428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PageNum 63"/>
          <p:cNvSpPr txBox="1"/>
          <p:nvPr/>
        </p:nvSpPr>
        <p:spPr>
          <a:xfrm>
            <a:off x="8595360" y="4892040"/>
            <a:ext cx="457200" cy="201168"/>
          </a:xfrm>
          <a:prstGeom prst="rect">
            <a:avLst/>
          </a:prstGeom>
          <a:noFill/>
        </p:spPr>
        <p:txBody>
          <a:bodyPr wrap="square" lIns="0" tIns="0" rIns="0" bIns="0">
            <a:spAutoFit/>
          </a:bodyPr>
          <a:lstStyle/>
          <a:p>
            <a:pPr algn="r"/>
            <a:r>
              <a:rPr sz="900">
                <a:solidFill>
                  <a:srgbClr val="595959"/>
                </a:solidFill>
                <a:latin typeface="Arial"/>
              </a:rPr>
              <a:t>47</a:t>
            </a:r>
          </a:p>
        </p:txBody>
      </p:sp>
      <p:sp>
        <p:nvSpPr>
          <p:cNvPr id="17" name="TB source"/>
          <p:cNvSpPr txBox="1"/>
          <p:nvPr/>
        </p:nvSpPr>
        <p:spPr>
          <a:xfrm>
            <a:off x="73152" y="4892040"/>
            <a:ext cx="7772400" cy="201168"/>
          </a:xfrm>
          <a:prstGeom prst="rect">
            <a:avLst/>
          </a:prstGeom>
          <a:noFill/>
        </p:spPr>
        <p:txBody>
          <a:bodyPr wrap="square" lIns="0">
            <a:spAutoFit/>
          </a:bodyPr>
          <a:lstStyle/>
          <a:p>
            <a:r>
              <a:rPr sz="900" b="0" i="0" u="sng">
                <a:solidFill>
                  <a:srgbClr val="595959"/>
                </a:solidFill>
                <a:latin typeface="Arial"/>
                <a:hlinkClick r:id="rId4"/>
              </a:rPr>
              <a:t>Loshchilov &amp; Hutter 2019</a:t>
            </a:r>
            <a:r>
              <a:rPr sz="900" b="0" i="0">
                <a:solidFill>
                  <a:srgbClr val="595959"/>
                </a:solidFill>
                <a:latin typeface="Arial"/>
              </a:rPr>
              <a:t> (Decoupled Weight Decay Regularization, ICLR 2019).</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7" name="Group 16">
            <a:extLst>
              <a:ext uri="{FF2B5EF4-FFF2-40B4-BE49-F238E27FC236}">
                <a16:creationId xmlns:a16="http://schemas.microsoft.com/office/drawing/2014/main" id="{33ED065B-46FA-0643-2EDE-E1C1EC58DE6C}"/>
              </a:ext>
            </a:extLst>
          </p:cNvPr>
          <p:cNvGrpSpPr/>
          <p:nvPr/>
        </p:nvGrpSpPr>
        <p:grpSpPr>
          <a:xfrm>
            <a:off x="541679" y="1155322"/>
            <a:ext cx="7657180" cy="3446487"/>
            <a:chOff x="541679" y="1018162"/>
            <a:chExt cx="7657180" cy="3446487"/>
          </a:xfrm>
        </p:grpSpPr>
        <p:sp>
          <p:nvSpPr>
            <p:cNvPr id="8" name="Rounded Rectangle 7">
              <a:extLst>
                <a:ext uri="{FF2B5EF4-FFF2-40B4-BE49-F238E27FC236}">
                  <a16:creationId xmlns:a16="http://schemas.microsoft.com/office/drawing/2014/main" id="{74B9DCD9-270D-38FE-E8A4-AA3A6C671EC9}"/>
                </a:ext>
              </a:extLst>
            </p:cNvPr>
            <p:cNvSpPr/>
            <p:nvPr/>
          </p:nvSpPr>
          <p:spPr>
            <a:xfrm>
              <a:off x="934009" y="2172310"/>
              <a:ext cx="539602" cy="539602"/>
            </a:xfrm>
            <a:prstGeom prst="roundRect">
              <a:avLst/>
            </a:prstGeom>
          </p:spPr>
          <p:style>
            <a:lnRef idx="1">
              <a:srgbClr val="FFC000"/>
            </a:lnRef>
            <a:fillRef idx="2">
              <a:srgbClr val="FFC000"/>
            </a:fillRef>
            <a:effectRef idx="1">
              <a:srgbClr val="FFC000"/>
            </a:effectRef>
            <a:fontRef idx="minor">
              <a:srgbClr val="44546A"/>
            </a:fontRef>
          </p:style>
          <p:txBody>
            <a:bodyPr rtlCol="0" anchor="ctr"/>
            <a:lstStyle/>
            <a:p>
              <a:pPr algn="ctr"/>
              <a:endParaRPr lang="en-US">
                <a:latin typeface="Roboto" panose="02000000000000000000" pitchFamily="2" charset="0"/>
              </a:endParaRPr>
            </a:p>
          </p:txBody>
        </p:sp>
        <p:sp>
          <p:nvSpPr>
            <p:cNvPr id="9" name="Rounded Rectangle 8">
              <a:extLst>
                <a:ext uri="{FF2B5EF4-FFF2-40B4-BE49-F238E27FC236}">
                  <a16:creationId xmlns:a16="http://schemas.microsoft.com/office/drawing/2014/main" id="{8A6EAB9D-F70B-956C-26EC-0F6D87758B96}"/>
                </a:ext>
              </a:extLst>
            </p:cNvPr>
            <p:cNvSpPr/>
            <p:nvPr/>
          </p:nvSpPr>
          <p:spPr>
            <a:xfrm>
              <a:off x="945141" y="2874246"/>
              <a:ext cx="539602" cy="539602"/>
            </a:xfrm>
            <a:prstGeom prst="roundRect">
              <a:avLst/>
            </a:prstGeom>
            <a:solidFill>
              <a:srgbClr val="AAC6E7"/>
            </a:solidFill>
            <a:ln>
              <a:solidFill>
                <a:srgbClr val="4472C4"/>
              </a:solidFill>
            </a:ln>
          </p:spPr>
          <p:style>
            <a:lnRef idx="1">
              <a:srgbClr val="ED7D31"/>
            </a:lnRef>
            <a:fillRef idx="2">
              <a:srgbClr val="ED7D31"/>
            </a:fillRef>
            <a:effectRef idx="1">
              <a:srgbClr val="ED7D31"/>
            </a:effectRef>
            <a:fontRef idx="minor">
              <a:srgbClr val="44546A"/>
            </a:fontRef>
          </p:style>
          <p:txBody>
            <a:bodyPr rtlCol="0" anchor="ctr"/>
            <a:lstStyle/>
            <a:p>
              <a:pPr algn="ctr"/>
              <a:endParaRPr lang="en-US">
                <a:latin typeface="Roboto" panose="02000000000000000000" pitchFamily="2" charset="0"/>
              </a:endParaRPr>
            </a:p>
          </p:txBody>
        </p:sp>
        <p:sp>
          <p:nvSpPr>
            <p:cNvPr id="10" name="Rounded Rectangle 9">
              <a:extLst>
                <a:ext uri="{FF2B5EF4-FFF2-40B4-BE49-F238E27FC236}">
                  <a16:creationId xmlns:a16="http://schemas.microsoft.com/office/drawing/2014/main" id="{11863969-CFF8-B956-3831-5ACACA5CA1A5}"/>
                </a:ext>
              </a:extLst>
            </p:cNvPr>
            <p:cNvSpPr/>
            <p:nvPr/>
          </p:nvSpPr>
          <p:spPr>
            <a:xfrm>
              <a:off x="1629091" y="2172310"/>
              <a:ext cx="539602" cy="539602"/>
            </a:xfrm>
            <a:prstGeom prst="roundRect">
              <a:avLst/>
            </a:prstGeom>
          </p:spPr>
          <p:style>
            <a:lnRef idx="1">
              <a:srgbClr val="FFC000"/>
            </a:lnRef>
            <a:fillRef idx="2">
              <a:srgbClr val="FFC000"/>
            </a:fillRef>
            <a:effectRef idx="1">
              <a:srgbClr val="FFC000"/>
            </a:effectRef>
            <a:fontRef idx="minor">
              <a:srgbClr val="44546A"/>
            </a:fontRef>
          </p:style>
          <p:txBody>
            <a:bodyPr rtlCol="0" anchor="ctr"/>
            <a:lstStyle/>
            <a:p>
              <a:pPr algn="ctr"/>
              <a:endParaRPr lang="en-US">
                <a:latin typeface="Roboto" panose="02000000000000000000" pitchFamily="2" charset="0"/>
              </a:endParaRPr>
            </a:p>
          </p:txBody>
        </p:sp>
        <p:sp>
          <p:nvSpPr>
            <p:cNvPr id="11" name="Rounded Rectangle 10">
              <a:extLst>
                <a:ext uri="{FF2B5EF4-FFF2-40B4-BE49-F238E27FC236}">
                  <a16:creationId xmlns:a16="http://schemas.microsoft.com/office/drawing/2014/main" id="{FB2759B3-2333-C23A-D12B-BA9ACC48C18E}"/>
                </a:ext>
              </a:extLst>
            </p:cNvPr>
            <p:cNvSpPr/>
            <p:nvPr/>
          </p:nvSpPr>
          <p:spPr>
            <a:xfrm>
              <a:off x="1629090" y="2874249"/>
              <a:ext cx="539602" cy="539602"/>
            </a:xfrm>
            <a:prstGeom prst="roundRect">
              <a:avLst/>
            </a:prstGeom>
            <a:solidFill>
              <a:srgbClr val="70AD47">
                <a:lumMod val="60000"/>
                <a:lumOff val="40000"/>
              </a:srgbClr>
            </a:solidFill>
            <a:ln>
              <a:solidFill>
                <a:srgbClr val="70AD47"/>
              </a:solidFill>
            </a:ln>
          </p:spPr>
          <p:style>
            <a:lnRef idx="1">
              <a:srgbClr val="ED7D31"/>
            </a:lnRef>
            <a:fillRef idx="2">
              <a:srgbClr val="ED7D31"/>
            </a:fillRef>
            <a:effectRef idx="1">
              <a:srgbClr val="ED7D31"/>
            </a:effectRef>
            <a:fontRef idx="minor">
              <a:srgbClr val="44546A"/>
            </a:fontRef>
          </p:style>
          <p:txBody>
            <a:bodyPr rtlCol="0" anchor="ctr"/>
            <a:lstStyle/>
            <a:p>
              <a:pPr algn="ctr"/>
              <a:endParaRPr lang="en-US">
                <a:latin typeface="Roboto" panose="02000000000000000000" pitchFamily="2" charset="0"/>
              </a:endParaRPr>
            </a:p>
          </p:txBody>
        </p:sp>
        <p:sp>
          <p:nvSpPr>
            <p:cNvPr id="18" name="Rounded Rectangle 17">
              <a:extLst>
                <a:ext uri="{FF2B5EF4-FFF2-40B4-BE49-F238E27FC236}">
                  <a16:creationId xmlns:a16="http://schemas.microsoft.com/office/drawing/2014/main" id="{1C2816FF-3F56-430B-089B-61EFA019BBB4}"/>
                </a:ext>
              </a:extLst>
            </p:cNvPr>
            <p:cNvSpPr/>
            <p:nvPr/>
          </p:nvSpPr>
          <p:spPr>
            <a:xfrm>
              <a:off x="2324173" y="2172309"/>
              <a:ext cx="539602" cy="539602"/>
            </a:xfrm>
            <a:prstGeom prst="roundRect">
              <a:avLst/>
            </a:prstGeom>
          </p:spPr>
          <p:style>
            <a:lnRef idx="1">
              <a:srgbClr val="FFC000"/>
            </a:lnRef>
            <a:fillRef idx="2">
              <a:srgbClr val="FFC000"/>
            </a:fillRef>
            <a:effectRef idx="1">
              <a:srgbClr val="FFC000"/>
            </a:effectRef>
            <a:fontRef idx="minor">
              <a:srgbClr val="44546A"/>
            </a:fontRef>
          </p:style>
          <p:txBody>
            <a:bodyPr rtlCol="0" anchor="ctr"/>
            <a:lstStyle/>
            <a:p>
              <a:pPr algn="ctr"/>
              <a:endParaRPr lang="en-US">
                <a:latin typeface="Roboto" panose="02000000000000000000" pitchFamily="2" charset="0"/>
              </a:endParaRPr>
            </a:p>
          </p:txBody>
        </p:sp>
        <p:sp>
          <p:nvSpPr>
            <p:cNvPr id="19" name="Rounded Rectangle 18">
              <a:extLst>
                <a:ext uri="{FF2B5EF4-FFF2-40B4-BE49-F238E27FC236}">
                  <a16:creationId xmlns:a16="http://schemas.microsoft.com/office/drawing/2014/main" id="{4B6B83C1-9D73-0C85-4A8C-903CEBEB2A86}"/>
                </a:ext>
              </a:extLst>
            </p:cNvPr>
            <p:cNvSpPr/>
            <p:nvPr/>
          </p:nvSpPr>
          <p:spPr>
            <a:xfrm>
              <a:off x="2324172" y="2874249"/>
              <a:ext cx="539602" cy="539602"/>
            </a:xfrm>
            <a:prstGeom prst="roundRect">
              <a:avLst/>
            </a:prstGeom>
            <a:solidFill>
              <a:srgbClr val="70AD47">
                <a:lumMod val="60000"/>
                <a:lumOff val="40000"/>
              </a:srgbClr>
            </a:solidFill>
            <a:ln>
              <a:solidFill>
                <a:srgbClr val="70AD47"/>
              </a:solidFill>
            </a:ln>
          </p:spPr>
          <p:style>
            <a:lnRef idx="1">
              <a:srgbClr val="ED7D31"/>
            </a:lnRef>
            <a:fillRef idx="2">
              <a:srgbClr val="ED7D31"/>
            </a:fillRef>
            <a:effectRef idx="1">
              <a:srgbClr val="ED7D31"/>
            </a:effectRef>
            <a:fontRef idx="minor">
              <a:srgbClr val="44546A"/>
            </a:fontRef>
          </p:style>
          <p:txBody>
            <a:bodyPr rtlCol="0" anchor="ctr"/>
            <a:lstStyle/>
            <a:p>
              <a:pPr algn="ctr"/>
              <a:endParaRPr lang="en-US">
                <a:latin typeface="Roboto" panose="02000000000000000000" pitchFamily="2" charset="0"/>
              </a:endParaRPr>
            </a:p>
          </p:txBody>
        </p:sp>
        <p:sp>
          <p:nvSpPr>
            <p:cNvPr id="20" name="Rounded Rectangle 19">
              <a:extLst>
                <a:ext uri="{FF2B5EF4-FFF2-40B4-BE49-F238E27FC236}">
                  <a16:creationId xmlns:a16="http://schemas.microsoft.com/office/drawing/2014/main" id="{3EEAE19A-5387-D06E-6A4C-212166D0CCBB}"/>
                </a:ext>
              </a:extLst>
            </p:cNvPr>
            <p:cNvSpPr/>
            <p:nvPr/>
          </p:nvSpPr>
          <p:spPr>
            <a:xfrm>
              <a:off x="3019253" y="2172309"/>
              <a:ext cx="539602" cy="539602"/>
            </a:xfrm>
            <a:prstGeom prst="roundRect">
              <a:avLst/>
            </a:prstGeom>
          </p:spPr>
          <p:style>
            <a:lnRef idx="1">
              <a:srgbClr val="FFC000"/>
            </a:lnRef>
            <a:fillRef idx="2">
              <a:srgbClr val="FFC000"/>
            </a:fillRef>
            <a:effectRef idx="1">
              <a:srgbClr val="FFC000"/>
            </a:effectRef>
            <a:fontRef idx="minor">
              <a:srgbClr val="44546A"/>
            </a:fontRef>
          </p:style>
          <p:txBody>
            <a:bodyPr rtlCol="0" anchor="ctr"/>
            <a:lstStyle/>
            <a:p>
              <a:pPr algn="ctr"/>
              <a:endParaRPr lang="en-US">
                <a:latin typeface="Roboto" panose="02000000000000000000" pitchFamily="2" charset="0"/>
              </a:endParaRPr>
            </a:p>
          </p:txBody>
        </p:sp>
        <p:sp>
          <p:nvSpPr>
            <p:cNvPr id="21" name="Rounded Rectangle 20">
              <a:extLst>
                <a:ext uri="{FF2B5EF4-FFF2-40B4-BE49-F238E27FC236}">
                  <a16:creationId xmlns:a16="http://schemas.microsoft.com/office/drawing/2014/main" id="{07BB698B-19D4-4F6A-BABF-E0312D3F7B1F}"/>
                </a:ext>
              </a:extLst>
            </p:cNvPr>
            <p:cNvSpPr/>
            <p:nvPr/>
          </p:nvSpPr>
          <p:spPr>
            <a:xfrm>
              <a:off x="3019253" y="2874248"/>
              <a:ext cx="539602" cy="539602"/>
            </a:xfrm>
            <a:prstGeom prst="roundRect">
              <a:avLst/>
            </a:prstGeom>
            <a:solidFill>
              <a:srgbClr val="70AD47">
                <a:lumMod val="60000"/>
                <a:lumOff val="40000"/>
              </a:srgbClr>
            </a:solidFill>
            <a:ln>
              <a:solidFill>
                <a:srgbClr val="70AD47"/>
              </a:solidFill>
            </a:ln>
          </p:spPr>
          <p:style>
            <a:lnRef idx="1">
              <a:srgbClr val="ED7D31"/>
            </a:lnRef>
            <a:fillRef idx="2">
              <a:srgbClr val="ED7D31"/>
            </a:fillRef>
            <a:effectRef idx="1">
              <a:srgbClr val="ED7D31"/>
            </a:effectRef>
            <a:fontRef idx="minor">
              <a:srgbClr val="44546A"/>
            </a:fontRef>
          </p:style>
          <p:txBody>
            <a:bodyPr rtlCol="0" anchor="ctr"/>
            <a:lstStyle/>
            <a:p>
              <a:pPr algn="ctr"/>
              <a:endParaRPr lang="en-US">
                <a:latin typeface="Roboto" panose="02000000000000000000" pitchFamily="2" charset="0"/>
              </a:endParaRPr>
            </a:p>
          </p:txBody>
        </p:sp>
        <p:sp>
          <p:nvSpPr>
            <p:cNvPr id="22" name="Rounded Rectangle 21">
              <a:extLst>
                <a:ext uri="{FF2B5EF4-FFF2-40B4-BE49-F238E27FC236}">
                  <a16:creationId xmlns:a16="http://schemas.microsoft.com/office/drawing/2014/main" id="{F47C61B5-2355-D60C-DEA9-D319B84E3839}"/>
                </a:ext>
              </a:extLst>
            </p:cNvPr>
            <p:cNvSpPr/>
            <p:nvPr/>
          </p:nvSpPr>
          <p:spPr>
            <a:xfrm>
              <a:off x="3714334" y="2172308"/>
              <a:ext cx="539602" cy="539602"/>
            </a:xfrm>
            <a:prstGeom prst="roundRect">
              <a:avLst/>
            </a:prstGeom>
          </p:spPr>
          <p:style>
            <a:lnRef idx="1">
              <a:srgbClr val="A5A5A5"/>
            </a:lnRef>
            <a:fillRef idx="2">
              <a:srgbClr val="A5A5A5"/>
            </a:fillRef>
            <a:effectRef idx="1">
              <a:srgbClr val="A5A5A5"/>
            </a:effectRef>
            <a:fontRef idx="minor">
              <a:srgbClr val="44546A"/>
            </a:fontRef>
          </p:style>
          <p:txBody>
            <a:bodyPr rtlCol="0" anchor="ctr"/>
            <a:lstStyle/>
            <a:p>
              <a:pPr algn="ctr"/>
              <a:endParaRPr lang="en-US">
                <a:latin typeface="Roboto" panose="02000000000000000000" pitchFamily="2" charset="0"/>
              </a:endParaRPr>
            </a:p>
          </p:txBody>
        </p:sp>
        <p:sp>
          <p:nvSpPr>
            <p:cNvPr id="23" name="Rounded Rectangle 22">
              <a:extLst>
                <a:ext uri="{FF2B5EF4-FFF2-40B4-BE49-F238E27FC236}">
                  <a16:creationId xmlns:a16="http://schemas.microsoft.com/office/drawing/2014/main" id="{548C8C31-4109-4454-A5A2-95E4B703B373}"/>
                </a:ext>
              </a:extLst>
            </p:cNvPr>
            <p:cNvSpPr/>
            <p:nvPr/>
          </p:nvSpPr>
          <p:spPr>
            <a:xfrm>
              <a:off x="3714334" y="2874248"/>
              <a:ext cx="539602" cy="539602"/>
            </a:xfrm>
            <a:prstGeom prst="roundRect">
              <a:avLst/>
            </a:prstGeom>
            <a:solidFill>
              <a:srgbClr val="70AD47">
                <a:lumMod val="60000"/>
                <a:lumOff val="40000"/>
              </a:srgbClr>
            </a:solidFill>
            <a:ln>
              <a:solidFill>
                <a:srgbClr val="70AD47"/>
              </a:solidFill>
            </a:ln>
          </p:spPr>
          <p:style>
            <a:lnRef idx="1">
              <a:srgbClr val="ED7D31"/>
            </a:lnRef>
            <a:fillRef idx="2">
              <a:srgbClr val="ED7D31"/>
            </a:fillRef>
            <a:effectRef idx="1">
              <a:srgbClr val="ED7D31"/>
            </a:effectRef>
            <a:fontRef idx="minor">
              <a:srgbClr val="44546A"/>
            </a:fontRef>
          </p:style>
          <p:txBody>
            <a:bodyPr rtlCol="0" anchor="ctr"/>
            <a:lstStyle/>
            <a:p>
              <a:pPr algn="ctr"/>
              <a:endParaRPr lang="en-US">
                <a:latin typeface="Roboto" panose="02000000000000000000" pitchFamily="2" charset="0"/>
              </a:endParaRPr>
            </a:p>
          </p:txBody>
        </p:sp>
        <p:sp>
          <p:nvSpPr>
            <p:cNvPr id="24" name="Rounded Rectangle 23">
              <a:extLst>
                <a:ext uri="{FF2B5EF4-FFF2-40B4-BE49-F238E27FC236}">
                  <a16:creationId xmlns:a16="http://schemas.microsoft.com/office/drawing/2014/main" id="{A85FDD80-1551-B6EB-A29E-28072FE0055C}"/>
                </a:ext>
              </a:extLst>
            </p:cNvPr>
            <p:cNvSpPr/>
            <p:nvPr/>
          </p:nvSpPr>
          <p:spPr>
            <a:xfrm>
              <a:off x="4409416" y="2172308"/>
              <a:ext cx="539602" cy="539602"/>
            </a:xfrm>
            <a:prstGeom prst="roundRect">
              <a:avLst/>
            </a:prstGeom>
          </p:spPr>
          <p:style>
            <a:lnRef idx="1">
              <a:srgbClr val="A5A5A5"/>
            </a:lnRef>
            <a:fillRef idx="2">
              <a:srgbClr val="A5A5A5"/>
            </a:fillRef>
            <a:effectRef idx="1">
              <a:srgbClr val="A5A5A5"/>
            </a:effectRef>
            <a:fontRef idx="minor">
              <a:srgbClr val="44546A"/>
            </a:fontRef>
          </p:style>
          <p:txBody>
            <a:bodyPr rtlCol="0" anchor="ctr"/>
            <a:lstStyle/>
            <a:p>
              <a:pPr algn="ctr"/>
              <a:endParaRPr lang="en-US">
                <a:latin typeface="Roboto" panose="02000000000000000000" pitchFamily="2" charset="0"/>
              </a:endParaRPr>
            </a:p>
          </p:txBody>
        </p:sp>
        <p:sp>
          <p:nvSpPr>
            <p:cNvPr id="25" name="Rounded Rectangle 24">
              <a:extLst>
                <a:ext uri="{FF2B5EF4-FFF2-40B4-BE49-F238E27FC236}">
                  <a16:creationId xmlns:a16="http://schemas.microsoft.com/office/drawing/2014/main" id="{E350B131-828B-E9A0-B3FF-A5240E2396B9}"/>
                </a:ext>
              </a:extLst>
            </p:cNvPr>
            <p:cNvSpPr/>
            <p:nvPr/>
          </p:nvSpPr>
          <p:spPr>
            <a:xfrm>
              <a:off x="5799577" y="2183616"/>
              <a:ext cx="539602" cy="539602"/>
            </a:xfrm>
            <a:prstGeom prst="roundRect">
              <a:avLst/>
            </a:prstGeom>
            <a:solidFill>
              <a:srgbClr val="EAB6FF"/>
            </a:solidFill>
            <a:ln>
              <a:solidFill>
                <a:srgbClr val="D7A9F0"/>
              </a:solidFill>
            </a:ln>
          </p:spPr>
          <p:style>
            <a:lnRef idx="1">
              <a:srgbClr val="ED7D31"/>
            </a:lnRef>
            <a:fillRef idx="2">
              <a:srgbClr val="ED7D31"/>
            </a:fillRef>
            <a:effectRef idx="1">
              <a:srgbClr val="ED7D31"/>
            </a:effectRef>
            <a:fontRef idx="minor">
              <a:srgbClr val="44546A"/>
            </a:fontRef>
          </p:style>
          <p:txBody>
            <a:bodyPr rtlCol="0" anchor="ctr"/>
            <a:lstStyle/>
            <a:p>
              <a:pPr algn="ctr"/>
              <a:endParaRPr lang="en-US">
                <a:latin typeface="Roboto" panose="02000000000000000000" pitchFamily="2" charset="0"/>
              </a:endParaRPr>
            </a:p>
          </p:txBody>
        </p:sp>
        <p:sp>
          <p:nvSpPr>
            <p:cNvPr id="26" name="Rounded Rectangle 25">
              <a:extLst>
                <a:ext uri="{FF2B5EF4-FFF2-40B4-BE49-F238E27FC236}">
                  <a16:creationId xmlns:a16="http://schemas.microsoft.com/office/drawing/2014/main" id="{29FF8DEF-4DA0-5697-D546-9AC99217F62B}"/>
                </a:ext>
              </a:extLst>
            </p:cNvPr>
            <p:cNvSpPr/>
            <p:nvPr/>
          </p:nvSpPr>
          <p:spPr>
            <a:xfrm>
              <a:off x="5104498" y="2172307"/>
              <a:ext cx="539602" cy="539602"/>
            </a:xfrm>
            <a:prstGeom prst="roundRect">
              <a:avLst/>
            </a:prstGeom>
            <a:solidFill>
              <a:srgbClr val="EAB6FF"/>
            </a:solidFill>
            <a:ln>
              <a:solidFill>
                <a:srgbClr val="D7A9F0"/>
              </a:solidFill>
            </a:ln>
          </p:spPr>
          <p:style>
            <a:lnRef idx="1">
              <a:srgbClr val="ED7D31"/>
            </a:lnRef>
            <a:fillRef idx="2">
              <a:srgbClr val="ED7D31"/>
            </a:fillRef>
            <a:effectRef idx="1">
              <a:srgbClr val="ED7D31"/>
            </a:effectRef>
            <a:fontRef idx="minor">
              <a:srgbClr val="44546A"/>
            </a:fontRef>
          </p:style>
          <p:txBody>
            <a:bodyPr rtlCol="0" anchor="ctr"/>
            <a:lstStyle/>
            <a:p>
              <a:pPr algn="ctr"/>
              <a:endParaRPr lang="en-US">
                <a:latin typeface="Roboto" panose="02000000000000000000" pitchFamily="2" charset="0"/>
              </a:endParaRPr>
            </a:p>
          </p:txBody>
        </p:sp>
        <p:sp>
          <p:nvSpPr>
            <p:cNvPr id="27" name="Rounded Rectangle 26">
              <a:extLst>
                <a:ext uri="{FF2B5EF4-FFF2-40B4-BE49-F238E27FC236}">
                  <a16:creationId xmlns:a16="http://schemas.microsoft.com/office/drawing/2014/main" id="{C45B24AA-D76C-F702-7BE1-4721AC921E2B}"/>
                </a:ext>
              </a:extLst>
            </p:cNvPr>
            <p:cNvSpPr/>
            <p:nvPr/>
          </p:nvSpPr>
          <p:spPr>
            <a:xfrm>
              <a:off x="5799577" y="2871498"/>
              <a:ext cx="539602" cy="539602"/>
            </a:xfrm>
            <a:prstGeom prst="roundRect">
              <a:avLst/>
            </a:prstGeom>
            <a:solidFill>
              <a:srgbClr val="EAB6FF"/>
            </a:solidFill>
            <a:ln>
              <a:solidFill>
                <a:srgbClr val="D7A9F0"/>
              </a:solidFill>
            </a:ln>
          </p:spPr>
          <p:style>
            <a:lnRef idx="1">
              <a:srgbClr val="ED7D31"/>
            </a:lnRef>
            <a:fillRef idx="2">
              <a:srgbClr val="ED7D31"/>
            </a:fillRef>
            <a:effectRef idx="1">
              <a:srgbClr val="ED7D31"/>
            </a:effectRef>
            <a:fontRef idx="minor">
              <a:srgbClr val="44546A"/>
            </a:fontRef>
          </p:style>
          <p:txBody>
            <a:bodyPr rtlCol="0" anchor="ctr"/>
            <a:lstStyle/>
            <a:p>
              <a:pPr algn="ctr"/>
              <a:endParaRPr lang="en-US">
                <a:latin typeface="Roboto" panose="02000000000000000000" pitchFamily="2" charset="0"/>
              </a:endParaRPr>
            </a:p>
          </p:txBody>
        </p:sp>
        <p:sp>
          <p:nvSpPr>
            <p:cNvPr id="28" name="Rounded Rectangle 27">
              <a:extLst>
                <a:ext uri="{FF2B5EF4-FFF2-40B4-BE49-F238E27FC236}">
                  <a16:creationId xmlns:a16="http://schemas.microsoft.com/office/drawing/2014/main" id="{8235354E-F456-1180-7F3B-4350EB4E855C}"/>
                </a:ext>
              </a:extLst>
            </p:cNvPr>
            <p:cNvSpPr/>
            <p:nvPr/>
          </p:nvSpPr>
          <p:spPr>
            <a:xfrm>
              <a:off x="4409415" y="2884336"/>
              <a:ext cx="539602" cy="539602"/>
            </a:xfrm>
            <a:prstGeom prst="roundRect">
              <a:avLst/>
            </a:prstGeom>
          </p:spPr>
          <p:style>
            <a:lnRef idx="1">
              <a:srgbClr val="ED7D31"/>
            </a:lnRef>
            <a:fillRef idx="2">
              <a:srgbClr val="ED7D31"/>
            </a:fillRef>
            <a:effectRef idx="1">
              <a:srgbClr val="ED7D31"/>
            </a:effectRef>
            <a:fontRef idx="minor">
              <a:srgbClr val="44546A"/>
            </a:fontRef>
          </p:style>
          <p:txBody>
            <a:bodyPr rtlCol="0" anchor="ctr"/>
            <a:lstStyle/>
            <a:p>
              <a:pPr algn="ctr"/>
              <a:endParaRPr lang="en-US">
                <a:latin typeface="Roboto" panose="02000000000000000000" pitchFamily="2" charset="0"/>
              </a:endParaRPr>
            </a:p>
          </p:txBody>
        </p:sp>
        <p:sp>
          <p:nvSpPr>
            <p:cNvPr id="29" name="Rounded Rectangle 28">
              <a:extLst>
                <a:ext uri="{FF2B5EF4-FFF2-40B4-BE49-F238E27FC236}">
                  <a16:creationId xmlns:a16="http://schemas.microsoft.com/office/drawing/2014/main" id="{96ACF9FE-570B-A67C-DDD4-CAC7669CA7F4}"/>
                </a:ext>
              </a:extLst>
            </p:cNvPr>
            <p:cNvSpPr/>
            <p:nvPr/>
          </p:nvSpPr>
          <p:spPr>
            <a:xfrm>
              <a:off x="5104496" y="2884336"/>
              <a:ext cx="539602" cy="539602"/>
            </a:xfrm>
            <a:prstGeom prst="roundRect">
              <a:avLst/>
            </a:prstGeom>
            <a:solidFill>
              <a:srgbClr val="EAB6FF"/>
            </a:solidFill>
            <a:ln>
              <a:solidFill>
                <a:srgbClr val="D7A9F0"/>
              </a:solidFill>
            </a:ln>
          </p:spPr>
          <p:style>
            <a:lnRef idx="1">
              <a:srgbClr val="ED7D31"/>
            </a:lnRef>
            <a:fillRef idx="2">
              <a:srgbClr val="ED7D31"/>
            </a:fillRef>
            <a:effectRef idx="1">
              <a:srgbClr val="ED7D31"/>
            </a:effectRef>
            <a:fontRef idx="minor">
              <a:srgbClr val="44546A"/>
            </a:fontRef>
          </p:style>
          <p:txBody>
            <a:bodyPr rtlCol="0" anchor="ctr"/>
            <a:lstStyle/>
            <a:p>
              <a:pPr algn="ctr"/>
              <a:endParaRPr lang="en-US">
                <a:latin typeface="Roboto" panose="02000000000000000000" pitchFamily="2" charset="0"/>
              </a:endParaRPr>
            </a:p>
          </p:txBody>
        </p:sp>
        <p:sp>
          <p:nvSpPr>
            <p:cNvPr id="31" name="Left Brace 30">
              <a:extLst>
                <a:ext uri="{FF2B5EF4-FFF2-40B4-BE49-F238E27FC236}">
                  <a16:creationId xmlns:a16="http://schemas.microsoft.com/office/drawing/2014/main" id="{5DEED6B0-7D2F-AE6F-1A03-01AAAD2687CA}"/>
                </a:ext>
              </a:extLst>
            </p:cNvPr>
            <p:cNvSpPr/>
            <p:nvPr/>
          </p:nvSpPr>
          <p:spPr>
            <a:xfrm rot="5400000">
              <a:off x="2169312" y="630218"/>
              <a:ext cx="176505" cy="2624848"/>
            </a:xfrm>
            <a:prstGeom prst="leftBrace">
              <a:avLst/>
            </a:prstGeom>
            <a:ln>
              <a:solidFill>
                <a:srgbClr val="44546A"/>
              </a:solidFill>
            </a:ln>
          </p:spPr>
          <p:style>
            <a:lnRef idx="3">
              <a:srgbClr val="4472C4"/>
            </a:lnRef>
            <a:fillRef idx="0">
              <a:srgbClr val="4472C4"/>
            </a:fillRef>
            <a:effectRef idx="2">
              <a:srgbClr val="4472C4"/>
            </a:effectRef>
            <a:fontRef idx="minor">
              <a:srgbClr val="44546A"/>
            </a:fontRef>
          </p:style>
          <p:txBody>
            <a:bodyPr rtlCol="0" anchor="ctr"/>
            <a:lstStyle/>
            <a:p>
              <a:pPr algn="ctr"/>
              <a:endParaRPr lang="en-US">
                <a:ln>
                  <a:solidFill>
                    <a:srgbClr val="44546A"/>
                  </a:solidFill>
                </a:ln>
                <a:latin typeface="Roboto" panose="02000000000000000000" pitchFamily="2" charset="0"/>
              </a:endParaRPr>
            </a:p>
          </p:txBody>
        </p:sp>
        <p:sp>
          <p:nvSpPr>
            <p:cNvPr id="2" name="TextBox 1">
              <a:extLst>
                <a:ext uri="{FF2B5EF4-FFF2-40B4-BE49-F238E27FC236}">
                  <a16:creationId xmlns:a16="http://schemas.microsoft.com/office/drawing/2014/main" id="{2A8BDC55-21AF-6CF1-3C22-D27B3059FE3F}"/>
                </a:ext>
              </a:extLst>
            </p:cNvPr>
            <p:cNvSpPr txBox="1"/>
            <p:nvPr/>
          </p:nvSpPr>
          <p:spPr>
            <a:xfrm>
              <a:off x="754566" y="1155322"/>
              <a:ext cx="3005995" cy="646331"/>
            </a:xfrm>
            <a:prstGeom prst="rect">
              <a:avLst/>
            </a:prstGeom>
            <a:noFill/>
            <a:ln>
              <a:noFill/>
            </a:ln>
          </p:spPr>
          <p:txBody>
            <a:bodyPr wrap="square" rtlCol="0">
              <a:spAutoFit/>
            </a:bodyPr>
            <a:lstStyle/>
            <a:p>
              <a:pPr algn="ctr"/>
              <a:r>
                <a:rPr lang="en-US">
                  <a:latin typeface="Roboto" panose="02000000000000000000" pitchFamily="2" charset="0"/>
                </a:rPr>
                <a:t>Llama2 7B</a:t>
              </a:r>
            </a:p>
            <a:p>
              <a:pPr algn="ctr"/>
              <a:r>
                <a:rPr lang="en-US">
                  <a:latin typeface="Roboto" panose="02000000000000000000" pitchFamily="2" charset="0"/>
                </a:rPr>
                <a:t>(nf4) 3.5GB</a:t>
              </a:r>
            </a:p>
          </p:txBody>
        </p:sp>
        <p:sp>
          <p:nvSpPr>
            <p:cNvPr id="37" name="TextBox 36">
              <a:extLst>
                <a:ext uri="{FF2B5EF4-FFF2-40B4-BE49-F238E27FC236}">
                  <a16:creationId xmlns:a16="http://schemas.microsoft.com/office/drawing/2014/main" id="{97808168-86B1-6963-CB64-10397A2B292F}"/>
                </a:ext>
              </a:extLst>
            </p:cNvPr>
            <p:cNvSpPr txBox="1"/>
            <p:nvPr/>
          </p:nvSpPr>
          <p:spPr>
            <a:xfrm>
              <a:off x="541679" y="3923107"/>
              <a:ext cx="1346525" cy="646331"/>
            </a:xfrm>
            <a:prstGeom prst="rect">
              <a:avLst/>
            </a:prstGeom>
            <a:noFill/>
            <a:ln>
              <a:noFill/>
            </a:ln>
          </p:spPr>
          <p:txBody>
            <a:bodyPr wrap="square" rtlCol="0">
              <a:spAutoFit/>
            </a:bodyPr>
            <a:lstStyle/>
            <a:p>
              <a:pPr algn="ctr"/>
              <a:r>
                <a:rPr lang="en-US">
                  <a:latin typeface="Roboto" panose="02000000000000000000" pitchFamily="2" charset="0"/>
                </a:rPr>
                <a:t>Gradients</a:t>
              </a:r>
              <a:br>
                <a:rPr lang="en-US">
                  <a:latin typeface="Roboto" panose="02000000000000000000" pitchFamily="2" charset="0"/>
                </a:rPr>
              </a:br>
              <a:r>
                <a:rPr lang="en-US">
                  <a:latin typeface="Roboto" panose="02000000000000000000" pitchFamily="2" charset="0"/>
                </a:rPr>
                <a:t>(int8) 1GB</a:t>
              </a:r>
            </a:p>
          </p:txBody>
        </p:sp>
        <p:sp>
          <p:nvSpPr>
            <p:cNvPr id="40" name="Left Brace 39">
              <a:extLst>
                <a:ext uri="{FF2B5EF4-FFF2-40B4-BE49-F238E27FC236}">
                  <a16:creationId xmlns:a16="http://schemas.microsoft.com/office/drawing/2014/main" id="{5168FB72-A80D-E715-8C27-6C48BD195229}"/>
                </a:ext>
              </a:extLst>
            </p:cNvPr>
            <p:cNvSpPr/>
            <p:nvPr/>
          </p:nvSpPr>
          <p:spPr>
            <a:xfrm rot="16200000">
              <a:off x="1107033" y="3498958"/>
              <a:ext cx="215818" cy="539602"/>
            </a:xfrm>
            <a:prstGeom prst="leftBrace">
              <a:avLst/>
            </a:prstGeom>
            <a:ln>
              <a:solidFill>
                <a:srgbClr val="44546A"/>
              </a:solidFill>
            </a:ln>
          </p:spPr>
          <p:style>
            <a:lnRef idx="3">
              <a:srgbClr val="4472C4"/>
            </a:lnRef>
            <a:fillRef idx="0">
              <a:srgbClr val="4472C4"/>
            </a:fillRef>
            <a:effectRef idx="2">
              <a:srgbClr val="4472C4"/>
            </a:effectRef>
            <a:fontRef idx="minor">
              <a:srgbClr val="44546A"/>
            </a:fontRef>
          </p:style>
          <p:txBody>
            <a:bodyPr rtlCol="0" anchor="ctr"/>
            <a:lstStyle/>
            <a:p>
              <a:pPr algn="ctr"/>
              <a:endParaRPr lang="en-US">
                <a:ln>
                  <a:solidFill>
                    <a:srgbClr val="44546A"/>
                  </a:solidFill>
                </a:ln>
                <a:latin typeface="Roboto" panose="02000000000000000000" pitchFamily="2" charset="0"/>
              </a:endParaRPr>
            </a:p>
          </p:txBody>
        </p:sp>
        <p:sp>
          <p:nvSpPr>
            <p:cNvPr id="35" name="TextBox 34">
              <a:extLst>
                <a:ext uri="{FF2B5EF4-FFF2-40B4-BE49-F238E27FC236}">
                  <a16:creationId xmlns:a16="http://schemas.microsoft.com/office/drawing/2014/main" id="{9E1D0878-3777-57B5-4B3A-16E8A5ED0883}"/>
                </a:ext>
              </a:extLst>
            </p:cNvPr>
            <p:cNvSpPr txBox="1"/>
            <p:nvPr/>
          </p:nvSpPr>
          <p:spPr>
            <a:xfrm>
              <a:off x="2065253" y="3923107"/>
              <a:ext cx="1752523" cy="646331"/>
            </a:xfrm>
            <a:prstGeom prst="rect">
              <a:avLst/>
            </a:prstGeom>
            <a:noFill/>
            <a:ln>
              <a:noFill/>
            </a:ln>
          </p:spPr>
          <p:txBody>
            <a:bodyPr wrap="square" rtlCol="0">
              <a:spAutoFit/>
            </a:bodyPr>
            <a:lstStyle/>
            <a:p>
              <a:pPr algn="ctr"/>
              <a:r>
                <a:rPr lang="en-US">
                  <a:latin typeface="Roboto" panose="02000000000000000000" pitchFamily="2" charset="0"/>
                </a:rPr>
                <a:t>Optimizer</a:t>
              </a:r>
              <a:br>
                <a:rPr lang="en-US">
                  <a:latin typeface="Roboto" panose="02000000000000000000" pitchFamily="2" charset="0"/>
                </a:rPr>
              </a:br>
              <a:r>
                <a:rPr lang="en-US">
                  <a:latin typeface="Roboto" panose="02000000000000000000" pitchFamily="2" charset="0"/>
                </a:rPr>
                <a:t>(fp16) 4GB</a:t>
              </a:r>
            </a:p>
          </p:txBody>
        </p:sp>
        <p:sp>
          <p:nvSpPr>
            <p:cNvPr id="36" name="Left Brace 35">
              <a:extLst>
                <a:ext uri="{FF2B5EF4-FFF2-40B4-BE49-F238E27FC236}">
                  <a16:creationId xmlns:a16="http://schemas.microsoft.com/office/drawing/2014/main" id="{9D8DD2BC-906B-4758-4CFF-105D60C6FD83}"/>
                </a:ext>
              </a:extLst>
            </p:cNvPr>
            <p:cNvSpPr/>
            <p:nvPr/>
          </p:nvSpPr>
          <p:spPr>
            <a:xfrm rot="16200000">
              <a:off x="2813966" y="2483134"/>
              <a:ext cx="255098" cy="2624847"/>
            </a:xfrm>
            <a:prstGeom prst="leftBrace">
              <a:avLst/>
            </a:prstGeom>
            <a:ln>
              <a:solidFill>
                <a:srgbClr val="44546A"/>
              </a:solidFill>
            </a:ln>
          </p:spPr>
          <p:style>
            <a:lnRef idx="3">
              <a:srgbClr val="4472C4"/>
            </a:lnRef>
            <a:fillRef idx="0">
              <a:srgbClr val="4472C4"/>
            </a:fillRef>
            <a:effectRef idx="2">
              <a:srgbClr val="4472C4"/>
            </a:effectRef>
            <a:fontRef idx="minor">
              <a:srgbClr val="44546A"/>
            </a:fontRef>
          </p:style>
          <p:txBody>
            <a:bodyPr rtlCol="0" anchor="ctr"/>
            <a:lstStyle/>
            <a:p>
              <a:pPr algn="ctr"/>
              <a:endParaRPr lang="en-US">
                <a:ln>
                  <a:solidFill>
                    <a:srgbClr val="44546A"/>
                  </a:solidFill>
                </a:ln>
                <a:latin typeface="Roboto" panose="02000000000000000000" pitchFamily="2" charset="0"/>
              </a:endParaRPr>
            </a:p>
          </p:txBody>
        </p:sp>
        <p:sp>
          <p:nvSpPr>
            <p:cNvPr id="41" name="Left Brace 40">
              <a:extLst>
                <a:ext uri="{FF2B5EF4-FFF2-40B4-BE49-F238E27FC236}">
                  <a16:creationId xmlns:a16="http://schemas.microsoft.com/office/drawing/2014/main" id="{558FD855-5B1C-3524-252D-39B79C833CA5}"/>
                </a:ext>
              </a:extLst>
            </p:cNvPr>
            <p:cNvSpPr/>
            <p:nvPr/>
          </p:nvSpPr>
          <p:spPr>
            <a:xfrm rot="16200000">
              <a:off x="4565744" y="3515672"/>
              <a:ext cx="215819" cy="550731"/>
            </a:xfrm>
            <a:prstGeom prst="leftBrace">
              <a:avLst/>
            </a:prstGeom>
            <a:ln>
              <a:solidFill>
                <a:srgbClr val="44546A"/>
              </a:solidFill>
            </a:ln>
          </p:spPr>
          <p:style>
            <a:lnRef idx="3">
              <a:srgbClr val="4472C4"/>
            </a:lnRef>
            <a:fillRef idx="0">
              <a:srgbClr val="4472C4"/>
            </a:fillRef>
            <a:effectRef idx="2">
              <a:srgbClr val="4472C4"/>
            </a:effectRef>
            <a:fontRef idx="minor">
              <a:srgbClr val="44546A"/>
            </a:fontRef>
          </p:style>
          <p:txBody>
            <a:bodyPr rtlCol="0" anchor="ctr"/>
            <a:lstStyle/>
            <a:p>
              <a:pPr algn="ctr"/>
              <a:endParaRPr lang="en-US">
                <a:ln>
                  <a:solidFill>
                    <a:srgbClr val="44546A"/>
                  </a:solidFill>
                </a:ln>
                <a:latin typeface="Roboto" panose="02000000000000000000" pitchFamily="2" charset="0"/>
              </a:endParaRPr>
            </a:p>
          </p:txBody>
        </p:sp>
        <p:sp>
          <p:nvSpPr>
            <p:cNvPr id="42" name="TextBox 41">
              <a:extLst>
                <a:ext uri="{FF2B5EF4-FFF2-40B4-BE49-F238E27FC236}">
                  <a16:creationId xmlns:a16="http://schemas.microsoft.com/office/drawing/2014/main" id="{69E5194B-F845-32B8-71BD-79E63EB2FC07}"/>
                </a:ext>
              </a:extLst>
            </p:cNvPr>
            <p:cNvSpPr txBox="1"/>
            <p:nvPr/>
          </p:nvSpPr>
          <p:spPr>
            <a:xfrm>
              <a:off x="4032117" y="3955478"/>
              <a:ext cx="1346525" cy="646331"/>
            </a:xfrm>
            <a:prstGeom prst="rect">
              <a:avLst/>
            </a:prstGeom>
            <a:noFill/>
            <a:ln>
              <a:noFill/>
            </a:ln>
          </p:spPr>
          <p:txBody>
            <a:bodyPr wrap="square" rtlCol="0">
              <a:spAutoFit/>
            </a:bodyPr>
            <a:lstStyle/>
            <a:p>
              <a:pPr algn="ctr"/>
              <a:r>
                <a:rPr lang="en-US">
                  <a:latin typeface="Roboto" panose="02000000000000000000" pitchFamily="2" charset="0"/>
                </a:rPr>
                <a:t>LoRA</a:t>
              </a:r>
              <a:br>
                <a:rPr lang="en-US">
                  <a:latin typeface="Roboto" panose="02000000000000000000" pitchFamily="2" charset="0"/>
                </a:rPr>
              </a:br>
              <a:r>
                <a:rPr lang="en-US">
                  <a:latin typeface="Roboto" panose="02000000000000000000" pitchFamily="2" charset="0"/>
                </a:rPr>
                <a:t>(fp16) 1GB</a:t>
              </a:r>
            </a:p>
          </p:txBody>
        </p:sp>
        <p:grpSp>
          <p:nvGrpSpPr>
            <p:cNvPr id="13" name="Group 12">
              <a:extLst>
                <a:ext uri="{FF2B5EF4-FFF2-40B4-BE49-F238E27FC236}">
                  <a16:creationId xmlns:a16="http://schemas.microsoft.com/office/drawing/2014/main" id="{E9732ED9-04BB-A0BC-C974-472C1F141070}"/>
                </a:ext>
              </a:extLst>
            </p:cNvPr>
            <p:cNvGrpSpPr/>
            <p:nvPr/>
          </p:nvGrpSpPr>
          <p:grpSpPr>
            <a:xfrm>
              <a:off x="6456425" y="2172307"/>
              <a:ext cx="1742434" cy="1233769"/>
              <a:chOff x="7155594" y="2035147"/>
              <a:chExt cx="1742434" cy="1233769"/>
            </a:xfrm>
          </p:grpSpPr>
          <p:sp>
            <p:nvSpPr>
              <p:cNvPr id="14" name="Left Brace 13">
                <a:extLst>
                  <a:ext uri="{FF2B5EF4-FFF2-40B4-BE49-F238E27FC236}">
                    <a16:creationId xmlns:a16="http://schemas.microsoft.com/office/drawing/2014/main" id="{249217BE-2B2E-AE88-4082-FC602E6A3925}"/>
                  </a:ext>
                </a:extLst>
              </p:cNvPr>
              <p:cNvSpPr/>
              <p:nvPr/>
            </p:nvSpPr>
            <p:spPr>
              <a:xfrm rot="10800000">
                <a:off x="7155594" y="2172307"/>
                <a:ext cx="230940" cy="1233769"/>
              </a:xfrm>
              <a:prstGeom prst="leftBrace">
                <a:avLst/>
              </a:prstGeom>
              <a:ln>
                <a:solidFill>
                  <a:srgbClr val="44546A"/>
                </a:solidFill>
              </a:ln>
            </p:spPr>
            <p:style>
              <a:lnRef idx="3">
                <a:srgbClr val="4472C4"/>
              </a:lnRef>
              <a:fillRef idx="0">
                <a:srgbClr val="4472C4"/>
              </a:fillRef>
              <a:effectRef idx="2">
                <a:srgbClr val="4472C4"/>
              </a:effectRef>
              <a:fontRef idx="minor">
                <a:srgbClr val="44546A"/>
              </a:fontRef>
            </p:style>
            <p:txBody>
              <a:bodyPr rtlCol="0" anchor="ctr"/>
              <a:lstStyle/>
              <a:p>
                <a:pPr algn="ctr"/>
                <a:endParaRPr lang="en-US">
                  <a:ln>
                    <a:solidFill>
                      <a:srgbClr val="44546A"/>
                    </a:solidFill>
                  </a:ln>
                  <a:latin typeface="Roboto" panose="02000000000000000000" pitchFamily="2" charset="0"/>
                </a:endParaRPr>
              </a:p>
            </p:txBody>
          </p:sp>
          <p:sp>
            <p:nvSpPr>
              <p:cNvPr id="15" name="TextBox 14">
                <a:extLst>
                  <a:ext uri="{FF2B5EF4-FFF2-40B4-BE49-F238E27FC236}">
                    <a16:creationId xmlns:a16="http://schemas.microsoft.com/office/drawing/2014/main" id="{B16A7A45-3104-E893-3DA2-DDDE2490C145}"/>
                  </a:ext>
                </a:extLst>
              </p:cNvPr>
              <p:cNvSpPr txBox="1"/>
              <p:nvPr/>
            </p:nvSpPr>
            <p:spPr>
              <a:xfrm>
                <a:off x="7363940" y="2466025"/>
                <a:ext cx="1534088" cy="646331"/>
              </a:xfrm>
              <a:prstGeom prst="rect">
                <a:avLst/>
              </a:prstGeom>
              <a:noFill/>
              <a:ln>
                <a:noFill/>
              </a:ln>
            </p:spPr>
            <p:txBody>
              <a:bodyPr wrap="square" rtlCol="0">
                <a:spAutoFit/>
              </a:bodyPr>
              <a:lstStyle/>
              <a:p>
                <a:pPr algn="ctr"/>
                <a:r>
                  <a:rPr lang="en-US">
                    <a:latin typeface="Roboto" panose="02000000000000000000" pitchFamily="2" charset="0"/>
                  </a:rPr>
                  <a:t>Activations (fp16) 4GB</a:t>
                </a:r>
              </a:p>
            </p:txBody>
          </p:sp>
        </p:grpSp>
      </p:grpSp>
      <p:sp>
        <p:nvSpPr>
          <p:cNvPr id="43" name="TB title"/>
          <p:cNvSpPr txBox="1"/>
          <p:nvPr/>
        </p:nvSpPr>
        <p:spPr>
          <a:xfrm>
            <a:off x="310896" y="320040"/>
            <a:ext cx="8522208" cy="731520"/>
          </a:xfrm>
          <a:prstGeom prst="rect">
            <a:avLst/>
          </a:prstGeom>
          <a:noFill/>
        </p:spPr>
        <p:txBody>
          <a:bodyPr wrap="square" lIns="0" tIns="0" rIns="0" bIns="0">
            <a:spAutoFit/>
          </a:bodyPr>
          <a:lstStyle/>
          <a:p>
            <a:r>
              <a:rPr sz="2200" b="1">
                <a:solidFill>
                  <a:srgbClr val="222222"/>
                </a:solidFill>
                <a:latin typeface="Arial"/>
              </a:rPr>
              <a:t>Large Language Model on 16 GB VRAM: full QLoRA accounting</a:t>
            </a:r>
          </a:p>
        </p:txBody>
      </p:sp>
      <p:sp>
        <p:nvSpPr>
          <p:cNvPr id="44" name="BG title rule"/>
          <p:cNvSpPr/>
          <p:nvPr/>
        </p:nvSpPr>
        <p:spPr>
          <a:xfrm>
            <a:off x="310896" y="1060704"/>
            <a:ext cx="548640" cy="27432"/>
          </a:xfrm>
          <a:prstGeom prst="rect">
            <a:avLst/>
          </a:prstGeom>
          <a:solidFill>
            <a:srgbClr val="428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PageNum 65"/>
          <p:cNvSpPr txBox="1"/>
          <p:nvPr/>
        </p:nvSpPr>
        <p:spPr>
          <a:xfrm>
            <a:off x="8595360" y="4892040"/>
            <a:ext cx="457200" cy="201168"/>
          </a:xfrm>
          <a:prstGeom prst="rect">
            <a:avLst/>
          </a:prstGeom>
          <a:noFill/>
        </p:spPr>
        <p:txBody>
          <a:bodyPr wrap="square" lIns="0" tIns="0" rIns="0" bIns="0">
            <a:spAutoFit/>
          </a:bodyPr>
          <a:lstStyle/>
          <a:p>
            <a:pPr algn="r"/>
            <a:r>
              <a:rPr sz="900">
                <a:solidFill>
                  <a:srgbClr val="595959"/>
                </a:solidFill>
                <a:latin typeface="Arial"/>
              </a:rPr>
              <a:t>48</a:t>
            </a: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Simple Light">
  <a:themeElements>
    <a:clrScheme name="Simple Light">
      <a:dk1>
        <a:srgbClr val="000000"/>
      </a:dk1>
      <a:lt1>
        <a:srgbClr val="FFFFFF"/>
      </a:lt1>
      <a:dk2>
        <a:srgbClr val="000000"/>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1_Custom Design">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90</TotalTime>
  <Words>13500</Words>
  <Application>Microsoft Macintosh PowerPoint</Application>
  <PresentationFormat>On-screen Show (16:9)</PresentationFormat>
  <Paragraphs>1122</Paragraphs>
  <Slides>60</Slides>
  <Notes>57</Notes>
  <HiddenSlides>1</HiddenSlides>
  <MMClips>0</MMClips>
  <ScaleCrop>false</ScaleCrop>
  <HeadingPairs>
    <vt:vector size="6" baseType="variant">
      <vt:variant>
        <vt:lpstr>Fonts Used</vt:lpstr>
      </vt:variant>
      <vt:variant>
        <vt:i4>4</vt:i4>
      </vt:variant>
      <vt:variant>
        <vt:lpstr>Theme</vt:lpstr>
      </vt:variant>
      <vt:variant>
        <vt:i4>4</vt:i4>
      </vt:variant>
      <vt:variant>
        <vt:lpstr>Slide Titles</vt:lpstr>
      </vt:variant>
      <vt:variant>
        <vt:i4>60</vt:i4>
      </vt:variant>
    </vt:vector>
  </HeadingPairs>
  <TitlesOfParts>
    <vt:vector size="68" baseType="lpstr">
      <vt:lpstr>Courier New</vt:lpstr>
      <vt:lpstr>Roboto Light</vt:lpstr>
      <vt:lpstr>Roboto</vt:lpstr>
      <vt:lpstr>Arial</vt:lpstr>
      <vt:lpstr>Simple Light</vt:lpstr>
      <vt:lpstr>Simple Light</vt:lpstr>
      <vt:lpstr>Simple Light</vt:lpstr>
      <vt:lpstr>1_Custom Design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Training keeps B and A separate; inference merges them into one weight</vt:lpstr>
      <vt:lpstr>A LoRA layer, step by step</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Galarnyk, Michael</cp:lastModifiedBy>
  <cp:revision>8</cp:revision>
  <dcterms:modified xsi:type="dcterms:W3CDTF">2026-09-03T22:03:02Z</dcterms:modified>
</cp:coreProperties>
</file>